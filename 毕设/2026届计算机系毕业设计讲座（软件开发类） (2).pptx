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docx" ContentType="application/vnd.openxmlformats-officedocument.wordprocessingml.document"/>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98" r:id="rId7"/>
    <p:sldId id="260" r:id="rId8"/>
    <p:sldId id="261" r:id="rId9"/>
    <p:sldId id="262" r:id="rId10"/>
    <p:sldId id="263" r:id="rId11"/>
    <p:sldId id="264" r:id="rId12"/>
    <p:sldId id="265" r:id="rId13"/>
    <p:sldId id="266" r:id="rId14"/>
    <p:sldId id="299" r:id="rId15"/>
    <p:sldId id="267" r:id="rId16"/>
    <p:sldId id="268" r:id="rId17"/>
    <p:sldId id="269" r:id="rId18"/>
    <p:sldId id="270" r:id="rId19"/>
    <p:sldId id="271" r:id="rId20"/>
    <p:sldId id="272" r:id="rId21"/>
    <p:sldId id="274" r:id="rId22"/>
    <p:sldId id="275" r:id="rId23"/>
    <p:sldId id="276" r:id="rId24"/>
    <p:sldId id="277" r:id="rId25"/>
    <p:sldId id="278" r:id="rId26"/>
    <p:sldId id="280" r:id="rId27"/>
    <p:sldId id="279" r:id="rId28"/>
    <p:sldId id="281" r:id="rId29"/>
    <p:sldId id="283" r:id="rId30"/>
    <p:sldId id="284" r:id="rId31"/>
    <p:sldId id="285" r:id="rId32"/>
    <p:sldId id="286" r:id="rId33"/>
    <p:sldId id="287" r:id="rId34"/>
    <p:sldId id="289" r:id="rId35"/>
    <p:sldId id="290" r:id="rId36"/>
    <p:sldId id="291" r:id="rId37"/>
    <p:sldId id="292" r:id="rId38"/>
    <p:sldId id="293" r:id="rId39"/>
    <p:sldId id="294" r:id="rId40"/>
    <p:sldId id="297" r:id="rId41"/>
    <p:sldId id="295" r:id="rId42"/>
    <p:sldId id="296" r:id="rId43"/>
    <p:sldId id="300" r:id="rId44"/>
    <p:sldId id="301" r:id="rId45"/>
    <p:sldId id="302" r:id="rId46"/>
    <p:sldId id="303" r:id="rId47"/>
    <p:sldId id="304" r:id="rId48"/>
    <p:sldId id="305" r:id="rId49"/>
    <p:sldId id="306" r:id="rId50"/>
    <p:sldId id="308" r:id="rId51"/>
    <p:sldId id="307" r:id="rId52"/>
    <p:sldId id="309" r:id="rId53"/>
    <p:sldId id="310" r:id="rId54"/>
    <p:sldId id="311" r:id="rId55"/>
    <p:sldId id="312" r:id="rId56"/>
    <p:sldId id="313" r:id="rId57"/>
    <p:sldId id="314" r:id="rId58"/>
    <p:sldId id="315" r:id="rId5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241" autoAdjust="0"/>
    <p:restoredTop sz="94660"/>
  </p:normalViewPr>
  <p:slideViewPr>
    <p:cSldViewPr snapToGrid="0">
      <p:cViewPr varScale="1">
        <p:scale>
          <a:sx n="114" d="100"/>
          <a:sy n="114" d="100"/>
        </p:scale>
        <p:origin x="34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A6B62B27-CBE1-4D31-AAEB-05F711BDD4B9}" type="doc">
      <dgm:prSet loTypeId="urn:microsoft.com/office/officeart/2005/8/layout/lProcess2" loCatId="list" qsTypeId="urn:microsoft.com/office/officeart/2005/8/quickstyle/simple1" qsCatId="simple" csTypeId="urn:microsoft.com/office/officeart/2005/8/colors/accent2_1" csCatId="accent2" phldr="1"/>
      <dgm:spPr/>
      <dgm:t>
        <a:bodyPr/>
        <a:lstStyle/>
        <a:p>
          <a:endParaRPr lang="zh-CN" altLang="en-US"/>
        </a:p>
      </dgm:t>
    </dgm:pt>
    <dgm:pt modelId="{E4D20C5E-24E8-4A19-BFDC-BF39FF78C71A}">
      <dgm:prSet phldrT="[文本]"/>
      <dgm:spPr/>
      <dgm:t>
        <a:bodyPr/>
        <a:lstStyle/>
        <a:p>
          <a:r>
            <a:rPr lang="zh-CN" altLang="en-US" dirty="0"/>
            <a:t>问题定义</a:t>
          </a:r>
        </a:p>
      </dgm:t>
    </dgm:pt>
    <dgm:pt modelId="{541FE7C4-62C4-4457-A5DB-8D9A0C981555}" cxnId="{A9ABA056-D124-4EA9-858D-AC2ECF13538E}" type="parTrans">
      <dgm:prSet/>
      <dgm:spPr/>
      <dgm:t>
        <a:bodyPr/>
        <a:lstStyle/>
        <a:p>
          <a:endParaRPr lang="zh-CN" altLang="en-US"/>
        </a:p>
      </dgm:t>
    </dgm:pt>
    <dgm:pt modelId="{C75E9B3C-DEB7-4D64-9D93-77B878AAC764}" cxnId="{A9ABA056-D124-4EA9-858D-AC2ECF13538E}" type="sibTrans">
      <dgm:prSet/>
      <dgm:spPr/>
      <dgm:t>
        <a:bodyPr/>
        <a:lstStyle/>
        <a:p>
          <a:endParaRPr lang="zh-CN" altLang="en-US"/>
        </a:p>
      </dgm:t>
    </dgm:pt>
    <dgm:pt modelId="{EA000CEE-B51C-45DF-8ACD-9B71A13A3C69}">
      <dgm:prSet phldrT="[文本]" custT="1"/>
      <dgm:spPr/>
      <dgm:t>
        <a:bodyPr/>
        <a:lstStyle/>
        <a:p>
          <a:r>
            <a:rPr lang="zh-CN" altLang="en-US" sz="1600" dirty="0"/>
            <a:t>项目背景</a:t>
          </a:r>
        </a:p>
      </dgm:t>
    </dgm:pt>
    <dgm:pt modelId="{51B7C61C-4FCA-4F3E-9308-3647E6F99EA0}" cxnId="{2946E6AF-ABEA-4F24-B20D-59F0B54E75A4}" type="parTrans">
      <dgm:prSet/>
      <dgm:spPr/>
      <dgm:t>
        <a:bodyPr/>
        <a:lstStyle/>
        <a:p>
          <a:endParaRPr lang="zh-CN" altLang="en-US"/>
        </a:p>
      </dgm:t>
    </dgm:pt>
    <dgm:pt modelId="{801037FB-2688-41B3-9430-B254DC6E5757}" cxnId="{2946E6AF-ABEA-4F24-B20D-59F0B54E75A4}" type="sibTrans">
      <dgm:prSet/>
      <dgm:spPr/>
      <dgm:t>
        <a:bodyPr/>
        <a:lstStyle/>
        <a:p>
          <a:endParaRPr lang="zh-CN" altLang="en-US"/>
        </a:p>
      </dgm:t>
    </dgm:pt>
    <dgm:pt modelId="{E427E6F5-1F4C-4E1B-9F9C-FC0638F3D6DF}">
      <dgm:prSet phldrT="[文本]" custT="1"/>
      <dgm:spPr/>
      <dgm:t>
        <a:bodyPr/>
        <a:lstStyle/>
        <a:p>
          <a:r>
            <a:rPr lang="zh-CN" altLang="en-US" sz="1600" dirty="0"/>
            <a:t>研究内容</a:t>
          </a:r>
        </a:p>
      </dgm:t>
    </dgm:pt>
    <dgm:pt modelId="{1A88E61E-A0E4-4D79-8C3A-7050B78C59D0}" cxnId="{CDFC86C9-2ADF-483F-B950-09C55986941F}" type="parTrans">
      <dgm:prSet/>
      <dgm:spPr/>
      <dgm:t>
        <a:bodyPr/>
        <a:lstStyle/>
        <a:p>
          <a:endParaRPr lang="zh-CN" altLang="en-US"/>
        </a:p>
      </dgm:t>
    </dgm:pt>
    <dgm:pt modelId="{A0026C49-AA61-4509-9A86-6C8007431284}" cxnId="{CDFC86C9-2ADF-483F-B950-09C55986941F}" type="sibTrans">
      <dgm:prSet/>
      <dgm:spPr/>
      <dgm:t>
        <a:bodyPr/>
        <a:lstStyle/>
        <a:p>
          <a:endParaRPr lang="zh-CN" altLang="en-US"/>
        </a:p>
      </dgm:t>
    </dgm:pt>
    <dgm:pt modelId="{F976884C-755A-46AE-B40D-516065DC3F6A}">
      <dgm:prSet phldrT="[文本]"/>
      <dgm:spPr/>
      <dgm:t>
        <a:bodyPr/>
        <a:lstStyle/>
        <a:p>
          <a:r>
            <a:rPr lang="zh-CN" altLang="en-US" dirty="0"/>
            <a:t>需求分析</a:t>
          </a:r>
        </a:p>
      </dgm:t>
    </dgm:pt>
    <dgm:pt modelId="{3C14A1AC-74DD-4AFC-B717-45C0C7E02352}" cxnId="{922BA338-4F2D-42E8-839B-3FD211F88C1A}" type="parTrans">
      <dgm:prSet/>
      <dgm:spPr/>
      <dgm:t>
        <a:bodyPr/>
        <a:lstStyle/>
        <a:p>
          <a:endParaRPr lang="zh-CN" altLang="en-US"/>
        </a:p>
      </dgm:t>
    </dgm:pt>
    <dgm:pt modelId="{8F990F82-F957-4022-9713-461BD3358B86}" cxnId="{922BA338-4F2D-42E8-839B-3FD211F88C1A}" type="sibTrans">
      <dgm:prSet/>
      <dgm:spPr/>
      <dgm:t>
        <a:bodyPr/>
        <a:lstStyle/>
        <a:p>
          <a:endParaRPr lang="zh-CN" altLang="en-US"/>
        </a:p>
      </dgm:t>
    </dgm:pt>
    <dgm:pt modelId="{C98784BD-1618-40C1-9E82-E2373218303A}">
      <dgm:prSet phldrT="[文本]" custT="1"/>
      <dgm:spPr/>
      <dgm:t>
        <a:bodyPr/>
        <a:lstStyle/>
        <a:p>
          <a:r>
            <a:rPr lang="zh-CN" altLang="en-US" sz="1600" dirty="0"/>
            <a:t>业务分析</a:t>
          </a:r>
        </a:p>
      </dgm:t>
    </dgm:pt>
    <dgm:pt modelId="{0CBB996B-DEB9-417A-B5DC-BADB4BF9A985}" cxnId="{8495E771-0F71-4B5B-8F16-D6D931ABCBC6}" type="parTrans">
      <dgm:prSet/>
      <dgm:spPr/>
      <dgm:t>
        <a:bodyPr/>
        <a:lstStyle/>
        <a:p>
          <a:endParaRPr lang="zh-CN" altLang="en-US"/>
        </a:p>
      </dgm:t>
    </dgm:pt>
    <dgm:pt modelId="{5CCA55FC-FE69-48C6-B7C5-C1F1E2C66146}" cxnId="{8495E771-0F71-4B5B-8F16-D6D931ABCBC6}" type="sibTrans">
      <dgm:prSet/>
      <dgm:spPr/>
      <dgm:t>
        <a:bodyPr/>
        <a:lstStyle/>
        <a:p>
          <a:endParaRPr lang="zh-CN" altLang="en-US"/>
        </a:p>
      </dgm:t>
    </dgm:pt>
    <dgm:pt modelId="{84619E93-C280-4061-BF01-E7FB238B7AB2}">
      <dgm:prSet phldrT="[文本]" custT="1"/>
      <dgm:spPr/>
      <dgm:t>
        <a:bodyPr/>
        <a:lstStyle/>
        <a:p>
          <a:r>
            <a:rPr lang="zh-CN" altLang="en-US" sz="1600" dirty="0"/>
            <a:t>用例模型</a:t>
          </a:r>
        </a:p>
      </dgm:t>
    </dgm:pt>
    <dgm:pt modelId="{39D634B0-28E9-4E77-8FFF-89868BAC1E08}" cxnId="{B76095FA-5962-47A7-A3EF-9874EC298B68}" type="parTrans">
      <dgm:prSet/>
      <dgm:spPr/>
      <dgm:t>
        <a:bodyPr/>
        <a:lstStyle/>
        <a:p>
          <a:endParaRPr lang="zh-CN" altLang="en-US"/>
        </a:p>
      </dgm:t>
    </dgm:pt>
    <dgm:pt modelId="{6A38A05E-4795-479D-BA36-F90306DEB5AB}" cxnId="{B76095FA-5962-47A7-A3EF-9874EC298B68}" type="sibTrans">
      <dgm:prSet/>
      <dgm:spPr/>
      <dgm:t>
        <a:bodyPr/>
        <a:lstStyle/>
        <a:p>
          <a:endParaRPr lang="zh-CN" altLang="en-US"/>
        </a:p>
      </dgm:t>
    </dgm:pt>
    <dgm:pt modelId="{264D27E0-0A68-4066-9649-008001352352}">
      <dgm:prSet phldrT="[文本]"/>
      <dgm:spPr/>
      <dgm:t>
        <a:bodyPr/>
        <a:lstStyle/>
        <a:p>
          <a:r>
            <a:rPr lang="zh-CN" altLang="en-US" dirty="0"/>
            <a:t>软件设计</a:t>
          </a:r>
        </a:p>
      </dgm:t>
    </dgm:pt>
    <dgm:pt modelId="{3CC930DF-6835-44EF-9158-F52FE81B9C73}" cxnId="{D9A90080-FC64-4103-A975-F5A7F74E10C3}" type="parTrans">
      <dgm:prSet/>
      <dgm:spPr/>
      <dgm:t>
        <a:bodyPr/>
        <a:lstStyle/>
        <a:p>
          <a:endParaRPr lang="zh-CN" altLang="en-US"/>
        </a:p>
      </dgm:t>
    </dgm:pt>
    <dgm:pt modelId="{FA88F950-B4F3-452F-B941-F8FE24E714E5}" cxnId="{D9A90080-FC64-4103-A975-F5A7F74E10C3}" type="sibTrans">
      <dgm:prSet/>
      <dgm:spPr/>
      <dgm:t>
        <a:bodyPr/>
        <a:lstStyle/>
        <a:p>
          <a:endParaRPr lang="zh-CN" altLang="en-US"/>
        </a:p>
      </dgm:t>
    </dgm:pt>
    <dgm:pt modelId="{E0DDD6AD-9EE6-44CB-AA76-A60B3F7114BA}">
      <dgm:prSet phldrT="[文本]" custT="1"/>
      <dgm:spPr/>
      <dgm:t>
        <a:bodyPr/>
        <a:lstStyle/>
        <a:p>
          <a:r>
            <a:rPr lang="zh-CN" altLang="en-US" sz="1600" dirty="0"/>
            <a:t>软件体系结构设计</a:t>
          </a:r>
        </a:p>
      </dgm:t>
    </dgm:pt>
    <dgm:pt modelId="{3F34F4FE-6A61-48D0-9DDB-EE299FC9842C}" cxnId="{40A99573-DDC1-4A48-818F-2F8E1ED77185}" type="parTrans">
      <dgm:prSet/>
      <dgm:spPr/>
      <dgm:t>
        <a:bodyPr/>
        <a:lstStyle/>
        <a:p>
          <a:endParaRPr lang="zh-CN" altLang="en-US"/>
        </a:p>
      </dgm:t>
    </dgm:pt>
    <dgm:pt modelId="{54114A3E-F6B6-4DCA-A19F-50645F331AE6}" cxnId="{40A99573-DDC1-4A48-818F-2F8E1ED77185}" type="sibTrans">
      <dgm:prSet/>
      <dgm:spPr/>
      <dgm:t>
        <a:bodyPr/>
        <a:lstStyle/>
        <a:p>
          <a:endParaRPr lang="zh-CN" altLang="en-US"/>
        </a:p>
      </dgm:t>
    </dgm:pt>
    <dgm:pt modelId="{67FE9B72-D549-4E76-9BB9-9995047CC58B}">
      <dgm:prSet phldrT="[文本]" custT="1"/>
      <dgm:spPr/>
      <dgm:t>
        <a:bodyPr/>
        <a:lstStyle/>
        <a:p>
          <a:r>
            <a:rPr lang="zh-CN" altLang="en-US" sz="1600" dirty="0"/>
            <a:t>软件模块设计</a:t>
          </a:r>
        </a:p>
      </dgm:t>
    </dgm:pt>
    <dgm:pt modelId="{432AFE8C-99BD-4F0A-9696-9902D42E2A61}" cxnId="{D85447F9-1F3F-453D-B562-7C6D50FBD6C2}" type="parTrans">
      <dgm:prSet/>
      <dgm:spPr/>
      <dgm:t>
        <a:bodyPr/>
        <a:lstStyle/>
        <a:p>
          <a:endParaRPr lang="zh-CN" altLang="en-US"/>
        </a:p>
      </dgm:t>
    </dgm:pt>
    <dgm:pt modelId="{C2F9033D-485D-4FDE-96C2-271C786F6C34}" cxnId="{D85447F9-1F3F-453D-B562-7C6D50FBD6C2}" type="sibTrans">
      <dgm:prSet/>
      <dgm:spPr/>
      <dgm:t>
        <a:bodyPr/>
        <a:lstStyle/>
        <a:p>
          <a:endParaRPr lang="zh-CN" altLang="en-US"/>
        </a:p>
      </dgm:t>
    </dgm:pt>
    <dgm:pt modelId="{50A538DA-423A-4768-8EFE-0A19EF4E6FC0}">
      <dgm:prSet custT="1"/>
      <dgm:spPr/>
      <dgm:t>
        <a:bodyPr/>
        <a:lstStyle/>
        <a:p>
          <a:r>
            <a:rPr lang="zh-CN" altLang="en-US" sz="1600" dirty="0"/>
            <a:t>用例描述</a:t>
          </a:r>
        </a:p>
      </dgm:t>
    </dgm:pt>
    <dgm:pt modelId="{2630802F-A33F-4FA7-B7B8-096A95FA9906}" cxnId="{C9E95EC4-2BDF-42B4-926B-C8F56BBB73C6}" type="parTrans">
      <dgm:prSet/>
      <dgm:spPr/>
      <dgm:t>
        <a:bodyPr/>
        <a:lstStyle/>
        <a:p>
          <a:endParaRPr lang="zh-CN" altLang="en-US"/>
        </a:p>
      </dgm:t>
    </dgm:pt>
    <dgm:pt modelId="{A192523F-CAB8-4B27-A559-2FBC192D6289}" cxnId="{C9E95EC4-2BDF-42B4-926B-C8F56BBB73C6}" type="sibTrans">
      <dgm:prSet/>
      <dgm:spPr/>
      <dgm:t>
        <a:bodyPr/>
        <a:lstStyle/>
        <a:p>
          <a:endParaRPr lang="zh-CN" altLang="en-US"/>
        </a:p>
      </dgm:t>
    </dgm:pt>
    <dgm:pt modelId="{AE5CF279-3E46-4A9C-943D-2D011001CE1A}">
      <dgm:prSet custT="1"/>
      <dgm:spPr/>
      <dgm:t>
        <a:bodyPr/>
        <a:lstStyle/>
        <a:p>
          <a:r>
            <a:rPr lang="zh-CN" altLang="en-US" sz="1600" dirty="0"/>
            <a:t>数据库设计</a:t>
          </a:r>
        </a:p>
      </dgm:t>
    </dgm:pt>
    <dgm:pt modelId="{75BAAC23-2839-4973-8F9E-E7B020D20E37}" cxnId="{2B3018E3-C658-48F2-969B-A4DA4A2023D0}" type="parTrans">
      <dgm:prSet/>
      <dgm:spPr/>
      <dgm:t>
        <a:bodyPr/>
        <a:lstStyle/>
        <a:p>
          <a:endParaRPr lang="zh-CN" altLang="en-US"/>
        </a:p>
      </dgm:t>
    </dgm:pt>
    <dgm:pt modelId="{11AB4918-9D8A-4B2A-B3BA-483A49521354}" cxnId="{2B3018E3-C658-48F2-969B-A4DA4A2023D0}" type="sibTrans">
      <dgm:prSet/>
      <dgm:spPr/>
      <dgm:t>
        <a:bodyPr/>
        <a:lstStyle/>
        <a:p>
          <a:endParaRPr lang="zh-CN" altLang="en-US"/>
        </a:p>
      </dgm:t>
    </dgm:pt>
    <dgm:pt modelId="{39455FFE-CF8B-4CA7-B53B-18B96729B90D}">
      <dgm:prSet/>
      <dgm:spPr/>
      <dgm:t>
        <a:bodyPr/>
        <a:lstStyle/>
        <a:p>
          <a:r>
            <a:rPr lang="zh-CN" altLang="en-US" dirty="0"/>
            <a:t>软件实现</a:t>
          </a:r>
        </a:p>
      </dgm:t>
    </dgm:pt>
    <dgm:pt modelId="{4BC917ED-695E-4C7B-B210-CCE793724A5A}" cxnId="{F4F0CC68-374B-42A6-8C68-F68AAEA7AB28}" type="parTrans">
      <dgm:prSet/>
      <dgm:spPr/>
      <dgm:t>
        <a:bodyPr/>
        <a:lstStyle/>
        <a:p>
          <a:endParaRPr lang="zh-CN" altLang="en-US"/>
        </a:p>
      </dgm:t>
    </dgm:pt>
    <dgm:pt modelId="{59E8C9C3-A50E-4864-9A82-253E9621A84C}" cxnId="{F4F0CC68-374B-42A6-8C68-F68AAEA7AB28}" type="sibTrans">
      <dgm:prSet/>
      <dgm:spPr/>
      <dgm:t>
        <a:bodyPr/>
        <a:lstStyle/>
        <a:p>
          <a:endParaRPr lang="zh-CN" altLang="en-US"/>
        </a:p>
      </dgm:t>
    </dgm:pt>
    <dgm:pt modelId="{53D5D166-2C03-4642-81C0-A32B98CC6291}">
      <dgm:prSet custT="1"/>
      <dgm:spPr/>
      <dgm:t>
        <a:bodyPr/>
        <a:lstStyle/>
        <a:p>
          <a:r>
            <a:rPr lang="zh-CN" altLang="en-US" sz="1600" dirty="0"/>
            <a:t>软件功能实现</a:t>
          </a:r>
        </a:p>
      </dgm:t>
    </dgm:pt>
    <dgm:pt modelId="{124D3402-FB90-4748-A04D-D5D291254E37}" cxnId="{A2FE23A8-353F-4D44-8DC5-EEBAD9C88612}" type="parTrans">
      <dgm:prSet/>
      <dgm:spPr/>
      <dgm:t>
        <a:bodyPr/>
        <a:lstStyle/>
        <a:p>
          <a:endParaRPr lang="zh-CN" altLang="en-US"/>
        </a:p>
      </dgm:t>
    </dgm:pt>
    <dgm:pt modelId="{CFB31FB0-39CD-44EA-B87F-DE6B70DDB7B8}" cxnId="{A2FE23A8-353F-4D44-8DC5-EEBAD9C88612}" type="sibTrans">
      <dgm:prSet/>
      <dgm:spPr/>
      <dgm:t>
        <a:bodyPr/>
        <a:lstStyle/>
        <a:p>
          <a:endParaRPr lang="zh-CN" altLang="en-US"/>
        </a:p>
      </dgm:t>
    </dgm:pt>
    <dgm:pt modelId="{25437A81-3D1E-4415-AEA6-B749C06A4355}">
      <dgm:prSet/>
      <dgm:spPr/>
      <dgm:t>
        <a:bodyPr/>
        <a:lstStyle/>
        <a:p>
          <a:r>
            <a:rPr lang="zh-CN" altLang="en-US" dirty="0"/>
            <a:t>软件测试</a:t>
          </a:r>
        </a:p>
      </dgm:t>
    </dgm:pt>
    <dgm:pt modelId="{4238D4E2-6A55-47CB-8EDD-C17D90F8E89C}" cxnId="{C151F4C8-9C32-44CE-8821-4AFFD89FFC03}" type="parTrans">
      <dgm:prSet/>
      <dgm:spPr/>
      <dgm:t>
        <a:bodyPr/>
        <a:lstStyle/>
        <a:p>
          <a:endParaRPr lang="zh-CN" altLang="en-US"/>
        </a:p>
      </dgm:t>
    </dgm:pt>
    <dgm:pt modelId="{F83315BD-E6D5-49C1-A70D-E02D76D4909E}" cxnId="{C151F4C8-9C32-44CE-8821-4AFFD89FFC03}" type="sibTrans">
      <dgm:prSet/>
      <dgm:spPr/>
      <dgm:t>
        <a:bodyPr/>
        <a:lstStyle/>
        <a:p>
          <a:endParaRPr lang="zh-CN" altLang="en-US"/>
        </a:p>
      </dgm:t>
    </dgm:pt>
    <dgm:pt modelId="{0BDC7FCF-E46D-453E-8081-3CC6B1C232A6}">
      <dgm:prSet custT="1"/>
      <dgm:spPr/>
      <dgm:t>
        <a:bodyPr/>
        <a:lstStyle/>
        <a:p>
          <a:r>
            <a:rPr lang="zh-CN" altLang="en-US" sz="1600" dirty="0"/>
            <a:t>可选（目前未做要求）</a:t>
          </a:r>
        </a:p>
      </dgm:t>
    </dgm:pt>
    <dgm:pt modelId="{865ABE91-53CF-4111-A35B-8B056294B4B7}" cxnId="{875A7028-50F9-43EF-A695-6F91C594F9BA}" type="parTrans">
      <dgm:prSet/>
      <dgm:spPr/>
      <dgm:t>
        <a:bodyPr/>
        <a:lstStyle/>
        <a:p>
          <a:endParaRPr lang="zh-CN" altLang="en-US"/>
        </a:p>
      </dgm:t>
    </dgm:pt>
    <dgm:pt modelId="{1AC65564-63EF-47D5-ADFB-D5215D23EE1A}" cxnId="{875A7028-50F9-43EF-A695-6F91C594F9BA}" type="sibTrans">
      <dgm:prSet/>
      <dgm:spPr/>
      <dgm:t>
        <a:bodyPr/>
        <a:lstStyle/>
        <a:p>
          <a:endParaRPr lang="zh-CN" altLang="en-US"/>
        </a:p>
      </dgm:t>
    </dgm:pt>
    <dgm:pt modelId="{C4315A9C-7BA7-4E26-BD90-C58C25F6A0F4}" type="pres">
      <dgm:prSet presAssocID="{A6B62B27-CBE1-4D31-AAEB-05F711BDD4B9}" presName="theList" presStyleCnt="0">
        <dgm:presLayoutVars>
          <dgm:dir/>
          <dgm:animLvl val="lvl"/>
          <dgm:resizeHandles val="exact"/>
        </dgm:presLayoutVars>
      </dgm:prSet>
      <dgm:spPr/>
    </dgm:pt>
    <dgm:pt modelId="{0045382F-783D-4910-8E42-3D85557EBE35}" type="pres">
      <dgm:prSet presAssocID="{E4D20C5E-24E8-4A19-BFDC-BF39FF78C71A}" presName="compNode" presStyleCnt="0"/>
      <dgm:spPr/>
    </dgm:pt>
    <dgm:pt modelId="{22BFFEA2-E713-4E76-87E9-783E4D841E4E}" type="pres">
      <dgm:prSet presAssocID="{E4D20C5E-24E8-4A19-BFDC-BF39FF78C71A}" presName="aNode" presStyleLbl="bgShp" presStyleIdx="0" presStyleCnt="5"/>
      <dgm:spPr/>
    </dgm:pt>
    <dgm:pt modelId="{C13767AB-6622-41B5-8A63-E36D815D71DB}" type="pres">
      <dgm:prSet presAssocID="{E4D20C5E-24E8-4A19-BFDC-BF39FF78C71A}" presName="textNode" presStyleLbl="bgShp" presStyleIdx="0" presStyleCnt="5"/>
      <dgm:spPr/>
    </dgm:pt>
    <dgm:pt modelId="{6D951214-CBC2-4EDB-A88D-91E6E7A7F297}" type="pres">
      <dgm:prSet presAssocID="{E4D20C5E-24E8-4A19-BFDC-BF39FF78C71A}" presName="compChildNode" presStyleCnt="0"/>
      <dgm:spPr/>
    </dgm:pt>
    <dgm:pt modelId="{F4DAB4C4-A997-4F14-9C92-853214E707B4}" type="pres">
      <dgm:prSet presAssocID="{E4D20C5E-24E8-4A19-BFDC-BF39FF78C71A}" presName="theInnerList" presStyleCnt="0"/>
      <dgm:spPr/>
    </dgm:pt>
    <dgm:pt modelId="{EB1D0551-6D69-4A73-8FBC-0CAD03D2D3B0}" type="pres">
      <dgm:prSet presAssocID="{EA000CEE-B51C-45DF-8ACD-9B71A13A3C69}" presName="childNode" presStyleLbl="node1" presStyleIdx="0" presStyleCnt="10">
        <dgm:presLayoutVars>
          <dgm:bulletEnabled val="1"/>
        </dgm:presLayoutVars>
      </dgm:prSet>
      <dgm:spPr/>
    </dgm:pt>
    <dgm:pt modelId="{1F970F76-C5AB-43C5-95C8-36380AAE40A2}" type="pres">
      <dgm:prSet presAssocID="{EA000CEE-B51C-45DF-8ACD-9B71A13A3C69}" presName="aSpace2" presStyleCnt="0"/>
      <dgm:spPr/>
    </dgm:pt>
    <dgm:pt modelId="{C2F338E3-1D9E-4CA3-A4CB-6CADADE80E0A}" type="pres">
      <dgm:prSet presAssocID="{E427E6F5-1F4C-4E1B-9F9C-FC0638F3D6DF}" presName="childNode" presStyleLbl="node1" presStyleIdx="1" presStyleCnt="10">
        <dgm:presLayoutVars>
          <dgm:bulletEnabled val="1"/>
        </dgm:presLayoutVars>
      </dgm:prSet>
      <dgm:spPr/>
    </dgm:pt>
    <dgm:pt modelId="{D3CE1D09-E5D2-45F1-ABAD-D250A30ED6EF}" type="pres">
      <dgm:prSet presAssocID="{E4D20C5E-24E8-4A19-BFDC-BF39FF78C71A}" presName="aSpace" presStyleCnt="0"/>
      <dgm:spPr/>
    </dgm:pt>
    <dgm:pt modelId="{32E1D3F7-DBF3-4FFC-84FA-64B4C8C4BDC4}" type="pres">
      <dgm:prSet presAssocID="{F976884C-755A-46AE-B40D-516065DC3F6A}" presName="compNode" presStyleCnt="0"/>
      <dgm:spPr/>
    </dgm:pt>
    <dgm:pt modelId="{A84A82F9-4D63-4C59-9A70-008FCBD3D27D}" type="pres">
      <dgm:prSet presAssocID="{F976884C-755A-46AE-B40D-516065DC3F6A}" presName="aNode" presStyleLbl="bgShp" presStyleIdx="1" presStyleCnt="5"/>
      <dgm:spPr/>
    </dgm:pt>
    <dgm:pt modelId="{650BFCD3-1E45-4848-9354-FC8332BE4462}" type="pres">
      <dgm:prSet presAssocID="{F976884C-755A-46AE-B40D-516065DC3F6A}" presName="textNode" presStyleLbl="bgShp" presStyleIdx="1" presStyleCnt="5"/>
      <dgm:spPr/>
    </dgm:pt>
    <dgm:pt modelId="{27403F14-0057-4573-B43C-9BA178035175}" type="pres">
      <dgm:prSet presAssocID="{F976884C-755A-46AE-B40D-516065DC3F6A}" presName="compChildNode" presStyleCnt="0"/>
      <dgm:spPr/>
    </dgm:pt>
    <dgm:pt modelId="{7FF22E82-B6C7-4302-83D5-3D6D9FE70ADF}" type="pres">
      <dgm:prSet presAssocID="{F976884C-755A-46AE-B40D-516065DC3F6A}" presName="theInnerList" presStyleCnt="0"/>
      <dgm:spPr/>
    </dgm:pt>
    <dgm:pt modelId="{E7CF52B9-E87B-4EFC-99CD-C0C5D26212E3}" type="pres">
      <dgm:prSet presAssocID="{C98784BD-1618-40C1-9E82-E2373218303A}" presName="childNode" presStyleLbl="node1" presStyleIdx="2" presStyleCnt="10">
        <dgm:presLayoutVars>
          <dgm:bulletEnabled val="1"/>
        </dgm:presLayoutVars>
      </dgm:prSet>
      <dgm:spPr/>
    </dgm:pt>
    <dgm:pt modelId="{574B8E45-786C-47A8-9B0D-E6137BE9AA3F}" type="pres">
      <dgm:prSet presAssocID="{C98784BD-1618-40C1-9E82-E2373218303A}" presName="aSpace2" presStyleCnt="0"/>
      <dgm:spPr/>
    </dgm:pt>
    <dgm:pt modelId="{9D0484CC-40CC-4D7B-BAE0-70ED1150927F}" type="pres">
      <dgm:prSet presAssocID="{84619E93-C280-4061-BF01-E7FB238B7AB2}" presName="childNode" presStyleLbl="node1" presStyleIdx="3" presStyleCnt="10">
        <dgm:presLayoutVars>
          <dgm:bulletEnabled val="1"/>
        </dgm:presLayoutVars>
      </dgm:prSet>
      <dgm:spPr/>
    </dgm:pt>
    <dgm:pt modelId="{14413EFD-AA20-43CC-9EE8-C13476F4612D}" type="pres">
      <dgm:prSet presAssocID="{84619E93-C280-4061-BF01-E7FB238B7AB2}" presName="aSpace2" presStyleCnt="0"/>
      <dgm:spPr/>
    </dgm:pt>
    <dgm:pt modelId="{A4D3B28D-0911-4FAD-85BF-5C5C6AC0866F}" type="pres">
      <dgm:prSet presAssocID="{50A538DA-423A-4768-8EFE-0A19EF4E6FC0}" presName="childNode" presStyleLbl="node1" presStyleIdx="4" presStyleCnt="10">
        <dgm:presLayoutVars>
          <dgm:bulletEnabled val="1"/>
        </dgm:presLayoutVars>
      </dgm:prSet>
      <dgm:spPr/>
    </dgm:pt>
    <dgm:pt modelId="{E2B2B8D3-B6B3-455D-819F-4C6EAA1A9507}" type="pres">
      <dgm:prSet presAssocID="{F976884C-755A-46AE-B40D-516065DC3F6A}" presName="aSpace" presStyleCnt="0"/>
      <dgm:spPr/>
    </dgm:pt>
    <dgm:pt modelId="{116369C4-9A26-46D4-9D6F-F454B521B842}" type="pres">
      <dgm:prSet presAssocID="{264D27E0-0A68-4066-9649-008001352352}" presName="compNode" presStyleCnt="0"/>
      <dgm:spPr/>
    </dgm:pt>
    <dgm:pt modelId="{6E8F6A16-21C1-4282-A54F-762F8D2E7869}" type="pres">
      <dgm:prSet presAssocID="{264D27E0-0A68-4066-9649-008001352352}" presName="aNode" presStyleLbl="bgShp" presStyleIdx="2" presStyleCnt="5"/>
      <dgm:spPr/>
    </dgm:pt>
    <dgm:pt modelId="{BA000A45-E990-4DAB-8C5C-1B3B00BF3568}" type="pres">
      <dgm:prSet presAssocID="{264D27E0-0A68-4066-9649-008001352352}" presName="textNode" presStyleLbl="bgShp" presStyleIdx="2" presStyleCnt="5"/>
      <dgm:spPr/>
    </dgm:pt>
    <dgm:pt modelId="{C5138D9E-32A3-460C-AF59-A69372DF6BE4}" type="pres">
      <dgm:prSet presAssocID="{264D27E0-0A68-4066-9649-008001352352}" presName="compChildNode" presStyleCnt="0"/>
      <dgm:spPr/>
    </dgm:pt>
    <dgm:pt modelId="{55CBD7C6-DD61-4DF4-A7C3-D3F483B04FA3}" type="pres">
      <dgm:prSet presAssocID="{264D27E0-0A68-4066-9649-008001352352}" presName="theInnerList" presStyleCnt="0"/>
      <dgm:spPr/>
    </dgm:pt>
    <dgm:pt modelId="{4F4128DD-D798-44CF-B251-ACE12A4DC4F5}" type="pres">
      <dgm:prSet presAssocID="{E0DDD6AD-9EE6-44CB-AA76-A60B3F7114BA}" presName="childNode" presStyleLbl="node1" presStyleIdx="5" presStyleCnt="10">
        <dgm:presLayoutVars>
          <dgm:bulletEnabled val="1"/>
        </dgm:presLayoutVars>
      </dgm:prSet>
      <dgm:spPr/>
    </dgm:pt>
    <dgm:pt modelId="{28DC5DDD-6B4B-409D-9660-EA2409DBD064}" type="pres">
      <dgm:prSet presAssocID="{E0DDD6AD-9EE6-44CB-AA76-A60B3F7114BA}" presName="aSpace2" presStyleCnt="0"/>
      <dgm:spPr/>
    </dgm:pt>
    <dgm:pt modelId="{4810EF86-FA13-4BA0-9675-F71E0F340B0E}" type="pres">
      <dgm:prSet presAssocID="{67FE9B72-D549-4E76-9BB9-9995047CC58B}" presName="childNode" presStyleLbl="node1" presStyleIdx="6" presStyleCnt="10">
        <dgm:presLayoutVars>
          <dgm:bulletEnabled val="1"/>
        </dgm:presLayoutVars>
      </dgm:prSet>
      <dgm:spPr/>
    </dgm:pt>
    <dgm:pt modelId="{02996A33-332D-407A-BDBB-3517173CCA75}" type="pres">
      <dgm:prSet presAssocID="{67FE9B72-D549-4E76-9BB9-9995047CC58B}" presName="aSpace2" presStyleCnt="0"/>
      <dgm:spPr/>
    </dgm:pt>
    <dgm:pt modelId="{776472B5-6E7B-43BF-99DB-9D98671C5A35}" type="pres">
      <dgm:prSet presAssocID="{AE5CF279-3E46-4A9C-943D-2D011001CE1A}" presName="childNode" presStyleLbl="node1" presStyleIdx="7" presStyleCnt="10">
        <dgm:presLayoutVars>
          <dgm:bulletEnabled val="1"/>
        </dgm:presLayoutVars>
      </dgm:prSet>
      <dgm:spPr/>
    </dgm:pt>
    <dgm:pt modelId="{ABB3B592-9F07-40ED-8160-C0C0DA0CAC9D}" type="pres">
      <dgm:prSet presAssocID="{264D27E0-0A68-4066-9649-008001352352}" presName="aSpace" presStyleCnt="0"/>
      <dgm:spPr/>
    </dgm:pt>
    <dgm:pt modelId="{204384EE-9ACC-4922-BE01-7B6CADFBF793}" type="pres">
      <dgm:prSet presAssocID="{39455FFE-CF8B-4CA7-B53B-18B96729B90D}" presName="compNode" presStyleCnt="0"/>
      <dgm:spPr/>
    </dgm:pt>
    <dgm:pt modelId="{405329A0-B722-4B18-87C8-99DE49059CA6}" type="pres">
      <dgm:prSet presAssocID="{39455FFE-CF8B-4CA7-B53B-18B96729B90D}" presName="aNode" presStyleLbl="bgShp" presStyleIdx="3" presStyleCnt="5"/>
      <dgm:spPr/>
    </dgm:pt>
    <dgm:pt modelId="{12EBFE96-3A2A-4E5E-861B-3B6BDF74617D}" type="pres">
      <dgm:prSet presAssocID="{39455FFE-CF8B-4CA7-B53B-18B96729B90D}" presName="textNode" presStyleLbl="bgShp" presStyleIdx="3" presStyleCnt="5"/>
      <dgm:spPr/>
    </dgm:pt>
    <dgm:pt modelId="{65EE7ADE-FB5F-408A-A3FC-894268A36A28}" type="pres">
      <dgm:prSet presAssocID="{39455FFE-CF8B-4CA7-B53B-18B96729B90D}" presName="compChildNode" presStyleCnt="0"/>
      <dgm:spPr/>
    </dgm:pt>
    <dgm:pt modelId="{F80C59B4-8DDA-4FA9-A3DD-47E8E0DA8497}" type="pres">
      <dgm:prSet presAssocID="{39455FFE-CF8B-4CA7-B53B-18B96729B90D}" presName="theInnerList" presStyleCnt="0"/>
      <dgm:spPr/>
    </dgm:pt>
    <dgm:pt modelId="{360EAE71-A5F7-4F78-8A54-618504252630}" type="pres">
      <dgm:prSet presAssocID="{53D5D166-2C03-4642-81C0-A32B98CC6291}" presName="childNode" presStyleLbl="node1" presStyleIdx="8" presStyleCnt="10">
        <dgm:presLayoutVars>
          <dgm:bulletEnabled val="1"/>
        </dgm:presLayoutVars>
      </dgm:prSet>
      <dgm:spPr/>
    </dgm:pt>
    <dgm:pt modelId="{0DED1566-DF7F-4C5B-8CA3-5E5D28DD9F13}" type="pres">
      <dgm:prSet presAssocID="{39455FFE-CF8B-4CA7-B53B-18B96729B90D}" presName="aSpace" presStyleCnt="0"/>
      <dgm:spPr/>
    </dgm:pt>
    <dgm:pt modelId="{CF261344-9BCE-458D-B600-47328D69A830}" type="pres">
      <dgm:prSet presAssocID="{25437A81-3D1E-4415-AEA6-B749C06A4355}" presName="compNode" presStyleCnt="0"/>
      <dgm:spPr/>
    </dgm:pt>
    <dgm:pt modelId="{280F23C0-F29B-4E15-BEE3-4385AAA88859}" type="pres">
      <dgm:prSet presAssocID="{25437A81-3D1E-4415-AEA6-B749C06A4355}" presName="aNode" presStyleLbl="bgShp" presStyleIdx="4" presStyleCnt="5"/>
      <dgm:spPr/>
    </dgm:pt>
    <dgm:pt modelId="{BA6F2D36-188C-4EE5-99E0-9313AA7BD186}" type="pres">
      <dgm:prSet presAssocID="{25437A81-3D1E-4415-AEA6-B749C06A4355}" presName="textNode" presStyleLbl="bgShp" presStyleIdx="4" presStyleCnt="5"/>
      <dgm:spPr/>
    </dgm:pt>
    <dgm:pt modelId="{6150DBBB-35A7-4278-8956-CE0187F59DBA}" type="pres">
      <dgm:prSet presAssocID="{25437A81-3D1E-4415-AEA6-B749C06A4355}" presName="compChildNode" presStyleCnt="0"/>
      <dgm:spPr/>
    </dgm:pt>
    <dgm:pt modelId="{9DAAFD19-7AEB-4336-92FE-BC42FA59E13C}" type="pres">
      <dgm:prSet presAssocID="{25437A81-3D1E-4415-AEA6-B749C06A4355}" presName="theInnerList" presStyleCnt="0"/>
      <dgm:spPr/>
    </dgm:pt>
    <dgm:pt modelId="{D9F711F5-26C1-4FDF-A574-819BE635E8B0}" type="pres">
      <dgm:prSet presAssocID="{0BDC7FCF-E46D-453E-8081-3CC6B1C232A6}" presName="childNode" presStyleLbl="node1" presStyleIdx="9" presStyleCnt="10">
        <dgm:presLayoutVars>
          <dgm:bulletEnabled val="1"/>
        </dgm:presLayoutVars>
      </dgm:prSet>
      <dgm:spPr/>
    </dgm:pt>
  </dgm:ptLst>
  <dgm:cxnLst>
    <dgm:cxn modelId="{DBB22E00-1BA7-4B03-AB99-0AE47A42E5A1}" type="presOf" srcId="{25437A81-3D1E-4415-AEA6-B749C06A4355}" destId="{BA6F2D36-188C-4EE5-99E0-9313AA7BD186}" srcOrd="1" destOrd="0" presId="urn:microsoft.com/office/officeart/2005/8/layout/lProcess2"/>
    <dgm:cxn modelId="{BEA0461A-C3A9-42AE-9DB4-B31D2249B728}" type="presOf" srcId="{53D5D166-2C03-4642-81C0-A32B98CC6291}" destId="{360EAE71-A5F7-4F78-8A54-618504252630}" srcOrd="0" destOrd="0" presId="urn:microsoft.com/office/officeart/2005/8/layout/lProcess2"/>
    <dgm:cxn modelId="{6118A91B-BD38-4D64-A61B-812DDD34A38C}" type="presOf" srcId="{50A538DA-423A-4768-8EFE-0A19EF4E6FC0}" destId="{A4D3B28D-0911-4FAD-85BF-5C5C6AC0866F}" srcOrd="0" destOrd="0" presId="urn:microsoft.com/office/officeart/2005/8/layout/lProcess2"/>
    <dgm:cxn modelId="{875A7028-50F9-43EF-A695-6F91C594F9BA}" srcId="{25437A81-3D1E-4415-AEA6-B749C06A4355}" destId="{0BDC7FCF-E46D-453E-8081-3CC6B1C232A6}" srcOrd="0" destOrd="0" parTransId="{865ABE91-53CF-4111-A35B-8B056294B4B7}" sibTransId="{1AC65564-63EF-47D5-ADFB-D5215D23EE1A}"/>
    <dgm:cxn modelId="{C3AD3C2A-D410-4240-B845-1AB52C57AAFA}" type="presOf" srcId="{25437A81-3D1E-4415-AEA6-B749C06A4355}" destId="{280F23C0-F29B-4E15-BEE3-4385AAA88859}" srcOrd="0" destOrd="0" presId="urn:microsoft.com/office/officeart/2005/8/layout/lProcess2"/>
    <dgm:cxn modelId="{A346B535-020B-4827-89D5-23DB8DEE6315}" type="presOf" srcId="{264D27E0-0A68-4066-9649-008001352352}" destId="{BA000A45-E990-4DAB-8C5C-1B3B00BF3568}" srcOrd="1" destOrd="0" presId="urn:microsoft.com/office/officeart/2005/8/layout/lProcess2"/>
    <dgm:cxn modelId="{922BA338-4F2D-42E8-839B-3FD211F88C1A}" srcId="{A6B62B27-CBE1-4D31-AAEB-05F711BDD4B9}" destId="{F976884C-755A-46AE-B40D-516065DC3F6A}" srcOrd="1" destOrd="0" parTransId="{3C14A1AC-74DD-4AFC-B717-45C0C7E02352}" sibTransId="{8F990F82-F957-4022-9713-461BD3358B86}"/>
    <dgm:cxn modelId="{9C538C46-F191-4E85-8F13-C9AC098EEC46}" type="presOf" srcId="{F976884C-755A-46AE-B40D-516065DC3F6A}" destId="{650BFCD3-1E45-4848-9354-FC8332BE4462}" srcOrd="1" destOrd="0" presId="urn:microsoft.com/office/officeart/2005/8/layout/lProcess2"/>
    <dgm:cxn modelId="{F4F0CC68-374B-42A6-8C68-F68AAEA7AB28}" srcId="{A6B62B27-CBE1-4D31-AAEB-05F711BDD4B9}" destId="{39455FFE-CF8B-4CA7-B53B-18B96729B90D}" srcOrd="3" destOrd="0" parTransId="{4BC917ED-695E-4C7B-B210-CCE793724A5A}" sibTransId="{59E8C9C3-A50E-4864-9A82-253E9621A84C}"/>
    <dgm:cxn modelId="{2133626C-4B35-40D5-A770-20AF481F0B36}" type="presOf" srcId="{A6B62B27-CBE1-4D31-AAEB-05F711BDD4B9}" destId="{C4315A9C-7BA7-4E26-BD90-C58C25F6A0F4}" srcOrd="0" destOrd="0" presId="urn:microsoft.com/office/officeart/2005/8/layout/lProcess2"/>
    <dgm:cxn modelId="{7C2AB24D-47F9-404F-80E4-56E96229EFE0}" type="presOf" srcId="{E0DDD6AD-9EE6-44CB-AA76-A60B3F7114BA}" destId="{4F4128DD-D798-44CF-B251-ACE12A4DC4F5}" srcOrd="0" destOrd="0" presId="urn:microsoft.com/office/officeart/2005/8/layout/lProcess2"/>
    <dgm:cxn modelId="{8495E771-0F71-4B5B-8F16-D6D931ABCBC6}" srcId="{F976884C-755A-46AE-B40D-516065DC3F6A}" destId="{C98784BD-1618-40C1-9E82-E2373218303A}" srcOrd="0" destOrd="0" parTransId="{0CBB996B-DEB9-417A-B5DC-BADB4BF9A985}" sibTransId="{5CCA55FC-FE69-48C6-B7C5-C1F1E2C66146}"/>
    <dgm:cxn modelId="{40A99573-DDC1-4A48-818F-2F8E1ED77185}" srcId="{264D27E0-0A68-4066-9649-008001352352}" destId="{E0DDD6AD-9EE6-44CB-AA76-A60B3F7114BA}" srcOrd="0" destOrd="0" parTransId="{3F34F4FE-6A61-48D0-9DDB-EE299FC9842C}" sibTransId="{54114A3E-F6B6-4DCA-A19F-50645F331AE6}"/>
    <dgm:cxn modelId="{A9ABA056-D124-4EA9-858D-AC2ECF13538E}" srcId="{A6B62B27-CBE1-4D31-AAEB-05F711BDD4B9}" destId="{E4D20C5E-24E8-4A19-BFDC-BF39FF78C71A}" srcOrd="0" destOrd="0" parTransId="{541FE7C4-62C4-4457-A5DB-8D9A0C981555}" sibTransId="{C75E9B3C-DEB7-4D64-9D93-77B878AAC764}"/>
    <dgm:cxn modelId="{CF175577-272D-48A0-A38C-97FF727943C7}" type="presOf" srcId="{EA000CEE-B51C-45DF-8ACD-9B71A13A3C69}" destId="{EB1D0551-6D69-4A73-8FBC-0CAD03D2D3B0}" srcOrd="0" destOrd="0" presId="urn:microsoft.com/office/officeart/2005/8/layout/lProcess2"/>
    <dgm:cxn modelId="{D9A90080-FC64-4103-A975-F5A7F74E10C3}" srcId="{A6B62B27-CBE1-4D31-AAEB-05F711BDD4B9}" destId="{264D27E0-0A68-4066-9649-008001352352}" srcOrd="2" destOrd="0" parTransId="{3CC930DF-6835-44EF-9158-F52FE81B9C73}" sibTransId="{FA88F950-B4F3-452F-B941-F8FE24E714E5}"/>
    <dgm:cxn modelId="{28E8FD97-25DA-4A35-B9F6-F6BE57BB7BB2}" type="presOf" srcId="{E4D20C5E-24E8-4A19-BFDC-BF39FF78C71A}" destId="{C13767AB-6622-41B5-8A63-E36D815D71DB}" srcOrd="1" destOrd="0" presId="urn:microsoft.com/office/officeart/2005/8/layout/lProcess2"/>
    <dgm:cxn modelId="{336C959F-4508-4B13-B1C1-83820FFA8FA8}" type="presOf" srcId="{E4D20C5E-24E8-4A19-BFDC-BF39FF78C71A}" destId="{22BFFEA2-E713-4E76-87E9-783E4D841E4E}" srcOrd="0" destOrd="0" presId="urn:microsoft.com/office/officeart/2005/8/layout/lProcess2"/>
    <dgm:cxn modelId="{B8D8EFA6-360B-4424-9220-55BC21BE90DE}" type="presOf" srcId="{0BDC7FCF-E46D-453E-8081-3CC6B1C232A6}" destId="{D9F711F5-26C1-4FDF-A574-819BE635E8B0}" srcOrd="0" destOrd="0" presId="urn:microsoft.com/office/officeart/2005/8/layout/lProcess2"/>
    <dgm:cxn modelId="{A2FE23A8-353F-4D44-8DC5-EEBAD9C88612}" srcId="{39455FFE-CF8B-4CA7-B53B-18B96729B90D}" destId="{53D5D166-2C03-4642-81C0-A32B98CC6291}" srcOrd="0" destOrd="0" parTransId="{124D3402-FB90-4748-A04D-D5D291254E37}" sibTransId="{CFB31FB0-39CD-44EA-B87F-DE6B70DDB7B8}"/>
    <dgm:cxn modelId="{2946E6AF-ABEA-4F24-B20D-59F0B54E75A4}" srcId="{E4D20C5E-24E8-4A19-BFDC-BF39FF78C71A}" destId="{EA000CEE-B51C-45DF-8ACD-9B71A13A3C69}" srcOrd="0" destOrd="0" parTransId="{51B7C61C-4FCA-4F3E-9308-3647E6F99EA0}" sibTransId="{801037FB-2688-41B3-9430-B254DC6E5757}"/>
    <dgm:cxn modelId="{E591AFBD-84C3-474B-993D-8904ADB9F5AF}" type="presOf" srcId="{67FE9B72-D549-4E76-9BB9-9995047CC58B}" destId="{4810EF86-FA13-4BA0-9675-F71E0F340B0E}" srcOrd="0" destOrd="0" presId="urn:microsoft.com/office/officeart/2005/8/layout/lProcess2"/>
    <dgm:cxn modelId="{87FACBC1-5412-4D4A-92AB-00F3A3E86D75}" type="presOf" srcId="{39455FFE-CF8B-4CA7-B53B-18B96729B90D}" destId="{405329A0-B722-4B18-87C8-99DE49059CA6}" srcOrd="0" destOrd="0" presId="urn:microsoft.com/office/officeart/2005/8/layout/lProcess2"/>
    <dgm:cxn modelId="{E7DA85C2-9333-4308-ACC7-683D5A865BF7}" type="presOf" srcId="{E427E6F5-1F4C-4E1B-9F9C-FC0638F3D6DF}" destId="{C2F338E3-1D9E-4CA3-A4CB-6CADADE80E0A}" srcOrd="0" destOrd="0" presId="urn:microsoft.com/office/officeart/2005/8/layout/lProcess2"/>
    <dgm:cxn modelId="{C9E95EC4-2BDF-42B4-926B-C8F56BBB73C6}" srcId="{F976884C-755A-46AE-B40D-516065DC3F6A}" destId="{50A538DA-423A-4768-8EFE-0A19EF4E6FC0}" srcOrd="2" destOrd="0" parTransId="{2630802F-A33F-4FA7-B7B8-096A95FA9906}" sibTransId="{A192523F-CAB8-4B27-A559-2FBC192D6289}"/>
    <dgm:cxn modelId="{938352C8-9639-4F0B-B082-5C3B98C89216}" type="presOf" srcId="{264D27E0-0A68-4066-9649-008001352352}" destId="{6E8F6A16-21C1-4282-A54F-762F8D2E7869}" srcOrd="0" destOrd="0" presId="urn:microsoft.com/office/officeart/2005/8/layout/lProcess2"/>
    <dgm:cxn modelId="{C151F4C8-9C32-44CE-8821-4AFFD89FFC03}" srcId="{A6B62B27-CBE1-4D31-AAEB-05F711BDD4B9}" destId="{25437A81-3D1E-4415-AEA6-B749C06A4355}" srcOrd="4" destOrd="0" parTransId="{4238D4E2-6A55-47CB-8EDD-C17D90F8E89C}" sibTransId="{F83315BD-E6D5-49C1-A70D-E02D76D4909E}"/>
    <dgm:cxn modelId="{CDFC86C9-2ADF-483F-B950-09C55986941F}" srcId="{E4D20C5E-24E8-4A19-BFDC-BF39FF78C71A}" destId="{E427E6F5-1F4C-4E1B-9F9C-FC0638F3D6DF}" srcOrd="1" destOrd="0" parTransId="{1A88E61E-A0E4-4D79-8C3A-7050B78C59D0}" sibTransId="{A0026C49-AA61-4509-9A86-6C8007431284}"/>
    <dgm:cxn modelId="{46B5F3D0-05F1-4C9E-84F7-698309AF847A}" type="presOf" srcId="{AE5CF279-3E46-4A9C-943D-2D011001CE1A}" destId="{776472B5-6E7B-43BF-99DB-9D98671C5A35}" srcOrd="0" destOrd="0" presId="urn:microsoft.com/office/officeart/2005/8/layout/lProcess2"/>
    <dgm:cxn modelId="{6C37C6E0-2324-4510-B188-8A26463B155F}" type="presOf" srcId="{84619E93-C280-4061-BF01-E7FB238B7AB2}" destId="{9D0484CC-40CC-4D7B-BAE0-70ED1150927F}" srcOrd="0" destOrd="0" presId="urn:microsoft.com/office/officeart/2005/8/layout/lProcess2"/>
    <dgm:cxn modelId="{2B3018E3-C658-48F2-969B-A4DA4A2023D0}" srcId="{264D27E0-0A68-4066-9649-008001352352}" destId="{AE5CF279-3E46-4A9C-943D-2D011001CE1A}" srcOrd="2" destOrd="0" parTransId="{75BAAC23-2839-4973-8F9E-E7B020D20E37}" sibTransId="{11AB4918-9D8A-4B2A-B3BA-483A49521354}"/>
    <dgm:cxn modelId="{AC59A3E3-27CE-47D3-87A8-82063FDF8621}" type="presOf" srcId="{F976884C-755A-46AE-B40D-516065DC3F6A}" destId="{A84A82F9-4D63-4C59-9A70-008FCBD3D27D}" srcOrd="0" destOrd="0" presId="urn:microsoft.com/office/officeart/2005/8/layout/lProcess2"/>
    <dgm:cxn modelId="{D85447F9-1F3F-453D-B562-7C6D50FBD6C2}" srcId="{264D27E0-0A68-4066-9649-008001352352}" destId="{67FE9B72-D549-4E76-9BB9-9995047CC58B}" srcOrd="1" destOrd="0" parTransId="{432AFE8C-99BD-4F0A-9696-9902D42E2A61}" sibTransId="{C2F9033D-485D-4FDE-96C2-271C786F6C34}"/>
    <dgm:cxn modelId="{B76095FA-5962-47A7-A3EF-9874EC298B68}" srcId="{F976884C-755A-46AE-B40D-516065DC3F6A}" destId="{84619E93-C280-4061-BF01-E7FB238B7AB2}" srcOrd="1" destOrd="0" parTransId="{39D634B0-28E9-4E77-8FFF-89868BAC1E08}" sibTransId="{6A38A05E-4795-479D-BA36-F90306DEB5AB}"/>
    <dgm:cxn modelId="{7EF892FE-9BA7-43C2-A1CB-830323B0E615}" type="presOf" srcId="{C98784BD-1618-40C1-9E82-E2373218303A}" destId="{E7CF52B9-E87B-4EFC-99CD-C0C5D26212E3}" srcOrd="0" destOrd="0" presId="urn:microsoft.com/office/officeart/2005/8/layout/lProcess2"/>
    <dgm:cxn modelId="{141BB6FE-DF40-48E1-B6A5-C81A2603D8EA}" type="presOf" srcId="{39455FFE-CF8B-4CA7-B53B-18B96729B90D}" destId="{12EBFE96-3A2A-4E5E-861B-3B6BDF74617D}" srcOrd="1" destOrd="0" presId="urn:microsoft.com/office/officeart/2005/8/layout/lProcess2"/>
    <dgm:cxn modelId="{E0654733-701F-4650-9199-F9DA229E53CB}" type="presParOf" srcId="{C4315A9C-7BA7-4E26-BD90-C58C25F6A0F4}" destId="{0045382F-783D-4910-8E42-3D85557EBE35}" srcOrd="0" destOrd="0" presId="urn:microsoft.com/office/officeart/2005/8/layout/lProcess2"/>
    <dgm:cxn modelId="{D889BD8B-4C87-41B3-B3C8-39D9943BAF19}" type="presParOf" srcId="{0045382F-783D-4910-8E42-3D85557EBE35}" destId="{22BFFEA2-E713-4E76-87E9-783E4D841E4E}" srcOrd="0" destOrd="0" presId="urn:microsoft.com/office/officeart/2005/8/layout/lProcess2"/>
    <dgm:cxn modelId="{C92B92E2-F0B1-4474-86B4-7F9DE205D50E}" type="presParOf" srcId="{0045382F-783D-4910-8E42-3D85557EBE35}" destId="{C13767AB-6622-41B5-8A63-E36D815D71DB}" srcOrd="1" destOrd="0" presId="urn:microsoft.com/office/officeart/2005/8/layout/lProcess2"/>
    <dgm:cxn modelId="{74F0D570-30CA-432B-82F9-4BB5E5C5B62B}" type="presParOf" srcId="{0045382F-783D-4910-8E42-3D85557EBE35}" destId="{6D951214-CBC2-4EDB-A88D-91E6E7A7F297}" srcOrd="2" destOrd="0" presId="urn:microsoft.com/office/officeart/2005/8/layout/lProcess2"/>
    <dgm:cxn modelId="{72CE5550-96C0-4E39-81E9-6CF3570992D8}" type="presParOf" srcId="{6D951214-CBC2-4EDB-A88D-91E6E7A7F297}" destId="{F4DAB4C4-A997-4F14-9C92-853214E707B4}" srcOrd="0" destOrd="0" presId="urn:microsoft.com/office/officeart/2005/8/layout/lProcess2"/>
    <dgm:cxn modelId="{13385EA6-51E2-44FF-9B51-4C2BA24AE0DF}" type="presParOf" srcId="{F4DAB4C4-A997-4F14-9C92-853214E707B4}" destId="{EB1D0551-6D69-4A73-8FBC-0CAD03D2D3B0}" srcOrd="0" destOrd="0" presId="urn:microsoft.com/office/officeart/2005/8/layout/lProcess2"/>
    <dgm:cxn modelId="{FFA9F2DD-DAEF-4FE8-9E61-672D5D047A8D}" type="presParOf" srcId="{F4DAB4C4-A997-4F14-9C92-853214E707B4}" destId="{1F970F76-C5AB-43C5-95C8-36380AAE40A2}" srcOrd="1" destOrd="0" presId="urn:microsoft.com/office/officeart/2005/8/layout/lProcess2"/>
    <dgm:cxn modelId="{5BD627E6-164E-47D7-A86D-966669333117}" type="presParOf" srcId="{F4DAB4C4-A997-4F14-9C92-853214E707B4}" destId="{C2F338E3-1D9E-4CA3-A4CB-6CADADE80E0A}" srcOrd="2" destOrd="0" presId="urn:microsoft.com/office/officeart/2005/8/layout/lProcess2"/>
    <dgm:cxn modelId="{64019E83-927A-4933-8673-026A355ED177}" type="presParOf" srcId="{C4315A9C-7BA7-4E26-BD90-C58C25F6A0F4}" destId="{D3CE1D09-E5D2-45F1-ABAD-D250A30ED6EF}" srcOrd="1" destOrd="0" presId="urn:microsoft.com/office/officeart/2005/8/layout/lProcess2"/>
    <dgm:cxn modelId="{B41E727B-F296-49A7-B3BF-2DA7DA44A607}" type="presParOf" srcId="{C4315A9C-7BA7-4E26-BD90-C58C25F6A0F4}" destId="{32E1D3F7-DBF3-4FFC-84FA-64B4C8C4BDC4}" srcOrd="2" destOrd="0" presId="urn:microsoft.com/office/officeart/2005/8/layout/lProcess2"/>
    <dgm:cxn modelId="{B2C6F3F1-605D-457B-B762-44A23B2C8AC5}" type="presParOf" srcId="{32E1D3F7-DBF3-4FFC-84FA-64B4C8C4BDC4}" destId="{A84A82F9-4D63-4C59-9A70-008FCBD3D27D}" srcOrd="0" destOrd="0" presId="urn:microsoft.com/office/officeart/2005/8/layout/lProcess2"/>
    <dgm:cxn modelId="{6662D435-63D7-4AC8-8656-EFC581B02CCC}" type="presParOf" srcId="{32E1D3F7-DBF3-4FFC-84FA-64B4C8C4BDC4}" destId="{650BFCD3-1E45-4848-9354-FC8332BE4462}" srcOrd="1" destOrd="0" presId="urn:microsoft.com/office/officeart/2005/8/layout/lProcess2"/>
    <dgm:cxn modelId="{EEAA14E0-65E7-4CAA-94D2-17FCA417FFE8}" type="presParOf" srcId="{32E1D3F7-DBF3-4FFC-84FA-64B4C8C4BDC4}" destId="{27403F14-0057-4573-B43C-9BA178035175}" srcOrd="2" destOrd="0" presId="urn:microsoft.com/office/officeart/2005/8/layout/lProcess2"/>
    <dgm:cxn modelId="{F6EF90E3-1289-445B-9BA7-98470AE4972B}" type="presParOf" srcId="{27403F14-0057-4573-B43C-9BA178035175}" destId="{7FF22E82-B6C7-4302-83D5-3D6D9FE70ADF}" srcOrd="0" destOrd="0" presId="urn:microsoft.com/office/officeart/2005/8/layout/lProcess2"/>
    <dgm:cxn modelId="{85DBE48E-2EBE-4DE5-8603-FD2B8F477AEB}" type="presParOf" srcId="{7FF22E82-B6C7-4302-83D5-3D6D9FE70ADF}" destId="{E7CF52B9-E87B-4EFC-99CD-C0C5D26212E3}" srcOrd="0" destOrd="0" presId="urn:microsoft.com/office/officeart/2005/8/layout/lProcess2"/>
    <dgm:cxn modelId="{FCCEB53E-17AE-4D4B-B688-E6249045122D}" type="presParOf" srcId="{7FF22E82-B6C7-4302-83D5-3D6D9FE70ADF}" destId="{574B8E45-786C-47A8-9B0D-E6137BE9AA3F}" srcOrd="1" destOrd="0" presId="urn:microsoft.com/office/officeart/2005/8/layout/lProcess2"/>
    <dgm:cxn modelId="{67A784BC-3FC2-4EB1-94A4-B4A646AF7D32}" type="presParOf" srcId="{7FF22E82-B6C7-4302-83D5-3D6D9FE70ADF}" destId="{9D0484CC-40CC-4D7B-BAE0-70ED1150927F}" srcOrd="2" destOrd="0" presId="urn:microsoft.com/office/officeart/2005/8/layout/lProcess2"/>
    <dgm:cxn modelId="{1D1CA52B-610A-4D96-9345-17FD42F64F0E}" type="presParOf" srcId="{7FF22E82-B6C7-4302-83D5-3D6D9FE70ADF}" destId="{14413EFD-AA20-43CC-9EE8-C13476F4612D}" srcOrd="3" destOrd="0" presId="urn:microsoft.com/office/officeart/2005/8/layout/lProcess2"/>
    <dgm:cxn modelId="{B246E94F-0314-4C9D-AB65-BD4C3E317461}" type="presParOf" srcId="{7FF22E82-B6C7-4302-83D5-3D6D9FE70ADF}" destId="{A4D3B28D-0911-4FAD-85BF-5C5C6AC0866F}" srcOrd="4" destOrd="0" presId="urn:microsoft.com/office/officeart/2005/8/layout/lProcess2"/>
    <dgm:cxn modelId="{13F95D00-D0AF-4ACF-821E-49C8BEB28F77}" type="presParOf" srcId="{C4315A9C-7BA7-4E26-BD90-C58C25F6A0F4}" destId="{E2B2B8D3-B6B3-455D-819F-4C6EAA1A9507}" srcOrd="3" destOrd="0" presId="urn:microsoft.com/office/officeart/2005/8/layout/lProcess2"/>
    <dgm:cxn modelId="{6B12077A-DD72-4F2F-A8B1-F730B8115841}" type="presParOf" srcId="{C4315A9C-7BA7-4E26-BD90-C58C25F6A0F4}" destId="{116369C4-9A26-46D4-9D6F-F454B521B842}" srcOrd="4" destOrd="0" presId="urn:microsoft.com/office/officeart/2005/8/layout/lProcess2"/>
    <dgm:cxn modelId="{FA6D5340-D5A5-42D5-B726-1C5181FEE2FD}" type="presParOf" srcId="{116369C4-9A26-46D4-9D6F-F454B521B842}" destId="{6E8F6A16-21C1-4282-A54F-762F8D2E7869}" srcOrd="0" destOrd="0" presId="urn:microsoft.com/office/officeart/2005/8/layout/lProcess2"/>
    <dgm:cxn modelId="{A2383789-6D1A-4E5C-A0C6-9FFF274E8476}" type="presParOf" srcId="{116369C4-9A26-46D4-9D6F-F454B521B842}" destId="{BA000A45-E990-4DAB-8C5C-1B3B00BF3568}" srcOrd="1" destOrd="0" presId="urn:microsoft.com/office/officeart/2005/8/layout/lProcess2"/>
    <dgm:cxn modelId="{88B00EA5-13DC-4D08-83D3-896740071875}" type="presParOf" srcId="{116369C4-9A26-46D4-9D6F-F454B521B842}" destId="{C5138D9E-32A3-460C-AF59-A69372DF6BE4}" srcOrd="2" destOrd="0" presId="urn:microsoft.com/office/officeart/2005/8/layout/lProcess2"/>
    <dgm:cxn modelId="{E44DBFC3-9249-4943-BC6D-2210D3E050B2}" type="presParOf" srcId="{C5138D9E-32A3-460C-AF59-A69372DF6BE4}" destId="{55CBD7C6-DD61-4DF4-A7C3-D3F483B04FA3}" srcOrd="0" destOrd="0" presId="urn:microsoft.com/office/officeart/2005/8/layout/lProcess2"/>
    <dgm:cxn modelId="{AC5BC379-6902-48CB-B32E-ACE3163DDAAD}" type="presParOf" srcId="{55CBD7C6-DD61-4DF4-A7C3-D3F483B04FA3}" destId="{4F4128DD-D798-44CF-B251-ACE12A4DC4F5}" srcOrd="0" destOrd="0" presId="urn:microsoft.com/office/officeart/2005/8/layout/lProcess2"/>
    <dgm:cxn modelId="{DA4A3EC9-A214-4E31-AABC-8C663637B179}" type="presParOf" srcId="{55CBD7C6-DD61-4DF4-A7C3-D3F483B04FA3}" destId="{28DC5DDD-6B4B-409D-9660-EA2409DBD064}" srcOrd="1" destOrd="0" presId="urn:microsoft.com/office/officeart/2005/8/layout/lProcess2"/>
    <dgm:cxn modelId="{D5B25DC8-405C-4DBE-96E3-E187393847A5}" type="presParOf" srcId="{55CBD7C6-DD61-4DF4-A7C3-D3F483B04FA3}" destId="{4810EF86-FA13-4BA0-9675-F71E0F340B0E}" srcOrd="2" destOrd="0" presId="urn:microsoft.com/office/officeart/2005/8/layout/lProcess2"/>
    <dgm:cxn modelId="{434EEDA7-8D10-4EC6-AE35-937C3317ACFA}" type="presParOf" srcId="{55CBD7C6-DD61-4DF4-A7C3-D3F483B04FA3}" destId="{02996A33-332D-407A-BDBB-3517173CCA75}" srcOrd="3" destOrd="0" presId="urn:microsoft.com/office/officeart/2005/8/layout/lProcess2"/>
    <dgm:cxn modelId="{B631DCB4-119D-4F31-A99F-F1408802AC27}" type="presParOf" srcId="{55CBD7C6-DD61-4DF4-A7C3-D3F483B04FA3}" destId="{776472B5-6E7B-43BF-99DB-9D98671C5A35}" srcOrd="4" destOrd="0" presId="urn:microsoft.com/office/officeart/2005/8/layout/lProcess2"/>
    <dgm:cxn modelId="{E8E388B0-B7BF-40A1-B140-1BF7365AFE5F}" type="presParOf" srcId="{C4315A9C-7BA7-4E26-BD90-C58C25F6A0F4}" destId="{ABB3B592-9F07-40ED-8160-C0C0DA0CAC9D}" srcOrd="5" destOrd="0" presId="urn:microsoft.com/office/officeart/2005/8/layout/lProcess2"/>
    <dgm:cxn modelId="{92D238FD-19E8-463D-ADE9-B9BAF57BE72D}" type="presParOf" srcId="{C4315A9C-7BA7-4E26-BD90-C58C25F6A0F4}" destId="{204384EE-9ACC-4922-BE01-7B6CADFBF793}" srcOrd="6" destOrd="0" presId="urn:microsoft.com/office/officeart/2005/8/layout/lProcess2"/>
    <dgm:cxn modelId="{7D97E9B3-20CB-4A42-B429-63649B0F2F05}" type="presParOf" srcId="{204384EE-9ACC-4922-BE01-7B6CADFBF793}" destId="{405329A0-B722-4B18-87C8-99DE49059CA6}" srcOrd="0" destOrd="0" presId="urn:microsoft.com/office/officeart/2005/8/layout/lProcess2"/>
    <dgm:cxn modelId="{F8587548-2D13-4AEE-A938-5A3C5799A751}" type="presParOf" srcId="{204384EE-9ACC-4922-BE01-7B6CADFBF793}" destId="{12EBFE96-3A2A-4E5E-861B-3B6BDF74617D}" srcOrd="1" destOrd="0" presId="urn:microsoft.com/office/officeart/2005/8/layout/lProcess2"/>
    <dgm:cxn modelId="{0433D03D-532C-4F22-884A-9EDA7603F9DA}" type="presParOf" srcId="{204384EE-9ACC-4922-BE01-7B6CADFBF793}" destId="{65EE7ADE-FB5F-408A-A3FC-894268A36A28}" srcOrd="2" destOrd="0" presId="urn:microsoft.com/office/officeart/2005/8/layout/lProcess2"/>
    <dgm:cxn modelId="{F1D2E41E-A903-421A-BA5E-A4753428EEA5}" type="presParOf" srcId="{65EE7ADE-FB5F-408A-A3FC-894268A36A28}" destId="{F80C59B4-8DDA-4FA9-A3DD-47E8E0DA8497}" srcOrd="0" destOrd="0" presId="urn:microsoft.com/office/officeart/2005/8/layout/lProcess2"/>
    <dgm:cxn modelId="{ED96B765-B320-4707-930E-8B278AC14E5D}" type="presParOf" srcId="{F80C59B4-8DDA-4FA9-A3DD-47E8E0DA8497}" destId="{360EAE71-A5F7-4F78-8A54-618504252630}" srcOrd="0" destOrd="0" presId="urn:microsoft.com/office/officeart/2005/8/layout/lProcess2"/>
    <dgm:cxn modelId="{6A8B0A4C-05A6-456C-ACCE-039F55D704B9}" type="presParOf" srcId="{C4315A9C-7BA7-4E26-BD90-C58C25F6A0F4}" destId="{0DED1566-DF7F-4C5B-8CA3-5E5D28DD9F13}" srcOrd="7" destOrd="0" presId="urn:microsoft.com/office/officeart/2005/8/layout/lProcess2"/>
    <dgm:cxn modelId="{753488B3-35A8-4C69-913B-A7C15CDF2DA0}" type="presParOf" srcId="{C4315A9C-7BA7-4E26-BD90-C58C25F6A0F4}" destId="{CF261344-9BCE-458D-B600-47328D69A830}" srcOrd="8" destOrd="0" presId="urn:microsoft.com/office/officeart/2005/8/layout/lProcess2"/>
    <dgm:cxn modelId="{8B159B4A-9B6F-419D-97D4-86AEC0F15768}" type="presParOf" srcId="{CF261344-9BCE-458D-B600-47328D69A830}" destId="{280F23C0-F29B-4E15-BEE3-4385AAA88859}" srcOrd="0" destOrd="0" presId="urn:microsoft.com/office/officeart/2005/8/layout/lProcess2"/>
    <dgm:cxn modelId="{DFABABD9-AFFB-483A-9B51-93EB7831D399}" type="presParOf" srcId="{CF261344-9BCE-458D-B600-47328D69A830}" destId="{BA6F2D36-188C-4EE5-99E0-9313AA7BD186}" srcOrd="1" destOrd="0" presId="urn:microsoft.com/office/officeart/2005/8/layout/lProcess2"/>
    <dgm:cxn modelId="{1B6548B4-7D04-4C73-B87B-F659D9512D0F}" type="presParOf" srcId="{CF261344-9BCE-458D-B600-47328D69A830}" destId="{6150DBBB-35A7-4278-8956-CE0187F59DBA}" srcOrd="2" destOrd="0" presId="urn:microsoft.com/office/officeart/2005/8/layout/lProcess2"/>
    <dgm:cxn modelId="{F1291182-4BE0-4945-9368-494CA591EA48}" type="presParOf" srcId="{6150DBBB-35A7-4278-8956-CE0187F59DBA}" destId="{9DAAFD19-7AEB-4336-92FE-BC42FA59E13C}" srcOrd="0" destOrd="0" presId="urn:microsoft.com/office/officeart/2005/8/layout/lProcess2"/>
    <dgm:cxn modelId="{937777CD-4DAE-475D-A5F7-E0F5E015EE6E}" type="presParOf" srcId="{9DAAFD19-7AEB-4336-92FE-BC42FA59E13C}" destId="{D9F711F5-26C1-4FDF-A574-819BE635E8B0}" srcOrd="0"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BFFEA2-E713-4E76-87E9-783E4D841E4E}">
      <dsp:nvSpPr>
        <dsp:cNvPr id="0" name=""/>
        <dsp:cNvSpPr/>
      </dsp:nvSpPr>
      <dsp:spPr>
        <a:xfrm>
          <a:off x="6109" y="0"/>
          <a:ext cx="2143877" cy="329725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zh-CN" altLang="en-US" sz="3600" kern="1200" dirty="0"/>
            <a:t>问题定义</a:t>
          </a:r>
        </a:p>
      </dsp:txBody>
      <dsp:txXfrm>
        <a:off x="6109" y="0"/>
        <a:ext cx="2143877" cy="989175"/>
      </dsp:txXfrm>
    </dsp:sp>
    <dsp:sp modelId="{EB1D0551-6D69-4A73-8FBC-0CAD03D2D3B0}">
      <dsp:nvSpPr>
        <dsp:cNvPr id="0" name=""/>
        <dsp:cNvSpPr/>
      </dsp:nvSpPr>
      <dsp:spPr>
        <a:xfrm>
          <a:off x="220497" y="990141"/>
          <a:ext cx="1715102" cy="994166"/>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项目背景</a:t>
          </a:r>
        </a:p>
      </dsp:txBody>
      <dsp:txXfrm>
        <a:off x="249615" y="1019259"/>
        <a:ext cx="1656866" cy="935930"/>
      </dsp:txXfrm>
    </dsp:sp>
    <dsp:sp modelId="{C2F338E3-1D9E-4CA3-A4CB-6CADADE80E0A}">
      <dsp:nvSpPr>
        <dsp:cNvPr id="0" name=""/>
        <dsp:cNvSpPr/>
      </dsp:nvSpPr>
      <dsp:spPr>
        <a:xfrm>
          <a:off x="220497" y="2137256"/>
          <a:ext cx="1715102" cy="994166"/>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研究内容</a:t>
          </a:r>
        </a:p>
      </dsp:txBody>
      <dsp:txXfrm>
        <a:off x="249615" y="2166374"/>
        <a:ext cx="1656866" cy="935930"/>
      </dsp:txXfrm>
    </dsp:sp>
    <dsp:sp modelId="{A84A82F9-4D63-4C59-9A70-008FCBD3D27D}">
      <dsp:nvSpPr>
        <dsp:cNvPr id="0" name=""/>
        <dsp:cNvSpPr/>
      </dsp:nvSpPr>
      <dsp:spPr>
        <a:xfrm>
          <a:off x="2310778" y="0"/>
          <a:ext cx="2143877" cy="329725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zh-CN" altLang="en-US" sz="3600" kern="1200" dirty="0"/>
            <a:t>需求分析</a:t>
          </a:r>
        </a:p>
      </dsp:txBody>
      <dsp:txXfrm>
        <a:off x="2310778" y="0"/>
        <a:ext cx="2143877" cy="989175"/>
      </dsp:txXfrm>
    </dsp:sp>
    <dsp:sp modelId="{E7CF52B9-E87B-4EFC-99CD-C0C5D26212E3}">
      <dsp:nvSpPr>
        <dsp:cNvPr id="0" name=""/>
        <dsp:cNvSpPr/>
      </dsp:nvSpPr>
      <dsp:spPr>
        <a:xfrm>
          <a:off x="2525165" y="989457"/>
          <a:ext cx="1715102" cy="647777"/>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业务分析</a:t>
          </a:r>
        </a:p>
      </dsp:txBody>
      <dsp:txXfrm>
        <a:off x="2544138" y="1008430"/>
        <a:ext cx="1677156" cy="609831"/>
      </dsp:txXfrm>
    </dsp:sp>
    <dsp:sp modelId="{9D0484CC-40CC-4D7B-BAE0-70ED1150927F}">
      <dsp:nvSpPr>
        <dsp:cNvPr id="0" name=""/>
        <dsp:cNvSpPr/>
      </dsp:nvSpPr>
      <dsp:spPr>
        <a:xfrm>
          <a:off x="2525165" y="1736892"/>
          <a:ext cx="1715102" cy="647777"/>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用例模型</a:t>
          </a:r>
        </a:p>
      </dsp:txBody>
      <dsp:txXfrm>
        <a:off x="2544138" y="1755865"/>
        <a:ext cx="1677156" cy="609831"/>
      </dsp:txXfrm>
    </dsp:sp>
    <dsp:sp modelId="{A4D3B28D-0911-4FAD-85BF-5C5C6AC0866F}">
      <dsp:nvSpPr>
        <dsp:cNvPr id="0" name=""/>
        <dsp:cNvSpPr/>
      </dsp:nvSpPr>
      <dsp:spPr>
        <a:xfrm>
          <a:off x="2525165" y="2484328"/>
          <a:ext cx="1715102" cy="647777"/>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用例描述</a:t>
          </a:r>
        </a:p>
      </dsp:txBody>
      <dsp:txXfrm>
        <a:off x="2544138" y="2503301"/>
        <a:ext cx="1677156" cy="609831"/>
      </dsp:txXfrm>
    </dsp:sp>
    <dsp:sp modelId="{6E8F6A16-21C1-4282-A54F-762F8D2E7869}">
      <dsp:nvSpPr>
        <dsp:cNvPr id="0" name=""/>
        <dsp:cNvSpPr/>
      </dsp:nvSpPr>
      <dsp:spPr>
        <a:xfrm>
          <a:off x="4615446" y="0"/>
          <a:ext cx="2143877" cy="329725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zh-CN" altLang="en-US" sz="3600" kern="1200" dirty="0"/>
            <a:t>软件设计</a:t>
          </a:r>
        </a:p>
      </dsp:txBody>
      <dsp:txXfrm>
        <a:off x="4615446" y="0"/>
        <a:ext cx="2143877" cy="989175"/>
      </dsp:txXfrm>
    </dsp:sp>
    <dsp:sp modelId="{4F4128DD-D798-44CF-B251-ACE12A4DC4F5}">
      <dsp:nvSpPr>
        <dsp:cNvPr id="0" name=""/>
        <dsp:cNvSpPr/>
      </dsp:nvSpPr>
      <dsp:spPr>
        <a:xfrm>
          <a:off x="4829834" y="989457"/>
          <a:ext cx="1715102" cy="647777"/>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软件体系结构设计</a:t>
          </a:r>
        </a:p>
      </dsp:txBody>
      <dsp:txXfrm>
        <a:off x="4848807" y="1008430"/>
        <a:ext cx="1677156" cy="609831"/>
      </dsp:txXfrm>
    </dsp:sp>
    <dsp:sp modelId="{4810EF86-FA13-4BA0-9675-F71E0F340B0E}">
      <dsp:nvSpPr>
        <dsp:cNvPr id="0" name=""/>
        <dsp:cNvSpPr/>
      </dsp:nvSpPr>
      <dsp:spPr>
        <a:xfrm>
          <a:off x="4829834" y="1736892"/>
          <a:ext cx="1715102" cy="647777"/>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软件模块设计</a:t>
          </a:r>
        </a:p>
      </dsp:txBody>
      <dsp:txXfrm>
        <a:off x="4848807" y="1755865"/>
        <a:ext cx="1677156" cy="609831"/>
      </dsp:txXfrm>
    </dsp:sp>
    <dsp:sp modelId="{776472B5-6E7B-43BF-99DB-9D98671C5A35}">
      <dsp:nvSpPr>
        <dsp:cNvPr id="0" name=""/>
        <dsp:cNvSpPr/>
      </dsp:nvSpPr>
      <dsp:spPr>
        <a:xfrm>
          <a:off x="4829834" y="2484328"/>
          <a:ext cx="1715102" cy="647777"/>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数据库设计</a:t>
          </a:r>
        </a:p>
      </dsp:txBody>
      <dsp:txXfrm>
        <a:off x="4848807" y="2503301"/>
        <a:ext cx="1677156" cy="609831"/>
      </dsp:txXfrm>
    </dsp:sp>
    <dsp:sp modelId="{405329A0-B722-4B18-87C8-99DE49059CA6}">
      <dsp:nvSpPr>
        <dsp:cNvPr id="0" name=""/>
        <dsp:cNvSpPr/>
      </dsp:nvSpPr>
      <dsp:spPr>
        <a:xfrm>
          <a:off x="6920115" y="0"/>
          <a:ext cx="2143877" cy="329725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zh-CN" altLang="en-US" sz="3600" kern="1200" dirty="0"/>
            <a:t>软件实现</a:t>
          </a:r>
        </a:p>
      </dsp:txBody>
      <dsp:txXfrm>
        <a:off x="6920115" y="0"/>
        <a:ext cx="2143877" cy="989175"/>
      </dsp:txXfrm>
    </dsp:sp>
    <dsp:sp modelId="{360EAE71-A5F7-4F78-8A54-618504252630}">
      <dsp:nvSpPr>
        <dsp:cNvPr id="0" name=""/>
        <dsp:cNvSpPr/>
      </dsp:nvSpPr>
      <dsp:spPr>
        <a:xfrm>
          <a:off x="7134502" y="989175"/>
          <a:ext cx="1715102" cy="2143213"/>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软件功能实现</a:t>
          </a:r>
        </a:p>
      </dsp:txBody>
      <dsp:txXfrm>
        <a:off x="7184736" y="1039409"/>
        <a:ext cx="1614634" cy="2042745"/>
      </dsp:txXfrm>
    </dsp:sp>
    <dsp:sp modelId="{280F23C0-F29B-4E15-BEE3-4385AAA88859}">
      <dsp:nvSpPr>
        <dsp:cNvPr id="0" name=""/>
        <dsp:cNvSpPr/>
      </dsp:nvSpPr>
      <dsp:spPr>
        <a:xfrm>
          <a:off x="9224783" y="0"/>
          <a:ext cx="2143877" cy="329725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zh-CN" altLang="en-US" sz="3600" kern="1200" dirty="0"/>
            <a:t>软件测试</a:t>
          </a:r>
        </a:p>
      </dsp:txBody>
      <dsp:txXfrm>
        <a:off x="9224783" y="0"/>
        <a:ext cx="2143877" cy="989175"/>
      </dsp:txXfrm>
    </dsp:sp>
    <dsp:sp modelId="{D9F711F5-26C1-4FDF-A574-819BE635E8B0}">
      <dsp:nvSpPr>
        <dsp:cNvPr id="0" name=""/>
        <dsp:cNvSpPr/>
      </dsp:nvSpPr>
      <dsp:spPr>
        <a:xfrm>
          <a:off x="9439171" y="989175"/>
          <a:ext cx="1715102" cy="2143213"/>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可选（目前未做要求）</a:t>
          </a:r>
        </a:p>
      </dsp:txBody>
      <dsp:txXfrm>
        <a:off x="9489405" y="1039409"/>
        <a:ext cx="1614634" cy="2042745"/>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tags" Target="../tags/tag2.xml"/><Relationship Id="rId4" Type="http://schemas.openxmlformats.org/officeDocument/2006/relationships/tags" Target="../tags/tag1.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B679CE9B-9FA9-4EDA-8AEF-D484768B8ED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E96E69-F394-4A60-82A6-2C194021CC77}"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679CE9B-9FA9-4EDA-8AEF-D484768B8ED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E96E69-F394-4A60-82A6-2C194021CC77}"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B679CE9B-9FA9-4EDA-8AEF-D484768B8ED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E96E69-F394-4A60-82A6-2C194021CC77}"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B679CE9B-9FA9-4EDA-8AEF-D484768B8ED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E96E69-F394-4A60-82A6-2C194021CC77}"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B679CE9B-9FA9-4EDA-8AEF-D484768B8ED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2E96E69-F394-4A60-82A6-2C194021CC77}"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B679CE9B-9FA9-4EDA-8AEF-D484768B8ED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2E96E69-F394-4A60-82A6-2C194021CC77}"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679CE9B-9FA9-4EDA-8AEF-D484768B8ED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2E96E69-F394-4A60-82A6-2C194021CC77}"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B679CE9B-9FA9-4EDA-8AEF-D484768B8ED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E96E69-F394-4A60-82A6-2C194021CC77}"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B679CE9B-9FA9-4EDA-8AEF-D484768B8ED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2E96E69-F394-4A60-82A6-2C194021CC77}"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679CE9B-9FA9-4EDA-8AEF-D484768B8ED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E96E69-F394-4A60-82A6-2C194021CC77}"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679CE9B-9FA9-4EDA-8AEF-D484768B8ED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2E96E69-F394-4A60-82A6-2C194021CC77}"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6" name="图片 5" descr="校训"/>
          <p:cNvPicPr>
            <a:picLocks noChangeAspect="1"/>
          </p:cNvPicPr>
          <p:nvPr userDrawn="1"/>
        </p:nvPicPr>
        <p:blipFill>
          <a:blip r:embed="rId2"/>
          <a:stretch>
            <a:fillRect/>
          </a:stretch>
        </p:blipFill>
        <p:spPr>
          <a:xfrm>
            <a:off x="9235440" y="320358"/>
            <a:ext cx="2956560" cy="400050"/>
          </a:xfrm>
          <a:prstGeom prst="rect">
            <a:avLst/>
          </a:prstGeom>
        </p:spPr>
      </p:pic>
      <p:cxnSp>
        <p:nvCxnSpPr>
          <p:cNvPr id="8" name="直接连接符 7"/>
          <p:cNvCxnSpPr/>
          <p:nvPr userDrawn="1"/>
        </p:nvCxnSpPr>
        <p:spPr>
          <a:xfrm>
            <a:off x="249382" y="820722"/>
            <a:ext cx="11762509"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pic>
        <p:nvPicPr>
          <p:cNvPr id="11" name="图片 10" descr="校徽"/>
          <p:cNvPicPr>
            <a:picLocks noChangeAspect="1"/>
          </p:cNvPicPr>
          <p:nvPr userDrawn="1"/>
        </p:nvPicPr>
        <p:blipFill>
          <a:blip r:embed="rId3"/>
          <a:stretch>
            <a:fillRect/>
          </a:stretch>
        </p:blipFill>
        <p:spPr>
          <a:xfrm>
            <a:off x="187022" y="157957"/>
            <a:ext cx="1924050" cy="562451"/>
          </a:xfrm>
          <a:prstGeom prst="rect">
            <a:avLst/>
          </a:prstGeom>
        </p:spPr>
      </p:pic>
      <p:sp>
        <p:nvSpPr>
          <p:cNvPr id="13" name="Title 6"/>
          <p:cNvSpPr txBox="1"/>
          <p:nvPr userDrawn="1">
            <p:custDataLst>
              <p:tags r:id="rId4"/>
            </p:custDataLst>
          </p:nvPr>
        </p:nvSpPr>
        <p:spPr>
          <a:xfrm>
            <a:off x="659674" y="973142"/>
            <a:ext cx="11094521"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lvl="0">
              <a:lnSpc>
                <a:spcPct val="100000"/>
              </a:lnSpc>
              <a:spcAft>
                <a:spcPts val="800"/>
              </a:spcAft>
            </a:pPr>
            <a:endPar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endParaRPr>
          </a:p>
        </p:txBody>
      </p:sp>
      <p:sp>
        <p:nvSpPr>
          <p:cNvPr id="14" name="矩形 13"/>
          <p:cNvSpPr/>
          <p:nvPr userDrawn="1">
            <p:custDataLst>
              <p:tags r:id="rId5"/>
            </p:custDataLst>
          </p:nvPr>
        </p:nvSpPr>
        <p:spPr>
          <a:xfrm>
            <a:off x="352440" y="1025271"/>
            <a:ext cx="86360" cy="357188"/>
          </a:xfrm>
          <a:prstGeom prst="rect">
            <a:avLst/>
          </a:prstGeom>
          <a:solidFill>
            <a:srgbClr val="C00000"/>
          </a:solidFill>
          <a:ln>
            <a:noFill/>
          </a:ln>
        </p:spPr>
        <p:style>
          <a:lnRef idx="2">
            <a:srgbClr val="BD374A">
              <a:shade val="50000"/>
            </a:srgbClr>
          </a:lnRef>
          <a:fillRef idx="1">
            <a:srgbClr val="BD374A"/>
          </a:fillRef>
          <a:effectRef idx="0">
            <a:srgbClr val="BD374A"/>
          </a:effectRef>
          <a:fontRef idx="minor">
            <a:srgbClr val="FFFFFF"/>
          </a:fontRef>
        </p:style>
        <p:txBody>
          <a:bodyPr rtlCol="0" anchor="ctr"/>
          <a:lstStyle/>
          <a:p>
            <a:pPr algn="ctr"/>
            <a:endParaRPr lang="zh-CN" altLang="en-US" sz="1350">
              <a:latin typeface="Arial" panose="020B0604020202020204" pitchFamily="34" charset="0"/>
              <a:ea typeface="微软雅黑" panose="020B0503020204020204" charset="-122"/>
            </a:endParaRPr>
          </a:p>
        </p:txBody>
      </p:sp>
      <p:sp>
        <p:nvSpPr>
          <p:cNvPr id="16" name="任意多边形 18"/>
          <p:cNvSpPr/>
          <p:nvPr userDrawn="1"/>
        </p:nvSpPr>
        <p:spPr>
          <a:xfrm>
            <a:off x="0" y="6289675"/>
            <a:ext cx="12192000" cy="530225"/>
          </a:xfrm>
          <a:custGeom>
            <a:avLst/>
            <a:gdLst>
              <a:gd name="connsiteX0" fmla="*/ 0 w 12192000"/>
              <a:gd name="connsiteY0" fmla="*/ 624139 h 763855"/>
              <a:gd name="connsiteX1" fmla="*/ 2075543 w 12192000"/>
              <a:gd name="connsiteY1" fmla="*/ 72596 h 763855"/>
              <a:gd name="connsiteX2" fmla="*/ 4760685 w 12192000"/>
              <a:gd name="connsiteY2" fmla="*/ 711224 h 763855"/>
              <a:gd name="connsiteX3" fmla="*/ 7489371 w 12192000"/>
              <a:gd name="connsiteY3" fmla="*/ 24 h 763855"/>
              <a:gd name="connsiteX4" fmla="*/ 10189028 w 12192000"/>
              <a:gd name="connsiteY4" fmla="*/ 740253 h 763855"/>
              <a:gd name="connsiteX5" fmla="*/ 12192000 w 12192000"/>
              <a:gd name="connsiteY5" fmla="*/ 508024 h 763855"/>
              <a:gd name="connsiteX0-1" fmla="*/ 0 w 12192000"/>
              <a:gd name="connsiteY0-2" fmla="*/ 375687 h 763855"/>
              <a:gd name="connsiteX1-3" fmla="*/ 2075543 w 12192000"/>
              <a:gd name="connsiteY1-4" fmla="*/ 72596 h 763855"/>
              <a:gd name="connsiteX2-5" fmla="*/ 4760685 w 12192000"/>
              <a:gd name="connsiteY2-6" fmla="*/ 711224 h 763855"/>
              <a:gd name="connsiteX3-7" fmla="*/ 7489371 w 12192000"/>
              <a:gd name="connsiteY3-8" fmla="*/ 24 h 763855"/>
              <a:gd name="connsiteX4-9" fmla="*/ 10189028 w 12192000"/>
              <a:gd name="connsiteY4-10" fmla="*/ 740253 h 763855"/>
              <a:gd name="connsiteX5-11" fmla="*/ 12192000 w 12192000"/>
              <a:gd name="connsiteY5-12" fmla="*/ 508024 h 763855"/>
              <a:gd name="connsiteX0-13" fmla="*/ 0 w 12192000"/>
              <a:gd name="connsiteY0-14" fmla="*/ 375687 h 763855"/>
              <a:gd name="connsiteX1-15" fmla="*/ 2075543 w 12192000"/>
              <a:gd name="connsiteY1-16" fmla="*/ 72596 h 763855"/>
              <a:gd name="connsiteX2-17" fmla="*/ 4760685 w 12192000"/>
              <a:gd name="connsiteY2-18" fmla="*/ 711224 h 763855"/>
              <a:gd name="connsiteX3-19" fmla="*/ 7489371 w 12192000"/>
              <a:gd name="connsiteY3-20" fmla="*/ 24 h 763855"/>
              <a:gd name="connsiteX4-21" fmla="*/ 10189028 w 12192000"/>
              <a:gd name="connsiteY4-22" fmla="*/ 740253 h 763855"/>
              <a:gd name="connsiteX5-23" fmla="*/ 12192000 w 12192000"/>
              <a:gd name="connsiteY5-24" fmla="*/ 508024 h 763855"/>
              <a:gd name="connsiteX0-25" fmla="*/ 0 w 12192000"/>
              <a:gd name="connsiteY0-26" fmla="*/ 313365 h 688902"/>
              <a:gd name="connsiteX1-27" fmla="*/ 2075543 w 12192000"/>
              <a:gd name="connsiteY1-28" fmla="*/ 10274 h 688902"/>
              <a:gd name="connsiteX2-29" fmla="*/ 4760685 w 12192000"/>
              <a:gd name="connsiteY2-30" fmla="*/ 648902 h 688902"/>
              <a:gd name="connsiteX3-31" fmla="*/ 7460342 w 12192000"/>
              <a:gd name="connsiteY3-32" fmla="*/ 150661 h 688902"/>
              <a:gd name="connsiteX4-33" fmla="*/ 10189028 w 12192000"/>
              <a:gd name="connsiteY4-34" fmla="*/ 677931 h 688902"/>
              <a:gd name="connsiteX5-35" fmla="*/ 12192000 w 12192000"/>
              <a:gd name="connsiteY5-36" fmla="*/ 445702 h 688902"/>
              <a:gd name="connsiteX0-37" fmla="*/ 0 w 12192000"/>
              <a:gd name="connsiteY0-38" fmla="*/ 313365 h 649675"/>
              <a:gd name="connsiteX1-39" fmla="*/ 2075543 w 12192000"/>
              <a:gd name="connsiteY1-40" fmla="*/ 10274 h 649675"/>
              <a:gd name="connsiteX2-41" fmla="*/ 4760685 w 12192000"/>
              <a:gd name="connsiteY2-42" fmla="*/ 648902 h 649675"/>
              <a:gd name="connsiteX3-43" fmla="*/ 7460342 w 12192000"/>
              <a:gd name="connsiteY3-44" fmla="*/ 150661 h 649675"/>
              <a:gd name="connsiteX4-45" fmla="*/ 10189028 w 12192000"/>
              <a:gd name="connsiteY4-46" fmla="*/ 606945 h 649675"/>
              <a:gd name="connsiteX5-47" fmla="*/ 12192000 w 12192000"/>
              <a:gd name="connsiteY5-48" fmla="*/ 445702 h 649675"/>
              <a:gd name="connsiteX0-49" fmla="*/ 0 w 12264571"/>
              <a:gd name="connsiteY0-50" fmla="*/ 313365 h 649676"/>
              <a:gd name="connsiteX1-51" fmla="*/ 2075543 w 12264571"/>
              <a:gd name="connsiteY1-52" fmla="*/ 10274 h 649676"/>
              <a:gd name="connsiteX2-53" fmla="*/ 4760685 w 12264571"/>
              <a:gd name="connsiteY2-54" fmla="*/ 648902 h 649676"/>
              <a:gd name="connsiteX3-55" fmla="*/ 7460342 w 12264571"/>
              <a:gd name="connsiteY3-56" fmla="*/ 150661 h 649676"/>
              <a:gd name="connsiteX4-57" fmla="*/ 10189028 w 12264571"/>
              <a:gd name="connsiteY4-58" fmla="*/ 606945 h 649676"/>
              <a:gd name="connsiteX5-59" fmla="*/ 12264571 w 12264571"/>
              <a:gd name="connsiteY5-60" fmla="*/ 303730 h 649676"/>
              <a:gd name="connsiteX0-61" fmla="*/ 0 w 12221028"/>
              <a:gd name="connsiteY0-62" fmla="*/ 313365 h 649676"/>
              <a:gd name="connsiteX1-63" fmla="*/ 2075543 w 12221028"/>
              <a:gd name="connsiteY1-64" fmla="*/ 10274 h 649676"/>
              <a:gd name="connsiteX2-65" fmla="*/ 4760685 w 12221028"/>
              <a:gd name="connsiteY2-66" fmla="*/ 648902 h 649676"/>
              <a:gd name="connsiteX3-67" fmla="*/ 7460342 w 12221028"/>
              <a:gd name="connsiteY3-68" fmla="*/ 150661 h 649676"/>
              <a:gd name="connsiteX4-69" fmla="*/ 10189028 w 12221028"/>
              <a:gd name="connsiteY4-70" fmla="*/ 606945 h 649676"/>
              <a:gd name="connsiteX5-71" fmla="*/ 12221028 w 12221028"/>
              <a:gd name="connsiteY5-72" fmla="*/ 321476 h 64967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2221028" h="649676">
                <a:moveTo>
                  <a:pt x="0" y="313365"/>
                </a:moveTo>
                <a:cubicBezTo>
                  <a:pt x="713620" y="136816"/>
                  <a:pt x="1282096" y="-45649"/>
                  <a:pt x="2075543" y="10274"/>
                </a:cubicBezTo>
                <a:cubicBezTo>
                  <a:pt x="2868990" y="66197"/>
                  <a:pt x="3863219" y="625504"/>
                  <a:pt x="4760685" y="648902"/>
                </a:cubicBezTo>
                <a:cubicBezTo>
                  <a:pt x="5658151" y="672300"/>
                  <a:pt x="6555618" y="157654"/>
                  <a:pt x="7460342" y="150661"/>
                </a:cubicBezTo>
                <a:cubicBezTo>
                  <a:pt x="8365066" y="143668"/>
                  <a:pt x="9395580" y="578476"/>
                  <a:pt x="10189028" y="606945"/>
                </a:cubicBezTo>
                <a:cubicBezTo>
                  <a:pt x="10982476" y="635414"/>
                  <a:pt x="11611427" y="479924"/>
                  <a:pt x="12221028" y="321476"/>
                </a:cubicBezTo>
              </a:path>
            </a:pathLst>
          </a:custGeom>
          <a:noFill/>
          <a:ln w="158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79CE9B-9FA9-4EDA-8AEF-D484768B8ED0}"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E96E69-F394-4A60-82A6-2C194021CC7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6.png"/><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7.jpeg"/><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8.jpeg"/><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9.jpeg"/><Relationship Id="rId1" Type="http://schemas.openxmlformats.org/officeDocument/2006/relationships/tags" Target="../tags/tag18.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0.png"/><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tags" Target="../tags/tag20.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1.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2.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3.png"/><Relationship Id="rId1" Type="http://schemas.openxmlformats.org/officeDocument/2006/relationships/tags" Target="../tags/tag23.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4.jpeg"/><Relationship Id="rId1" Type="http://schemas.openxmlformats.org/officeDocument/2006/relationships/tags" Target="../tags/tag24.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5.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5.emf"/><Relationship Id="rId1" Type="http://schemas.openxmlformats.org/officeDocument/2006/relationships/tags" Target="../tags/tag26.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7.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28.xml"/></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tags" Target="../tags/tag29.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8.png"/><Relationship Id="rId1" Type="http://schemas.openxmlformats.org/officeDocument/2006/relationships/tags" Target="../tags/tag30.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9.png"/><Relationship Id="rId1" Type="http://schemas.openxmlformats.org/officeDocument/2006/relationships/tags" Target="../tags/tag31.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32.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20.png"/><Relationship Id="rId1" Type="http://schemas.openxmlformats.org/officeDocument/2006/relationships/tags" Target="../tags/tag33.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9.png"/><Relationship Id="rId1" Type="http://schemas.openxmlformats.org/officeDocument/2006/relationships/tags" Target="../tags/tag34.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21.png"/><Relationship Id="rId1" Type="http://schemas.openxmlformats.org/officeDocument/2006/relationships/tags" Target="../tags/tag35.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22.png"/><Relationship Id="rId1" Type="http://schemas.openxmlformats.org/officeDocument/2006/relationships/tags" Target="../tags/tag36.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37.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23.png"/><Relationship Id="rId1" Type="http://schemas.openxmlformats.org/officeDocument/2006/relationships/tags" Target="../tags/tag38.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39.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40.xml"/></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image" Target="../media/image1.png"/></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44.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46.xml"/><Relationship Id="rId1" Type="http://schemas.openxmlformats.org/officeDocument/2006/relationships/tags" Target="../tags/tag45.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48.xml"/><Relationship Id="rId1" Type="http://schemas.openxmlformats.org/officeDocument/2006/relationships/tags" Target="../tags/tag47.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50.xml"/><Relationship Id="rId1" Type="http://schemas.openxmlformats.org/officeDocument/2006/relationships/tags" Target="../tags/tag49.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52.xml"/><Relationship Id="rId1" Type="http://schemas.openxmlformats.org/officeDocument/2006/relationships/tags" Target="../tags/tag51.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54.xml"/><Relationship Id="rId1" Type="http://schemas.openxmlformats.org/officeDocument/2006/relationships/tags" Target="../tags/tag53.xml"/></Relationships>
</file>

<file path=ppt/slides/_rels/slide50.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12.xml"/><Relationship Id="rId4" Type="http://schemas.openxmlformats.org/officeDocument/2006/relationships/image" Target="../media/image25.wmf"/><Relationship Id="rId3" Type="http://schemas.openxmlformats.org/officeDocument/2006/relationships/package" Target="../embeddings/Document1.docx"/><Relationship Id="rId2" Type="http://schemas.openxmlformats.org/officeDocument/2006/relationships/image" Target="../media/image24.png"/><Relationship Id="rId1" Type="http://schemas.openxmlformats.org/officeDocument/2006/relationships/tags" Target="../tags/tag55.xml"/></Relationships>
</file>

<file path=ppt/slides/_rels/slide51.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12.xml"/><Relationship Id="rId4" Type="http://schemas.openxmlformats.org/officeDocument/2006/relationships/image" Target="../media/image26.wmf"/><Relationship Id="rId3" Type="http://schemas.openxmlformats.org/officeDocument/2006/relationships/oleObject" Target="../embeddings/oleObject1.bin"/><Relationship Id="rId2" Type="http://schemas.openxmlformats.org/officeDocument/2006/relationships/tags" Target="../tags/tag57.xml"/><Relationship Id="rId1" Type="http://schemas.openxmlformats.org/officeDocument/2006/relationships/tags" Target="../tags/tag56.xml"/></Relationships>
</file>

<file path=ppt/slides/_rels/slide52.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12.xml"/><Relationship Id="rId4" Type="http://schemas.openxmlformats.org/officeDocument/2006/relationships/image" Target="../media/image27.wmf"/><Relationship Id="rId3" Type="http://schemas.openxmlformats.org/officeDocument/2006/relationships/oleObject" Target="../embeddings/oleObject2.bin"/><Relationship Id="rId2" Type="http://schemas.openxmlformats.org/officeDocument/2006/relationships/tags" Target="../tags/tag59.xml"/><Relationship Id="rId1" Type="http://schemas.openxmlformats.org/officeDocument/2006/relationships/tags" Target="../tags/tag58.xml"/></Relationships>
</file>

<file path=ppt/slides/_rels/slide53.xml.rels><?xml version="1.0" encoding="UTF-8" standalone="yes"?>
<Relationships xmlns="http://schemas.openxmlformats.org/package/2006/relationships"><Relationship Id="rId9" Type="http://schemas.openxmlformats.org/officeDocument/2006/relationships/vmlDrawing" Target="../drawings/vmlDrawing4.vml"/><Relationship Id="rId8" Type="http://schemas.openxmlformats.org/officeDocument/2006/relationships/slideLayout" Target="../slideLayouts/slideLayout12.xml"/><Relationship Id="rId7" Type="http://schemas.openxmlformats.org/officeDocument/2006/relationships/image" Target="../media/image29.wmf"/><Relationship Id="rId6" Type="http://schemas.openxmlformats.org/officeDocument/2006/relationships/oleObject" Target="../embeddings/oleObject4.bin"/><Relationship Id="rId5" Type="http://schemas.openxmlformats.org/officeDocument/2006/relationships/tags" Target="../tags/tag62.xml"/><Relationship Id="rId4" Type="http://schemas.openxmlformats.org/officeDocument/2006/relationships/image" Target="../media/image28.wmf"/><Relationship Id="rId3" Type="http://schemas.openxmlformats.org/officeDocument/2006/relationships/oleObject" Target="../embeddings/oleObject3.bin"/><Relationship Id="rId2" Type="http://schemas.openxmlformats.org/officeDocument/2006/relationships/tags" Target="../tags/tag61.xml"/><Relationship Id="rId1" Type="http://schemas.openxmlformats.org/officeDocument/2006/relationships/tags" Target="../tags/tag60.xml"/></Relationships>
</file>

<file path=ppt/slides/_rels/slide54.xml.rels><?xml version="1.0" encoding="UTF-8" standalone="yes"?>
<Relationships xmlns="http://schemas.openxmlformats.org/package/2006/relationships"><Relationship Id="rId9" Type="http://schemas.openxmlformats.org/officeDocument/2006/relationships/vmlDrawing" Target="../drawings/vmlDrawing5.vml"/><Relationship Id="rId8" Type="http://schemas.openxmlformats.org/officeDocument/2006/relationships/slideLayout" Target="../slideLayouts/slideLayout12.xml"/><Relationship Id="rId7" Type="http://schemas.openxmlformats.org/officeDocument/2006/relationships/image" Target="../media/image30.wmf"/><Relationship Id="rId6" Type="http://schemas.openxmlformats.org/officeDocument/2006/relationships/oleObject" Target="../embeddings/oleObject6.bin"/><Relationship Id="rId5" Type="http://schemas.openxmlformats.org/officeDocument/2006/relationships/tags" Target="../tags/tag65.xml"/><Relationship Id="rId4" Type="http://schemas.openxmlformats.org/officeDocument/2006/relationships/image" Target="../media/image29.wmf"/><Relationship Id="rId3" Type="http://schemas.openxmlformats.org/officeDocument/2006/relationships/oleObject" Target="../embeddings/oleObject5.bin"/><Relationship Id="rId2" Type="http://schemas.openxmlformats.org/officeDocument/2006/relationships/tags" Target="../tags/tag64.xml"/><Relationship Id="rId1" Type="http://schemas.openxmlformats.org/officeDocument/2006/relationships/tags" Target="../tags/tag63.xml"/></Relationships>
</file>

<file path=ppt/slides/_rels/slide55.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12.xml"/><Relationship Id="rId4" Type="http://schemas.openxmlformats.org/officeDocument/2006/relationships/image" Target="../media/image31.wmf"/><Relationship Id="rId3" Type="http://schemas.openxmlformats.org/officeDocument/2006/relationships/oleObject" Target="../embeddings/oleObject7.bin"/><Relationship Id="rId2" Type="http://schemas.openxmlformats.org/officeDocument/2006/relationships/tags" Target="../tags/tag67.xml"/><Relationship Id="rId1" Type="http://schemas.openxmlformats.org/officeDocument/2006/relationships/tags" Target="../tags/tag66.xml"/></Relationships>
</file>

<file path=ppt/slides/_rels/slide56.xml.rels><?xml version="1.0" encoding="UTF-8" standalone="yes"?>
<Relationships xmlns="http://schemas.openxmlformats.org/package/2006/relationships"><Relationship Id="rId9" Type="http://schemas.openxmlformats.org/officeDocument/2006/relationships/vmlDrawing" Target="../drawings/vmlDrawing7.vml"/><Relationship Id="rId8" Type="http://schemas.openxmlformats.org/officeDocument/2006/relationships/slideLayout" Target="../slideLayouts/slideLayout12.xml"/><Relationship Id="rId7" Type="http://schemas.openxmlformats.org/officeDocument/2006/relationships/image" Target="../media/image33.wmf"/><Relationship Id="rId6" Type="http://schemas.openxmlformats.org/officeDocument/2006/relationships/oleObject" Target="../embeddings/oleObject9.bin"/><Relationship Id="rId5" Type="http://schemas.openxmlformats.org/officeDocument/2006/relationships/tags" Target="../tags/tag70.xml"/><Relationship Id="rId4" Type="http://schemas.openxmlformats.org/officeDocument/2006/relationships/image" Target="../media/image32.wmf"/><Relationship Id="rId3" Type="http://schemas.openxmlformats.org/officeDocument/2006/relationships/oleObject" Target="../embeddings/oleObject8.bin"/><Relationship Id="rId2" Type="http://schemas.openxmlformats.org/officeDocument/2006/relationships/tags" Target="../tags/tag69.xml"/><Relationship Id="rId1" Type="http://schemas.openxmlformats.org/officeDocument/2006/relationships/tags" Target="../tags/tag68.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99501" y="1593770"/>
            <a:ext cx="9144000" cy="2387600"/>
          </a:xfrm>
        </p:spPr>
        <p:txBody>
          <a:bodyPr>
            <a:normAutofit/>
          </a:bodyPr>
          <a:lstStyle/>
          <a:p>
            <a:r>
              <a:rPr lang="en-US" altLang="zh-CN" sz="4800" b="1" dirty="0">
                <a:solidFill>
                  <a:srgbClr val="FF0000"/>
                </a:solidFill>
                <a:latin typeface="黑体" panose="02010609060101010101" pitchFamily="49" charset="-122"/>
                <a:ea typeface="黑体" panose="02010609060101010101" pitchFamily="49" charset="-122"/>
              </a:rPr>
              <a:t>2026</a:t>
            </a:r>
            <a:r>
              <a:rPr lang="zh-CN" altLang="en-US" sz="4800" b="1" dirty="0">
                <a:solidFill>
                  <a:srgbClr val="FF0000"/>
                </a:solidFill>
                <a:latin typeface="黑体" panose="02010609060101010101" pitchFamily="49" charset="-122"/>
                <a:ea typeface="黑体" panose="02010609060101010101" pitchFamily="49" charset="-122"/>
              </a:rPr>
              <a:t>届计算机系毕业设计讲座</a:t>
            </a:r>
            <a:br>
              <a:rPr lang="en-US" altLang="zh-CN" sz="3600" b="1" dirty="0">
                <a:solidFill>
                  <a:srgbClr val="FF0000"/>
                </a:solidFill>
                <a:latin typeface="黑体" panose="02010609060101010101" pitchFamily="49" charset="-122"/>
                <a:ea typeface="黑体" panose="02010609060101010101" pitchFamily="49" charset="-122"/>
              </a:rPr>
            </a:br>
            <a:br>
              <a:rPr lang="en-US" altLang="zh-CN" sz="3600" b="1" dirty="0">
                <a:solidFill>
                  <a:srgbClr val="FF0000"/>
                </a:solidFill>
                <a:latin typeface="黑体" panose="02010609060101010101" pitchFamily="49" charset="-122"/>
                <a:ea typeface="黑体" panose="02010609060101010101" pitchFamily="49" charset="-122"/>
              </a:rPr>
            </a:br>
            <a:r>
              <a:rPr lang="zh-CN" altLang="en-US" sz="3600" b="1" dirty="0">
                <a:solidFill>
                  <a:srgbClr val="FF0000"/>
                </a:solidFill>
                <a:latin typeface="黑体" panose="02010609060101010101" pitchFamily="49" charset="-122"/>
                <a:ea typeface="黑体" panose="02010609060101010101" pitchFamily="49" charset="-122"/>
              </a:rPr>
              <a:t>软件开发方向</a:t>
            </a:r>
            <a:br>
              <a:rPr lang="en-US" altLang="zh-CN" sz="3600" b="1" dirty="0">
                <a:solidFill>
                  <a:srgbClr val="FF0000"/>
                </a:solidFill>
                <a:latin typeface="黑体" panose="02010609060101010101" pitchFamily="49" charset="-122"/>
                <a:ea typeface="黑体" panose="02010609060101010101" pitchFamily="49" charset="-122"/>
              </a:rPr>
            </a:br>
            <a:endParaRPr lang="zh-CN" altLang="en-US" sz="3600" b="1" dirty="0">
              <a:solidFill>
                <a:srgbClr val="FF0000"/>
              </a:solidFill>
              <a:latin typeface="黑体" panose="02010609060101010101" pitchFamily="49" charset="-122"/>
              <a:ea typeface="黑体" panose="02010609060101010101" pitchFamily="49" charset="-122"/>
            </a:endParaRPr>
          </a:p>
        </p:txBody>
      </p:sp>
      <p:pic>
        <p:nvPicPr>
          <p:cNvPr id="4" name="图片 3" descr="校训"/>
          <p:cNvPicPr>
            <a:picLocks noChangeAspect="1"/>
          </p:cNvPicPr>
          <p:nvPr/>
        </p:nvPicPr>
        <p:blipFill>
          <a:blip r:embed="rId1"/>
          <a:stretch>
            <a:fillRect/>
          </a:stretch>
        </p:blipFill>
        <p:spPr>
          <a:xfrm>
            <a:off x="9189720" y="99536"/>
            <a:ext cx="2956560" cy="400050"/>
          </a:xfrm>
          <a:prstGeom prst="rect">
            <a:avLst/>
          </a:prstGeom>
        </p:spPr>
      </p:pic>
      <p:pic>
        <p:nvPicPr>
          <p:cNvPr id="5" name="图片 4" descr="校徽"/>
          <p:cNvPicPr>
            <a:picLocks noChangeAspect="1"/>
          </p:cNvPicPr>
          <p:nvPr/>
        </p:nvPicPr>
        <p:blipFill>
          <a:blip r:embed="rId2"/>
          <a:stretch>
            <a:fillRect/>
          </a:stretch>
        </p:blipFill>
        <p:spPr>
          <a:xfrm>
            <a:off x="162084" y="99536"/>
            <a:ext cx="1924050" cy="562451"/>
          </a:xfrm>
          <a:prstGeom prst="rect">
            <a:avLst/>
          </a:prstGeom>
        </p:spPr>
      </p:pic>
      <p:pic>
        <p:nvPicPr>
          <p:cNvPr id="6" name="Picture 2" descr="G:\2016-2017第二学期\上课资料\校园全景1-1.jpg校园全景1-1"/>
          <p:cNvPicPr>
            <a:picLocks noChangeAspect="1" noChangeArrowheads="1"/>
          </p:cNvPicPr>
          <p:nvPr/>
        </p:nvPicPr>
        <p:blipFill rotWithShape="1">
          <a:blip r:embed="rId3"/>
          <a:srcRect/>
          <a:stretch>
            <a:fillRect/>
          </a:stretch>
        </p:blipFill>
        <p:spPr bwMode="auto">
          <a:xfrm>
            <a:off x="0" y="5075555"/>
            <a:ext cx="12192000" cy="186055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校训"/>
          <p:cNvPicPr>
            <a:picLocks noChangeAspect="1"/>
          </p:cNvPicPr>
          <p:nvPr/>
        </p:nvPicPr>
        <p:blipFill>
          <a:blip r:embed="rId1"/>
          <a:stretch>
            <a:fillRect/>
          </a:stretch>
        </p:blipFill>
        <p:spPr>
          <a:xfrm>
            <a:off x="9098420" y="320358"/>
            <a:ext cx="2956560" cy="400050"/>
          </a:xfrm>
          <a:prstGeom prst="rect">
            <a:avLst/>
          </a:prstGeom>
        </p:spPr>
      </p:pic>
      <p:sp>
        <p:nvSpPr>
          <p:cNvPr id="5" name="Text Placeholder 4"/>
          <p:cNvSpPr txBox="1"/>
          <p:nvPr/>
        </p:nvSpPr>
        <p:spPr>
          <a:xfrm>
            <a:off x="260508" y="334169"/>
            <a:ext cx="2422208" cy="372428"/>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sz="3000" b="1" dirty="0">
                <a:solidFill>
                  <a:srgbClr val="C00000"/>
                </a:solidFill>
                <a:latin typeface="微软雅黑" panose="020B0503020204020204" charset="-122"/>
                <a:ea typeface="微软雅黑" panose="020B0503020204020204" charset="-122"/>
              </a:rPr>
              <a:t>目录</a:t>
            </a:r>
            <a:r>
              <a:rPr lang="en-US" altLang="zh-CN" sz="3000" b="1" dirty="0">
                <a:solidFill>
                  <a:srgbClr val="C00000"/>
                </a:solidFill>
                <a:latin typeface="微软雅黑" panose="020B0503020204020204" charset="-122"/>
                <a:ea typeface="微软雅黑" panose="020B0503020204020204" charset="-122"/>
              </a:rPr>
              <a:t>/</a:t>
            </a:r>
            <a:r>
              <a:rPr lang="en-US" altLang="zh-CN" sz="1800" b="1" dirty="0">
                <a:solidFill>
                  <a:srgbClr val="C00000"/>
                </a:solidFill>
                <a:latin typeface="微软雅黑" panose="020B0503020204020204" charset="-122"/>
                <a:ea typeface="微软雅黑" panose="020B0503020204020204" charset="-122"/>
              </a:rPr>
              <a:t>Contents</a:t>
            </a:r>
            <a:endParaRPr lang="en-US" altLang="zh-CN" sz="1800" b="1" dirty="0">
              <a:solidFill>
                <a:srgbClr val="C00000"/>
              </a:solidFill>
              <a:latin typeface="微软雅黑" panose="020B0503020204020204" charset="-122"/>
              <a:ea typeface="微软雅黑" panose="020B0503020204020204" charset="-122"/>
            </a:endParaRPr>
          </a:p>
        </p:txBody>
      </p:sp>
      <p:cxnSp>
        <p:nvCxnSpPr>
          <p:cNvPr id="6" name="直接连接符 5"/>
          <p:cNvCxnSpPr/>
          <p:nvPr/>
        </p:nvCxnSpPr>
        <p:spPr>
          <a:xfrm>
            <a:off x="125835" y="820722"/>
            <a:ext cx="11929145"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pic>
        <p:nvPicPr>
          <p:cNvPr id="9" name="图片 8" descr="ycu"/>
          <p:cNvPicPr>
            <a:picLocks noChangeAspect="1"/>
          </p:cNvPicPr>
          <p:nvPr/>
        </p:nvPicPr>
        <p:blipFill>
          <a:blip r:embed="rId2"/>
          <a:stretch>
            <a:fillRect/>
          </a:stretch>
        </p:blipFill>
        <p:spPr>
          <a:xfrm>
            <a:off x="0" y="4552950"/>
            <a:ext cx="2943225" cy="2305050"/>
          </a:xfrm>
          <a:prstGeom prst="rect">
            <a:avLst/>
          </a:prstGeom>
          <a:noFill/>
          <a:ln w="9525">
            <a:noFill/>
          </a:ln>
        </p:spPr>
      </p:pic>
      <p:grpSp>
        <p:nvGrpSpPr>
          <p:cNvPr id="10" name="组合 40"/>
          <p:cNvGrpSpPr/>
          <p:nvPr/>
        </p:nvGrpSpPr>
        <p:grpSpPr bwMode="auto">
          <a:xfrm>
            <a:off x="5417344" y="4607719"/>
            <a:ext cx="506730" cy="431006"/>
            <a:chOff x="3050167" y="1844084"/>
            <a:chExt cx="834144" cy="678092"/>
          </a:xfrm>
          <a:gradFill>
            <a:gsLst>
              <a:gs pos="0">
                <a:srgbClr val="FD4343"/>
              </a:gs>
              <a:gs pos="0">
                <a:srgbClr val="E30000"/>
              </a:gs>
              <a:gs pos="100000">
                <a:srgbClr val="C00000"/>
              </a:gs>
            </a:gsLst>
            <a:lin ang="5400000" scaled="0"/>
          </a:gradFill>
        </p:grpSpPr>
        <p:sp>
          <p:nvSpPr>
            <p:cNvPr id="11" name="任意多边形 17"/>
            <p:cNvSpPr/>
            <p:nvPr/>
          </p:nvSpPr>
          <p:spPr>
            <a:xfrm rot="8100000" flipV="1">
              <a:off x="3050167" y="1844084"/>
              <a:ext cx="834144" cy="678092"/>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gr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825"/>
            </a:p>
          </p:txBody>
        </p:sp>
        <p:sp>
          <p:nvSpPr>
            <p:cNvPr id="12" name="文本框 42"/>
            <p:cNvSpPr txBox="1">
              <a:spLocks noChangeArrowheads="1"/>
            </p:cNvSpPr>
            <p:nvPr/>
          </p:nvSpPr>
          <p:spPr bwMode="auto">
            <a:xfrm>
              <a:off x="3123828" y="1901391"/>
              <a:ext cx="726001" cy="579438"/>
            </a:xfrm>
            <a:prstGeom prst="rect">
              <a:avLst/>
            </a:prstGeom>
            <a:noFill/>
            <a:ln w="9525">
              <a:noFill/>
              <a:miter lim="800000"/>
            </a:ln>
          </p:spPr>
          <p:txBody>
            <a:bodyPr>
              <a:spAutoFit/>
            </a:bodyPr>
            <a:lstStyle/>
            <a:p>
              <a:r>
                <a:rPr lang="en-US" altLang="zh-CN" sz="1800">
                  <a:solidFill>
                    <a:schemeClr val="bg1"/>
                  </a:solidFill>
                  <a:latin typeface="Impact" panose="020B0806030902050204" pitchFamily="34" charset="0"/>
                </a:rPr>
                <a:t>04</a:t>
              </a:r>
              <a:endParaRPr lang="zh-CN" altLang="en-US" sz="1800">
                <a:solidFill>
                  <a:schemeClr val="bg1"/>
                </a:solidFill>
                <a:latin typeface="Impact" panose="020B0806030902050204" pitchFamily="34" charset="0"/>
              </a:endParaRPr>
            </a:p>
          </p:txBody>
        </p:sp>
      </p:grpSp>
      <p:grpSp>
        <p:nvGrpSpPr>
          <p:cNvPr id="13" name="组合 43"/>
          <p:cNvGrpSpPr/>
          <p:nvPr/>
        </p:nvGrpSpPr>
        <p:grpSpPr bwMode="auto">
          <a:xfrm>
            <a:off x="5417344" y="3778091"/>
            <a:ext cx="506730" cy="441484"/>
            <a:chOff x="3050167" y="1844084"/>
            <a:chExt cx="834142" cy="678092"/>
          </a:xfrm>
          <a:gradFill>
            <a:gsLst>
              <a:gs pos="0">
                <a:srgbClr val="FD4343"/>
              </a:gs>
              <a:gs pos="0">
                <a:srgbClr val="E30000"/>
              </a:gs>
              <a:gs pos="100000">
                <a:srgbClr val="C00000"/>
              </a:gs>
            </a:gsLst>
            <a:lin ang="5400000" scaled="0"/>
          </a:gradFill>
        </p:grpSpPr>
        <p:sp>
          <p:nvSpPr>
            <p:cNvPr id="14" name="任意多边形 20"/>
            <p:cNvSpPr/>
            <p:nvPr/>
          </p:nvSpPr>
          <p:spPr>
            <a:xfrm rot="8100000" flipV="1">
              <a:off x="3050167" y="1844084"/>
              <a:ext cx="834142" cy="678092"/>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gr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825"/>
            </a:p>
          </p:txBody>
        </p:sp>
        <p:sp>
          <p:nvSpPr>
            <p:cNvPr id="15" name="文本框 45"/>
            <p:cNvSpPr txBox="1">
              <a:spLocks noChangeArrowheads="1"/>
            </p:cNvSpPr>
            <p:nvPr/>
          </p:nvSpPr>
          <p:spPr bwMode="auto">
            <a:xfrm>
              <a:off x="3123828" y="1885458"/>
              <a:ext cx="726001" cy="565686"/>
            </a:xfrm>
            <a:prstGeom prst="rect">
              <a:avLst/>
            </a:prstGeom>
            <a:noFill/>
            <a:ln w="9525">
              <a:noFill/>
              <a:miter lim="800000"/>
            </a:ln>
          </p:spPr>
          <p:txBody>
            <a:bodyPr>
              <a:spAutoFit/>
            </a:bodyPr>
            <a:lstStyle/>
            <a:p>
              <a:r>
                <a:rPr lang="en-US" altLang="zh-CN" sz="1800" dirty="0">
                  <a:solidFill>
                    <a:schemeClr val="bg1"/>
                  </a:solidFill>
                  <a:latin typeface="Impact" panose="020B0806030902050204" pitchFamily="34" charset="0"/>
                </a:rPr>
                <a:t>03</a:t>
              </a:r>
              <a:endParaRPr lang="zh-CN" altLang="en-US" sz="1800" dirty="0">
                <a:solidFill>
                  <a:schemeClr val="bg1"/>
                </a:solidFill>
                <a:latin typeface="Impact" panose="020B0806030902050204" pitchFamily="34" charset="0"/>
              </a:endParaRPr>
            </a:p>
          </p:txBody>
        </p:sp>
      </p:grpSp>
      <p:grpSp>
        <p:nvGrpSpPr>
          <p:cNvPr id="16" name="组合 46"/>
          <p:cNvGrpSpPr/>
          <p:nvPr/>
        </p:nvGrpSpPr>
        <p:grpSpPr bwMode="auto">
          <a:xfrm>
            <a:off x="5417344" y="2986087"/>
            <a:ext cx="506730" cy="403860"/>
            <a:chOff x="3050349" y="1844085"/>
            <a:chExt cx="833779" cy="678092"/>
          </a:xfrm>
          <a:gradFill>
            <a:gsLst>
              <a:gs pos="0">
                <a:srgbClr val="FD4343"/>
              </a:gs>
              <a:gs pos="0">
                <a:srgbClr val="E30000"/>
              </a:gs>
              <a:gs pos="100000">
                <a:srgbClr val="C00000"/>
              </a:gs>
            </a:gsLst>
            <a:lin ang="5400000" scaled="0"/>
          </a:gradFill>
        </p:grpSpPr>
        <p:sp>
          <p:nvSpPr>
            <p:cNvPr id="17" name="任意多边形 29"/>
            <p:cNvSpPr/>
            <p:nvPr/>
          </p:nvSpPr>
          <p:spPr>
            <a:xfrm rot="8100000" flipV="1">
              <a:off x="3050349" y="1844085"/>
              <a:ext cx="833779" cy="678092"/>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gr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825"/>
            </a:p>
          </p:txBody>
        </p:sp>
        <p:sp>
          <p:nvSpPr>
            <p:cNvPr id="18" name="文本框 48"/>
            <p:cNvSpPr txBox="1">
              <a:spLocks noChangeArrowheads="1"/>
            </p:cNvSpPr>
            <p:nvPr/>
          </p:nvSpPr>
          <p:spPr bwMode="auto">
            <a:xfrm>
              <a:off x="3123827" y="1885460"/>
              <a:ext cx="726001" cy="618386"/>
            </a:xfrm>
            <a:prstGeom prst="rect">
              <a:avLst/>
            </a:prstGeom>
            <a:noFill/>
            <a:ln w="9525">
              <a:noFill/>
              <a:miter lim="800000"/>
            </a:ln>
          </p:spPr>
          <p:txBody>
            <a:bodyPr>
              <a:spAutoFit/>
            </a:bodyPr>
            <a:lstStyle/>
            <a:p>
              <a:r>
                <a:rPr lang="en-US" altLang="zh-CN" sz="1800" dirty="0">
                  <a:solidFill>
                    <a:schemeClr val="bg1"/>
                  </a:solidFill>
                  <a:latin typeface="Impact" panose="020B0806030902050204" pitchFamily="34" charset="0"/>
                </a:rPr>
                <a:t>02</a:t>
              </a:r>
              <a:endParaRPr lang="zh-CN" altLang="en-US" sz="1800" dirty="0">
                <a:solidFill>
                  <a:schemeClr val="bg1"/>
                </a:solidFill>
                <a:latin typeface="Impact" panose="020B0806030902050204" pitchFamily="34" charset="0"/>
              </a:endParaRPr>
            </a:p>
          </p:txBody>
        </p:sp>
      </p:grpSp>
      <p:grpSp>
        <p:nvGrpSpPr>
          <p:cNvPr id="19" name="组合 18"/>
          <p:cNvGrpSpPr/>
          <p:nvPr/>
        </p:nvGrpSpPr>
        <p:grpSpPr>
          <a:xfrm>
            <a:off x="6096000" y="2943225"/>
            <a:ext cx="3843338" cy="477679"/>
            <a:chOff x="6315199" y="2410178"/>
            <a:chExt cx="3744416" cy="511504"/>
          </a:xfrm>
          <a:noFill/>
        </p:grpSpPr>
        <p:sp>
          <p:nvSpPr>
            <p:cNvPr id="20" name="圆角矩形 35"/>
            <p:cNvSpPr/>
            <p:nvPr/>
          </p:nvSpPr>
          <p:spPr>
            <a:xfrm>
              <a:off x="6315199" y="2410178"/>
              <a:ext cx="3744416" cy="511504"/>
            </a:xfrm>
            <a:prstGeom prst="roundRect">
              <a:avLst/>
            </a:prstGeom>
            <a:grpFill/>
            <a:ln>
              <a:solidFill>
                <a:srgbClr val="C000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70" tIns="45735" rIns="91470" bIns="45735" anchor="ctr"/>
            <a:lstStyle/>
            <a:p>
              <a:pPr algn="ctr">
                <a:defRPr/>
              </a:pPr>
              <a:endParaRPr lang="zh-CN" altLang="en-US" sz="2025" dirty="0">
                <a:latin typeface="+mj-lt"/>
                <a:ea typeface="Arial Unicode MS" panose="020B0604020202020204" charset="-122"/>
                <a:cs typeface="Arial Unicode MS" panose="020B0604020202020204" charset="-122"/>
              </a:endParaRPr>
            </a:p>
          </p:txBody>
        </p:sp>
        <p:sp>
          <p:nvSpPr>
            <p:cNvPr id="21" name="矩形 20"/>
            <p:cNvSpPr/>
            <p:nvPr/>
          </p:nvSpPr>
          <p:spPr>
            <a:xfrm>
              <a:off x="6452744" y="2450573"/>
              <a:ext cx="2978431" cy="394380"/>
            </a:xfrm>
            <a:prstGeom prst="rect">
              <a:avLst/>
            </a:prstGeom>
            <a:grpFill/>
            <a:ln>
              <a:noFill/>
            </a:ln>
          </p:spPr>
          <p:txBody>
            <a:bodyPr wrap="square" lIns="91470" tIns="45735" rIns="91470" bIns="45735">
              <a:spAutoFit/>
            </a:bodyPr>
            <a:lstStyle/>
            <a:p>
              <a:pPr algn="l">
                <a:defRPr/>
              </a:pPr>
              <a:r>
                <a:rPr lang="zh-CN" altLang="en-US" sz="1800" b="1" kern="100" dirty="0">
                  <a:solidFill>
                    <a:srgbClr val="C00000"/>
                  </a:solidFill>
                  <a:latin typeface="微软雅黑" panose="020B0503020204020204" charset="-122"/>
                  <a:ea typeface="微软雅黑" panose="020B0503020204020204" charset="-122"/>
                  <a:cs typeface="Times New Roman" panose="02020603050405020304" pitchFamily="18" charset="0"/>
                </a:rPr>
                <a:t>毕业设计步骤与方法目标</a:t>
              </a:r>
              <a:endParaRPr lang="zh-CN" altLang="en-US" sz="1800" b="1" kern="100" dirty="0">
                <a:solidFill>
                  <a:srgbClr val="C00000"/>
                </a:solidFill>
                <a:latin typeface="微软雅黑" panose="020B0503020204020204" charset="-122"/>
                <a:ea typeface="微软雅黑" panose="020B0503020204020204" charset="-122"/>
                <a:cs typeface="Times New Roman" panose="02020603050405020304" pitchFamily="18" charset="0"/>
              </a:endParaRPr>
            </a:p>
          </p:txBody>
        </p:sp>
      </p:grpSp>
      <p:grpSp>
        <p:nvGrpSpPr>
          <p:cNvPr id="22" name="组合 21"/>
          <p:cNvGrpSpPr/>
          <p:nvPr/>
        </p:nvGrpSpPr>
        <p:grpSpPr>
          <a:xfrm>
            <a:off x="6096680" y="3748087"/>
            <a:ext cx="3907670" cy="477679"/>
            <a:chOff x="6339097" y="3296031"/>
            <a:chExt cx="3807767" cy="511504"/>
          </a:xfrm>
          <a:noFill/>
        </p:grpSpPr>
        <p:sp>
          <p:nvSpPr>
            <p:cNvPr id="23" name="圆角矩形 38"/>
            <p:cNvSpPr/>
            <p:nvPr/>
          </p:nvSpPr>
          <p:spPr>
            <a:xfrm>
              <a:off x="6339097" y="3296031"/>
              <a:ext cx="3744416" cy="511504"/>
            </a:xfrm>
            <a:prstGeom prst="roundRect">
              <a:avLst/>
            </a:prstGeom>
            <a:grpFill/>
            <a:ln>
              <a:solidFill>
                <a:srgbClr val="C000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70" tIns="45735" rIns="91470" bIns="45735" anchor="ctr"/>
            <a:lstStyle/>
            <a:p>
              <a:pPr algn="ctr">
                <a:defRPr/>
              </a:pPr>
              <a:endParaRPr lang="zh-CN" altLang="en-US" sz="2025" dirty="0">
                <a:latin typeface="+mj-lt"/>
                <a:ea typeface="Arial Unicode MS" panose="020B0604020202020204" charset="-122"/>
                <a:cs typeface="Arial Unicode MS" panose="020B0604020202020204" charset="-122"/>
              </a:endParaRPr>
            </a:p>
          </p:txBody>
        </p:sp>
        <p:sp>
          <p:nvSpPr>
            <p:cNvPr id="24" name="矩形 23"/>
            <p:cNvSpPr/>
            <p:nvPr/>
          </p:nvSpPr>
          <p:spPr>
            <a:xfrm>
              <a:off x="6485700" y="3336611"/>
              <a:ext cx="3661164" cy="394380"/>
            </a:xfrm>
            <a:prstGeom prst="rect">
              <a:avLst/>
            </a:prstGeom>
            <a:grpFill/>
            <a:ln>
              <a:noFill/>
            </a:ln>
          </p:spPr>
          <p:txBody>
            <a:bodyPr wrap="square" lIns="91470" tIns="45735" rIns="91470" bIns="45735">
              <a:spAutoFit/>
            </a:bodyPr>
            <a:lstStyle/>
            <a:p>
              <a:pPr algn="l">
                <a:defRPr/>
              </a:pPr>
              <a:endParaRPr lang="zh-CN" altLang="en-US" sz="1800" b="1" kern="100" dirty="0">
                <a:solidFill>
                  <a:schemeClr val="bg1"/>
                </a:solidFill>
                <a:latin typeface="微软雅黑" panose="020B0503020204020204" charset="-122"/>
                <a:ea typeface="微软雅黑" panose="020B0503020204020204" charset="-122"/>
                <a:cs typeface="Times New Roman" panose="02020603050405020304" pitchFamily="18" charset="0"/>
              </a:endParaRPr>
            </a:p>
          </p:txBody>
        </p:sp>
      </p:grpSp>
      <p:grpSp>
        <p:nvGrpSpPr>
          <p:cNvPr id="25" name="组合 24"/>
          <p:cNvGrpSpPr/>
          <p:nvPr/>
        </p:nvGrpSpPr>
        <p:grpSpPr>
          <a:xfrm>
            <a:off x="6096000" y="3802775"/>
            <a:ext cx="3843338" cy="1227853"/>
            <a:chOff x="6339097" y="3377608"/>
            <a:chExt cx="3744416" cy="1314799"/>
          </a:xfrm>
          <a:gradFill>
            <a:gsLst>
              <a:gs pos="0">
                <a:srgbClr val="E30000"/>
              </a:gs>
              <a:gs pos="100000">
                <a:srgbClr val="760303"/>
              </a:gs>
            </a:gsLst>
            <a:lin ang="5400000" scaled="0"/>
          </a:gradFill>
        </p:grpSpPr>
        <p:sp>
          <p:nvSpPr>
            <p:cNvPr id="26" name="圆角矩形 41"/>
            <p:cNvSpPr/>
            <p:nvPr/>
          </p:nvSpPr>
          <p:spPr>
            <a:xfrm>
              <a:off x="6339097" y="4180903"/>
              <a:ext cx="3744416" cy="511504"/>
            </a:xfrm>
            <a:prstGeom prst="roundRect">
              <a:avLst/>
            </a:prstGeom>
            <a:noFill/>
            <a:ln>
              <a:solidFill>
                <a:srgbClr val="C000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70" tIns="45735" rIns="91470" bIns="45735" anchor="ctr"/>
            <a:lstStyle/>
            <a:p>
              <a:pPr algn="ctr">
                <a:defRPr/>
              </a:pPr>
              <a:endParaRPr lang="zh-CN" altLang="en-US" sz="2025" dirty="0">
                <a:latin typeface="+mj-lt"/>
                <a:ea typeface="Arial Unicode MS" panose="020B0604020202020204" charset="-122"/>
                <a:cs typeface="Arial Unicode MS" panose="020B0604020202020204" charset="-122"/>
              </a:endParaRPr>
            </a:p>
          </p:txBody>
        </p:sp>
        <p:sp>
          <p:nvSpPr>
            <p:cNvPr id="27" name="矩形 26"/>
            <p:cNvSpPr/>
            <p:nvPr/>
          </p:nvSpPr>
          <p:spPr>
            <a:xfrm>
              <a:off x="6451252" y="3377608"/>
              <a:ext cx="3554179" cy="394380"/>
            </a:xfrm>
            <a:prstGeom prst="rect">
              <a:avLst/>
            </a:prstGeom>
            <a:noFill/>
          </p:spPr>
          <p:txBody>
            <a:bodyPr wrap="square" lIns="91470" tIns="45735" rIns="91470" bIns="45735">
              <a:spAutoFit/>
            </a:bodyPr>
            <a:lstStyle/>
            <a:p>
              <a:pPr algn="l">
                <a:defRPr/>
              </a:pPr>
              <a:r>
                <a:rPr lang="zh-CN" altLang="en-US" sz="1800" b="1" kern="100" dirty="0">
                  <a:solidFill>
                    <a:srgbClr val="C00000"/>
                  </a:solidFill>
                  <a:latin typeface="微软雅黑" panose="020B0503020204020204" charset="-122"/>
                  <a:ea typeface="微软雅黑" panose="020B0503020204020204" charset="-122"/>
                  <a:cs typeface="Times New Roman" panose="02020603050405020304" pitchFamily="18" charset="0"/>
                </a:rPr>
                <a:t>毕业设计论文撰写方法与要求</a:t>
              </a:r>
              <a:endParaRPr lang="zh-CN" altLang="en-US" sz="1800" b="1" kern="100" dirty="0">
                <a:solidFill>
                  <a:srgbClr val="C00000"/>
                </a:solidFill>
                <a:latin typeface="微软雅黑" panose="020B0503020204020204" charset="-122"/>
                <a:ea typeface="微软雅黑" panose="020B0503020204020204" charset="-122"/>
                <a:cs typeface="Times New Roman" panose="02020603050405020304" pitchFamily="18" charset="0"/>
              </a:endParaRPr>
            </a:p>
          </p:txBody>
        </p:sp>
      </p:grpSp>
      <p:grpSp>
        <p:nvGrpSpPr>
          <p:cNvPr id="28" name="组合 9"/>
          <p:cNvGrpSpPr/>
          <p:nvPr/>
        </p:nvGrpSpPr>
        <p:grpSpPr bwMode="auto">
          <a:xfrm>
            <a:off x="5386388" y="2189797"/>
            <a:ext cx="559118" cy="408146"/>
            <a:chOff x="3050349" y="1844085"/>
            <a:chExt cx="833779" cy="678092"/>
          </a:xfrm>
          <a:gradFill>
            <a:gsLst>
              <a:gs pos="0">
                <a:srgbClr val="FD4343"/>
              </a:gs>
              <a:gs pos="0">
                <a:srgbClr val="E30000"/>
              </a:gs>
              <a:gs pos="100000">
                <a:srgbClr val="C00000"/>
              </a:gs>
            </a:gsLst>
            <a:lin ang="5400000" scaled="0"/>
          </a:gradFill>
        </p:grpSpPr>
        <p:sp>
          <p:nvSpPr>
            <p:cNvPr id="29" name="任意多边形 105"/>
            <p:cNvSpPr/>
            <p:nvPr/>
          </p:nvSpPr>
          <p:spPr>
            <a:xfrm rot="8100000" flipV="1">
              <a:off x="3050349" y="1844085"/>
              <a:ext cx="833779" cy="678092"/>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gr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825"/>
            </a:p>
          </p:txBody>
        </p:sp>
        <p:sp>
          <p:nvSpPr>
            <p:cNvPr id="30" name="文本框 6"/>
            <p:cNvSpPr txBox="1">
              <a:spLocks noChangeArrowheads="1"/>
            </p:cNvSpPr>
            <p:nvPr/>
          </p:nvSpPr>
          <p:spPr bwMode="auto">
            <a:xfrm>
              <a:off x="3146443" y="1890742"/>
              <a:ext cx="611465" cy="611892"/>
            </a:xfrm>
            <a:prstGeom prst="rect">
              <a:avLst/>
            </a:prstGeom>
            <a:noFill/>
            <a:ln w="9525">
              <a:noFill/>
              <a:miter lim="800000"/>
            </a:ln>
          </p:spPr>
          <p:txBody>
            <a:bodyPr>
              <a:spAutoFit/>
            </a:bodyPr>
            <a:lstStyle/>
            <a:p>
              <a:r>
                <a:rPr lang="en-US" altLang="zh-CN" sz="1800" dirty="0">
                  <a:solidFill>
                    <a:schemeClr val="bg1"/>
                  </a:solidFill>
                  <a:latin typeface="Impact" panose="020B0806030902050204" pitchFamily="34" charset="0"/>
                </a:rPr>
                <a:t>01</a:t>
              </a:r>
              <a:endParaRPr lang="zh-CN" altLang="en-US" sz="1800" dirty="0">
                <a:solidFill>
                  <a:schemeClr val="bg1"/>
                </a:solidFill>
                <a:latin typeface="Impact" panose="020B0806030902050204" pitchFamily="34" charset="0"/>
              </a:endParaRPr>
            </a:p>
          </p:txBody>
        </p:sp>
      </p:grpSp>
      <p:grpSp>
        <p:nvGrpSpPr>
          <p:cNvPr id="31" name="组合 30"/>
          <p:cNvGrpSpPr/>
          <p:nvPr/>
        </p:nvGrpSpPr>
        <p:grpSpPr>
          <a:xfrm>
            <a:off x="6065044" y="2138362"/>
            <a:ext cx="3843338" cy="477679"/>
            <a:chOff x="6339097" y="1573726"/>
            <a:chExt cx="3744416" cy="511504"/>
          </a:xfrm>
          <a:noFill/>
        </p:grpSpPr>
        <p:sp>
          <p:nvSpPr>
            <p:cNvPr id="32" name="圆角矩形 108"/>
            <p:cNvSpPr/>
            <p:nvPr/>
          </p:nvSpPr>
          <p:spPr>
            <a:xfrm>
              <a:off x="6339097" y="1573726"/>
              <a:ext cx="3744416" cy="511504"/>
            </a:xfrm>
            <a:prstGeom prst="roundRect">
              <a:avLst/>
            </a:prstGeom>
            <a:grpFill/>
            <a:ln>
              <a:solidFill>
                <a:srgbClr val="C000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70" tIns="45735" rIns="91470" bIns="45735" anchor="ctr"/>
            <a:lstStyle/>
            <a:p>
              <a:pPr algn="ctr">
                <a:defRPr/>
              </a:pPr>
              <a:endParaRPr lang="zh-CN" altLang="en-US" sz="2025" dirty="0">
                <a:latin typeface="+mj-lt"/>
                <a:ea typeface="Arial Unicode MS" panose="020B0604020202020204" charset="-122"/>
                <a:cs typeface="Arial Unicode MS" panose="020B0604020202020204" charset="-122"/>
              </a:endParaRPr>
            </a:p>
          </p:txBody>
        </p:sp>
        <p:sp>
          <p:nvSpPr>
            <p:cNvPr id="33" name="矩形 32"/>
            <p:cNvSpPr/>
            <p:nvPr/>
          </p:nvSpPr>
          <p:spPr>
            <a:xfrm>
              <a:off x="6481411" y="1614121"/>
              <a:ext cx="3601902" cy="394380"/>
            </a:xfrm>
            <a:prstGeom prst="rect">
              <a:avLst/>
            </a:prstGeom>
            <a:grpFill/>
            <a:ln>
              <a:noFill/>
            </a:ln>
          </p:spPr>
          <p:txBody>
            <a:bodyPr wrap="square" lIns="91470" tIns="45735" rIns="91470" bIns="45735">
              <a:spAutoFit/>
            </a:bodyPr>
            <a:lstStyle/>
            <a:p>
              <a:pPr algn="l">
                <a:buClrTx/>
                <a:buSzTx/>
                <a:buFontTx/>
                <a:defRPr/>
              </a:pPr>
              <a:r>
                <a:rPr lang="zh-CN" altLang="en-US" sz="1800" b="1" kern="100" dirty="0">
                  <a:solidFill>
                    <a:srgbClr val="C00000"/>
                  </a:solidFill>
                  <a:latin typeface="微软雅黑" panose="020B0503020204020204" charset="-122"/>
                  <a:ea typeface="微软雅黑" panose="020B0503020204020204" charset="-122"/>
                  <a:cs typeface="Times New Roman" panose="02020603050405020304" pitchFamily="18" charset="0"/>
                  <a:sym typeface="+mn-ea"/>
                </a:rPr>
                <a:t>毕业设计的目的与要求</a:t>
              </a:r>
              <a:endParaRPr lang="zh-CN" altLang="en-US" sz="1800" b="1" kern="100" dirty="0">
                <a:solidFill>
                  <a:srgbClr val="C00000"/>
                </a:solidFill>
                <a:latin typeface="微软雅黑" panose="020B0503020204020204" charset="-122"/>
                <a:ea typeface="微软雅黑" panose="020B0503020204020204" charset="-122"/>
                <a:cs typeface="Times New Roman" panose="02020603050405020304" pitchFamily="18" charset="0"/>
              </a:endParaRPr>
            </a:p>
          </p:txBody>
        </p:sp>
      </p:grpSp>
      <p:cxnSp>
        <p:nvCxnSpPr>
          <p:cNvPr id="34" name="形状 10"/>
          <p:cNvCxnSpPr/>
          <p:nvPr/>
        </p:nvCxnSpPr>
        <p:spPr>
          <a:xfrm rot="10800000" flipH="1">
            <a:off x="2428524" y="3320304"/>
            <a:ext cx="1957718" cy="9525"/>
          </a:xfrm>
          <a:prstGeom prst="bentConnector5">
            <a:avLst>
              <a:gd name="adj1" fmla="val -8758"/>
              <a:gd name="adj2" fmla="val -10160767"/>
              <a:gd name="adj3" fmla="val 108758"/>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2400808" y="3646277"/>
            <a:ext cx="1880420" cy="530942"/>
          </a:xfrm>
          <a:prstGeom prst="rect">
            <a:avLst/>
          </a:prstGeom>
          <a:gradFill>
            <a:gsLst>
              <a:gs pos="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00"/>
          </a:p>
        </p:txBody>
      </p:sp>
      <p:pic>
        <p:nvPicPr>
          <p:cNvPr id="36" name="Picture 1" descr="G:\PPT制作素材\学校照片\IMG_0516.JPG"/>
          <p:cNvPicPr>
            <a:picLocks noChangeAspect="1" noChangeArrowheads="1"/>
          </p:cNvPicPr>
          <p:nvPr/>
        </p:nvPicPr>
        <p:blipFill>
          <a:blip r:embed="rId3"/>
          <a:srcRect/>
          <a:stretch>
            <a:fillRect/>
          </a:stretch>
        </p:blipFill>
        <p:spPr bwMode="auto">
          <a:xfrm>
            <a:off x="2520023" y="2735412"/>
            <a:ext cx="1993490" cy="1330032"/>
          </a:xfrm>
          <a:prstGeom prst="rect">
            <a:avLst/>
          </a:prstGeom>
          <a:noFill/>
        </p:spPr>
      </p:pic>
      <p:cxnSp>
        <p:nvCxnSpPr>
          <p:cNvPr id="37" name="直接连接符 36"/>
          <p:cNvCxnSpPr/>
          <p:nvPr/>
        </p:nvCxnSpPr>
        <p:spPr>
          <a:xfrm flipV="1">
            <a:off x="4974431" y="2175986"/>
            <a:ext cx="1429" cy="2782729"/>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38" name="矩形 37"/>
          <p:cNvSpPr/>
          <p:nvPr/>
        </p:nvSpPr>
        <p:spPr>
          <a:xfrm>
            <a:off x="6237178" y="4607638"/>
            <a:ext cx="3217215" cy="369362"/>
          </a:xfrm>
          <a:prstGeom prst="rect">
            <a:avLst/>
          </a:prstGeom>
          <a:noFill/>
          <a:ln>
            <a:noFill/>
          </a:ln>
        </p:spPr>
        <p:txBody>
          <a:bodyPr wrap="square" lIns="91470" tIns="45735" rIns="91470" bIns="45735">
            <a:spAutoFit/>
          </a:bodyPr>
          <a:lstStyle/>
          <a:p>
            <a:pPr algn="l">
              <a:defRPr/>
            </a:pPr>
            <a:r>
              <a:rPr lang="zh-CN" altLang="en-US" sz="1800" b="1" kern="100" dirty="0">
                <a:solidFill>
                  <a:srgbClr val="C00000"/>
                </a:solidFill>
                <a:latin typeface="微软雅黑" panose="020B0503020204020204" charset="-122"/>
                <a:ea typeface="微软雅黑" panose="020B0503020204020204" charset="-122"/>
                <a:cs typeface="Times New Roman" panose="02020603050405020304" pitchFamily="18" charset="0"/>
              </a:rPr>
              <a:t>毕业论文抽检方法和实施细则</a:t>
            </a:r>
            <a:endParaRPr lang="zh-CN" altLang="en-US" sz="1800" b="1" kern="100" dirty="0">
              <a:solidFill>
                <a:srgbClr val="C00000"/>
              </a:solidFill>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ssolve">
                                      <p:cBhvr>
                                        <p:cTn id="7" dur="500"/>
                                        <p:tgtEl>
                                          <p:spTgt spid="5">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500"/>
                                        <p:tgtEl>
                                          <p:spTgt spid="28"/>
                                        </p:tgtEl>
                                      </p:cBhvr>
                                    </p:animEffect>
                                  </p:childTnLst>
                                </p:cTn>
                              </p:par>
                              <p:par>
                                <p:cTn id="15" presetID="10" presetClass="entr" presetSubtype="0" fill="hold" nodeType="withEffect">
                                  <p:stCondLst>
                                    <p:cond delay="30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par>
                                <p:cTn id="18" presetID="22" presetClass="entr" presetSubtype="8" fill="hold" nodeType="withEffect">
                                  <p:stCondLst>
                                    <p:cond delay="600"/>
                                  </p:stCondLst>
                                  <p:childTnLst>
                                    <p:set>
                                      <p:cBhvr>
                                        <p:cTn id="19" dur="1" fill="hold">
                                          <p:stCondLst>
                                            <p:cond delay="0"/>
                                          </p:stCondLst>
                                        </p:cTn>
                                        <p:tgtEl>
                                          <p:spTgt spid="19"/>
                                        </p:tgtEl>
                                        <p:attrNameLst>
                                          <p:attrName>style.visibility</p:attrName>
                                        </p:attrNameLst>
                                      </p:cBhvr>
                                      <p:to>
                                        <p:strVal val="visible"/>
                                      </p:to>
                                    </p:set>
                                    <p:animEffect transition="in" filter="wipe(left)">
                                      <p:cBhvr>
                                        <p:cTn id="20" dur="500"/>
                                        <p:tgtEl>
                                          <p:spTgt spid="19"/>
                                        </p:tgtEl>
                                      </p:cBhvr>
                                    </p:animEffect>
                                  </p:childTnLst>
                                </p:cTn>
                              </p:par>
                              <p:par>
                                <p:cTn id="21" presetID="10" presetClass="entr" presetSubtype="0" fill="hold" nodeType="withEffect">
                                  <p:stCondLst>
                                    <p:cond delay="60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22" presetClass="entr" presetSubtype="8" fill="hold" nodeType="withEffect">
                                  <p:stCondLst>
                                    <p:cond delay="900"/>
                                  </p:stCondLst>
                                  <p:childTnLst>
                                    <p:set>
                                      <p:cBhvr>
                                        <p:cTn id="25" dur="1" fill="hold">
                                          <p:stCondLst>
                                            <p:cond delay="0"/>
                                          </p:stCondLst>
                                        </p:cTn>
                                        <p:tgtEl>
                                          <p:spTgt spid="22"/>
                                        </p:tgtEl>
                                        <p:attrNameLst>
                                          <p:attrName>style.visibility</p:attrName>
                                        </p:attrNameLst>
                                      </p:cBhvr>
                                      <p:to>
                                        <p:strVal val="visible"/>
                                      </p:to>
                                    </p:set>
                                    <p:animEffect transition="in" filter="wipe(left)">
                                      <p:cBhvr>
                                        <p:cTn id="26" dur="500"/>
                                        <p:tgtEl>
                                          <p:spTgt spid="22"/>
                                        </p:tgtEl>
                                      </p:cBhvr>
                                    </p:animEffect>
                                  </p:childTnLst>
                                </p:cTn>
                              </p:par>
                              <p:par>
                                <p:cTn id="27" presetID="10" presetClass="entr" presetSubtype="0" fill="hold" nodeType="withEffect">
                                  <p:stCondLst>
                                    <p:cond delay="90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22" presetClass="entr" presetSubtype="8" fill="hold" nodeType="withEffect">
                                  <p:stCondLst>
                                    <p:cond delay="1200"/>
                                  </p:stCondLst>
                                  <p:childTnLst>
                                    <p:set>
                                      <p:cBhvr>
                                        <p:cTn id="31" dur="1" fill="hold">
                                          <p:stCondLst>
                                            <p:cond delay="0"/>
                                          </p:stCondLst>
                                        </p:cTn>
                                        <p:tgtEl>
                                          <p:spTgt spid="25"/>
                                        </p:tgtEl>
                                        <p:attrNameLst>
                                          <p:attrName>style.visibility</p:attrName>
                                        </p:attrNameLst>
                                      </p:cBhvr>
                                      <p:to>
                                        <p:strVal val="visible"/>
                                      </p:to>
                                    </p:set>
                                    <p:animEffect transition="in" filter="wipe(left)">
                                      <p:cBhvr>
                                        <p:cTn id="32" dur="500"/>
                                        <p:tgtEl>
                                          <p:spTgt spid="25"/>
                                        </p:tgtEl>
                                      </p:cBhvr>
                                    </p:animEffect>
                                  </p:childTnLst>
                                </p:cTn>
                              </p:par>
                              <p:par>
                                <p:cTn id="33" presetID="22" presetClass="entr" presetSubtype="8" fill="hold" nodeType="withEffect">
                                  <p:stCondLst>
                                    <p:cond delay="300"/>
                                  </p:stCondLst>
                                  <p:childTnLst>
                                    <p:set>
                                      <p:cBhvr>
                                        <p:cTn id="34" dur="1" fill="hold">
                                          <p:stCondLst>
                                            <p:cond delay="0"/>
                                          </p:stCondLst>
                                        </p:cTn>
                                        <p:tgtEl>
                                          <p:spTgt spid="31"/>
                                        </p:tgtEl>
                                        <p:attrNameLst>
                                          <p:attrName>style.visibility</p:attrName>
                                        </p:attrNameLst>
                                      </p:cBhvr>
                                      <p:to>
                                        <p:strVal val="visible"/>
                                      </p:to>
                                    </p:set>
                                    <p:animEffect transition="in" filter="wipe(left)">
                                      <p:cBhvr>
                                        <p:cTn id="35" dur="500"/>
                                        <p:tgtEl>
                                          <p:spTgt spid="31"/>
                                        </p:tgtEl>
                                      </p:cBhvr>
                                    </p:animEffect>
                                  </p:childTnLst>
                                </p:cTn>
                              </p:par>
                            </p:childTnLst>
                          </p:cTn>
                        </p:par>
                        <p:par>
                          <p:cTn id="36" fill="hold">
                            <p:stCondLst>
                              <p:cond delay="1000"/>
                            </p:stCondLst>
                            <p:childTnLst>
                              <p:par>
                                <p:cTn id="37" presetID="26" presetClass="emph" presetSubtype="0" fill="hold" nodeType="afterEffect">
                                  <p:stCondLst>
                                    <p:cond delay="0"/>
                                  </p:stCondLst>
                                  <p:childTnLst>
                                    <p:animEffect transition="out" filter="fade">
                                      <p:cBhvr>
                                        <p:cTn id="38" dur="500" tmFilter="0, 0; .2, .5; .8, .5; 1, 0"/>
                                        <p:tgtEl>
                                          <p:spTgt spid="28"/>
                                        </p:tgtEl>
                                      </p:cBhvr>
                                    </p:animEffect>
                                    <p:animScale>
                                      <p:cBhvr>
                                        <p:cTn id="39" dur="250" autoRev="1" fill="hold"/>
                                        <p:tgtEl>
                                          <p:spTgt spid="28"/>
                                        </p:tgtEl>
                                      </p:cBhvr>
                                      <p:by x="105000" y="105000"/>
                                    </p:animScale>
                                  </p:childTnLst>
                                </p:cTn>
                              </p:par>
                              <p:par>
                                <p:cTn id="40" presetID="26" presetClass="emph" presetSubtype="0" fill="hold" nodeType="withEffect">
                                  <p:stCondLst>
                                    <p:cond delay="0"/>
                                  </p:stCondLst>
                                  <p:childTnLst>
                                    <p:animEffect transition="out" filter="fade">
                                      <p:cBhvr>
                                        <p:cTn id="41" dur="500" tmFilter="0, 0; .2, .5; .8, .5; 1, 0"/>
                                        <p:tgtEl>
                                          <p:spTgt spid="31"/>
                                        </p:tgtEl>
                                      </p:cBhvr>
                                    </p:animEffect>
                                    <p:animScale>
                                      <p:cBhvr>
                                        <p:cTn id="42" dur="250" autoRev="1" fill="hold"/>
                                        <p:tgtEl>
                                          <p:spTgt spid="31"/>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校训"/>
          <p:cNvPicPr>
            <a:picLocks noChangeAspect="1"/>
          </p:cNvPicPr>
          <p:nvPr/>
        </p:nvPicPr>
        <p:blipFill>
          <a:blip r:embed="rId1"/>
          <a:stretch>
            <a:fillRect/>
          </a:stretch>
        </p:blipFill>
        <p:spPr>
          <a:xfrm>
            <a:off x="9235440" y="294164"/>
            <a:ext cx="2956560" cy="400050"/>
          </a:xfrm>
          <a:prstGeom prst="rect">
            <a:avLst/>
          </a:prstGeom>
        </p:spPr>
      </p:pic>
      <p:cxnSp>
        <p:nvCxnSpPr>
          <p:cNvPr id="4" name="直接连接符 3"/>
          <p:cNvCxnSpPr/>
          <p:nvPr/>
        </p:nvCxnSpPr>
        <p:spPr>
          <a:xfrm>
            <a:off x="243281" y="820722"/>
            <a:ext cx="11744587"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pic>
        <p:nvPicPr>
          <p:cNvPr id="7" name="图片 6" descr="校徽"/>
          <p:cNvPicPr>
            <a:picLocks noChangeAspect="1"/>
          </p:cNvPicPr>
          <p:nvPr/>
        </p:nvPicPr>
        <p:blipFill>
          <a:blip r:embed="rId2"/>
          <a:stretch>
            <a:fillRect/>
          </a:stretch>
        </p:blipFill>
        <p:spPr>
          <a:xfrm>
            <a:off x="243281" y="195017"/>
            <a:ext cx="1924050" cy="562451"/>
          </a:xfrm>
          <a:prstGeom prst="rect">
            <a:avLst/>
          </a:prstGeom>
        </p:spPr>
      </p:pic>
      <p:sp>
        <p:nvSpPr>
          <p:cNvPr id="8" name="Title 6"/>
          <p:cNvSpPr txBox="1"/>
          <p:nvPr>
            <p:custDataLst>
              <p:tags r:id="rId3"/>
            </p:custDataLst>
          </p:nvPr>
        </p:nvSpPr>
        <p:spPr>
          <a:xfrm>
            <a:off x="659675" y="97314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lvl="0">
              <a:lnSpc>
                <a:spcPct val="100000"/>
              </a:lnSpc>
              <a:spcAft>
                <a:spcPts val="800"/>
              </a:spcAft>
            </a:pPr>
            <a:r>
              <a:rPr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01</a:t>
            </a:r>
            <a:r>
              <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、毕业设计的目的与要求</a:t>
            </a:r>
            <a:endPar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endParaRPr>
          </a:p>
        </p:txBody>
      </p:sp>
      <p:sp>
        <p:nvSpPr>
          <p:cNvPr id="9" name="矩形 8"/>
          <p:cNvSpPr/>
          <p:nvPr>
            <p:custDataLst>
              <p:tags r:id="rId4"/>
            </p:custDataLst>
          </p:nvPr>
        </p:nvSpPr>
        <p:spPr>
          <a:xfrm>
            <a:off x="352440" y="1025271"/>
            <a:ext cx="86360" cy="357188"/>
          </a:xfrm>
          <a:prstGeom prst="rect">
            <a:avLst/>
          </a:prstGeom>
          <a:solidFill>
            <a:srgbClr val="C00000"/>
          </a:solidFill>
          <a:ln>
            <a:noFill/>
          </a:ln>
        </p:spPr>
        <p:style>
          <a:lnRef idx="2">
            <a:srgbClr val="BD374A">
              <a:shade val="50000"/>
            </a:srgbClr>
          </a:lnRef>
          <a:fillRef idx="1">
            <a:srgbClr val="BD374A"/>
          </a:fillRef>
          <a:effectRef idx="0">
            <a:srgbClr val="BD374A"/>
          </a:effectRef>
          <a:fontRef idx="minor">
            <a:srgbClr val="FFFFFF"/>
          </a:fontRef>
        </p:style>
        <p:txBody>
          <a:bodyPr rtlCol="0" anchor="ctr"/>
          <a:lstStyle/>
          <a:p>
            <a:pPr algn="ctr"/>
            <a:endParaRPr lang="zh-CN" altLang="en-US" sz="1350">
              <a:latin typeface="Arial" panose="020B0604020202020204" pitchFamily="34" charset="0"/>
              <a:ea typeface="微软雅黑" panose="020B0503020204020204" charset="-122"/>
            </a:endParaRPr>
          </a:p>
        </p:txBody>
      </p:sp>
      <p:cxnSp>
        <p:nvCxnSpPr>
          <p:cNvPr id="10" name="直接连接符 9"/>
          <p:cNvCxnSpPr/>
          <p:nvPr/>
        </p:nvCxnSpPr>
        <p:spPr>
          <a:xfrm>
            <a:off x="313055" y="856615"/>
            <a:ext cx="8356600" cy="0"/>
          </a:xfrm>
          <a:prstGeom prst="line">
            <a:avLst/>
          </a:prstGeom>
          <a:ln cap="rnd">
            <a:solidFill>
              <a:schemeClr val="bg1">
                <a:lumMod val="75000"/>
              </a:schemeClr>
            </a:solidFill>
            <a:prstDash val="sysDot"/>
            <a:round/>
          </a:ln>
        </p:spPr>
        <p:style>
          <a:lnRef idx="1">
            <a:schemeClr val="accent1"/>
          </a:lnRef>
          <a:fillRef idx="0">
            <a:schemeClr val="accent1"/>
          </a:fillRef>
          <a:effectRef idx="0">
            <a:schemeClr val="accent1"/>
          </a:effectRef>
          <a:fontRef idx="minor">
            <a:schemeClr val="tx1"/>
          </a:fontRef>
        </p:style>
      </p:cxnSp>
      <p:sp>
        <p:nvSpPr>
          <p:cNvPr id="11" name="文本框 8"/>
          <p:cNvSpPr txBox="1">
            <a:spLocks noChangeArrowheads="1"/>
          </p:cNvSpPr>
          <p:nvPr/>
        </p:nvSpPr>
        <p:spPr bwMode="auto">
          <a:xfrm>
            <a:off x="439420" y="1503680"/>
            <a:ext cx="11548448" cy="3542124"/>
          </a:xfrm>
          <a:prstGeom prst="rect">
            <a:avLst/>
          </a:prstGeom>
          <a:noFill/>
          <a:ln w="9525">
            <a:noFill/>
            <a:miter lim="800000"/>
          </a:ln>
        </p:spPr>
        <p:txBody>
          <a:bodyPr wrap="square">
            <a:spAutoFit/>
          </a:bodyPr>
          <a:lstStyle/>
          <a:p>
            <a:pPr>
              <a:lnSpc>
                <a:spcPct val="160000"/>
              </a:lnSpc>
            </a:pPr>
            <a:r>
              <a:rPr lang="en-US" altLang="zh-CN" sz="2400"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400" dirty="0">
                <a:latin typeface="宋体" panose="02010600030101010101" pitchFamily="2" charset="-122"/>
                <a:ea typeface="宋体" panose="02010600030101010101" pitchFamily="2" charset="-122"/>
                <a:cs typeface="宋体" panose="02010600030101010101" pitchFamily="2" charset="-122"/>
                <a:sym typeface="+mn-ea"/>
              </a:rPr>
              <a:t>本科生毕业设计（论文）是本科教学计划的重要组成部分，是反映学生素质、能力和水平的重要标志。较好地完成毕业设计（论文）是本科学生获得</a:t>
            </a:r>
            <a:r>
              <a:rPr lang="zh-CN" altLang="en-US" sz="2400" b="1"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学士学位</a:t>
            </a:r>
            <a:r>
              <a:rPr lang="zh-CN" altLang="en-US" sz="2400" dirty="0">
                <a:latin typeface="宋体" panose="02010600030101010101" pitchFamily="2" charset="-122"/>
                <a:ea typeface="宋体" panose="02010600030101010101" pitchFamily="2" charset="-122"/>
                <a:cs typeface="宋体" panose="02010600030101010101" pitchFamily="2" charset="-122"/>
                <a:sym typeface="+mn-ea"/>
              </a:rPr>
              <a:t>的必要条件之一。</a:t>
            </a:r>
            <a:endParaRPr lang="zh-CN" altLang="en-US" sz="2400" dirty="0">
              <a:latin typeface="宋体" panose="02010600030101010101" pitchFamily="2" charset="-122"/>
              <a:ea typeface="宋体" panose="02010600030101010101" pitchFamily="2" charset="-122"/>
              <a:cs typeface="宋体" panose="02010600030101010101" pitchFamily="2" charset="-122"/>
              <a:sym typeface="+mn-ea"/>
            </a:endParaRPr>
          </a:p>
          <a:p>
            <a:pPr>
              <a:lnSpc>
                <a:spcPct val="160000"/>
              </a:lnSpc>
            </a:pPr>
            <a:r>
              <a:rPr lang="zh-CN" altLang="en-US" sz="2400" dirty="0">
                <a:latin typeface="宋体" panose="02010600030101010101" pitchFamily="2" charset="-122"/>
                <a:ea typeface="宋体" panose="02010600030101010101" pitchFamily="2" charset="-122"/>
                <a:cs typeface="宋体" panose="02010600030101010101" pitchFamily="2" charset="-122"/>
                <a:sym typeface="+mn-ea"/>
              </a:rPr>
              <a:t>    毕业设计（论文）是对学生进行综合专业训练和科学研究初步训练的综合性实践教学环节，通过开展毕业设计（论文）教学，旨在培养学生的科研意识和创新精神，提高学生综合运用所学专业知识解决实际问题的能力。</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p:sp>
        <p:nvSpPr>
          <p:cNvPr id="12" name="任意多边形 18"/>
          <p:cNvSpPr/>
          <p:nvPr/>
        </p:nvSpPr>
        <p:spPr>
          <a:xfrm>
            <a:off x="0" y="6289675"/>
            <a:ext cx="12192000" cy="530225"/>
          </a:xfrm>
          <a:custGeom>
            <a:avLst/>
            <a:gdLst>
              <a:gd name="connsiteX0" fmla="*/ 0 w 12192000"/>
              <a:gd name="connsiteY0" fmla="*/ 624139 h 763855"/>
              <a:gd name="connsiteX1" fmla="*/ 2075543 w 12192000"/>
              <a:gd name="connsiteY1" fmla="*/ 72596 h 763855"/>
              <a:gd name="connsiteX2" fmla="*/ 4760685 w 12192000"/>
              <a:gd name="connsiteY2" fmla="*/ 711224 h 763855"/>
              <a:gd name="connsiteX3" fmla="*/ 7489371 w 12192000"/>
              <a:gd name="connsiteY3" fmla="*/ 24 h 763855"/>
              <a:gd name="connsiteX4" fmla="*/ 10189028 w 12192000"/>
              <a:gd name="connsiteY4" fmla="*/ 740253 h 763855"/>
              <a:gd name="connsiteX5" fmla="*/ 12192000 w 12192000"/>
              <a:gd name="connsiteY5" fmla="*/ 508024 h 763855"/>
              <a:gd name="connsiteX0-1" fmla="*/ 0 w 12192000"/>
              <a:gd name="connsiteY0-2" fmla="*/ 375687 h 763855"/>
              <a:gd name="connsiteX1-3" fmla="*/ 2075543 w 12192000"/>
              <a:gd name="connsiteY1-4" fmla="*/ 72596 h 763855"/>
              <a:gd name="connsiteX2-5" fmla="*/ 4760685 w 12192000"/>
              <a:gd name="connsiteY2-6" fmla="*/ 711224 h 763855"/>
              <a:gd name="connsiteX3-7" fmla="*/ 7489371 w 12192000"/>
              <a:gd name="connsiteY3-8" fmla="*/ 24 h 763855"/>
              <a:gd name="connsiteX4-9" fmla="*/ 10189028 w 12192000"/>
              <a:gd name="connsiteY4-10" fmla="*/ 740253 h 763855"/>
              <a:gd name="connsiteX5-11" fmla="*/ 12192000 w 12192000"/>
              <a:gd name="connsiteY5-12" fmla="*/ 508024 h 763855"/>
              <a:gd name="connsiteX0-13" fmla="*/ 0 w 12192000"/>
              <a:gd name="connsiteY0-14" fmla="*/ 375687 h 763855"/>
              <a:gd name="connsiteX1-15" fmla="*/ 2075543 w 12192000"/>
              <a:gd name="connsiteY1-16" fmla="*/ 72596 h 763855"/>
              <a:gd name="connsiteX2-17" fmla="*/ 4760685 w 12192000"/>
              <a:gd name="connsiteY2-18" fmla="*/ 711224 h 763855"/>
              <a:gd name="connsiteX3-19" fmla="*/ 7489371 w 12192000"/>
              <a:gd name="connsiteY3-20" fmla="*/ 24 h 763855"/>
              <a:gd name="connsiteX4-21" fmla="*/ 10189028 w 12192000"/>
              <a:gd name="connsiteY4-22" fmla="*/ 740253 h 763855"/>
              <a:gd name="connsiteX5-23" fmla="*/ 12192000 w 12192000"/>
              <a:gd name="connsiteY5-24" fmla="*/ 508024 h 763855"/>
              <a:gd name="connsiteX0-25" fmla="*/ 0 w 12192000"/>
              <a:gd name="connsiteY0-26" fmla="*/ 313365 h 688902"/>
              <a:gd name="connsiteX1-27" fmla="*/ 2075543 w 12192000"/>
              <a:gd name="connsiteY1-28" fmla="*/ 10274 h 688902"/>
              <a:gd name="connsiteX2-29" fmla="*/ 4760685 w 12192000"/>
              <a:gd name="connsiteY2-30" fmla="*/ 648902 h 688902"/>
              <a:gd name="connsiteX3-31" fmla="*/ 7460342 w 12192000"/>
              <a:gd name="connsiteY3-32" fmla="*/ 150661 h 688902"/>
              <a:gd name="connsiteX4-33" fmla="*/ 10189028 w 12192000"/>
              <a:gd name="connsiteY4-34" fmla="*/ 677931 h 688902"/>
              <a:gd name="connsiteX5-35" fmla="*/ 12192000 w 12192000"/>
              <a:gd name="connsiteY5-36" fmla="*/ 445702 h 688902"/>
              <a:gd name="connsiteX0-37" fmla="*/ 0 w 12192000"/>
              <a:gd name="connsiteY0-38" fmla="*/ 313365 h 649675"/>
              <a:gd name="connsiteX1-39" fmla="*/ 2075543 w 12192000"/>
              <a:gd name="connsiteY1-40" fmla="*/ 10274 h 649675"/>
              <a:gd name="connsiteX2-41" fmla="*/ 4760685 w 12192000"/>
              <a:gd name="connsiteY2-42" fmla="*/ 648902 h 649675"/>
              <a:gd name="connsiteX3-43" fmla="*/ 7460342 w 12192000"/>
              <a:gd name="connsiteY3-44" fmla="*/ 150661 h 649675"/>
              <a:gd name="connsiteX4-45" fmla="*/ 10189028 w 12192000"/>
              <a:gd name="connsiteY4-46" fmla="*/ 606945 h 649675"/>
              <a:gd name="connsiteX5-47" fmla="*/ 12192000 w 12192000"/>
              <a:gd name="connsiteY5-48" fmla="*/ 445702 h 649675"/>
              <a:gd name="connsiteX0-49" fmla="*/ 0 w 12264571"/>
              <a:gd name="connsiteY0-50" fmla="*/ 313365 h 649676"/>
              <a:gd name="connsiteX1-51" fmla="*/ 2075543 w 12264571"/>
              <a:gd name="connsiteY1-52" fmla="*/ 10274 h 649676"/>
              <a:gd name="connsiteX2-53" fmla="*/ 4760685 w 12264571"/>
              <a:gd name="connsiteY2-54" fmla="*/ 648902 h 649676"/>
              <a:gd name="connsiteX3-55" fmla="*/ 7460342 w 12264571"/>
              <a:gd name="connsiteY3-56" fmla="*/ 150661 h 649676"/>
              <a:gd name="connsiteX4-57" fmla="*/ 10189028 w 12264571"/>
              <a:gd name="connsiteY4-58" fmla="*/ 606945 h 649676"/>
              <a:gd name="connsiteX5-59" fmla="*/ 12264571 w 12264571"/>
              <a:gd name="connsiteY5-60" fmla="*/ 303730 h 649676"/>
              <a:gd name="connsiteX0-61" fmla="*/ 0 w 12221028"/>
              <a:gd name="connsiteY0-62" fmla="*/ 313365 h 649676"/>
              <a:gd name="connsiteX1-63" fmla="*/ 2075543 w 12221028"/>
              <a:gd name="connsiteY1-64" fmla="*/ 10274 h 649676"/>
              <a:gd name="connsiteX2-65" fmla="*/ 4760685 w 12221028"/>
              <a:gd name="connsiteY2-66" fmla="*/ 648902 h 649676"/>
              <a:gd name="connsiteX3-67" fmla="*/ 7460342 w 12221028"/>
              <a:gd name="connsiteY3-68" fmla="*/ 150661 h 649676"/>
              <a:gd name="connsiteX4-69" fmla="*/ 10189028 w 12221028"/>
              <a:gd name="connsiteY4-70" fmla="*/ 606945 h 649676"/>
              <a:gd name="connsiteX5-71" fmla="*/ 12221028 w 12221028"/>
              <a:gd name="connsiteY5-72" fmla="*/ 321476 h 64967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2221028" h="649676">
                <a:moveTo>
                  <a:pt x="0" y="313365"/>
                </a:moveTo>
                <a:cubicBezTo>
                  <a:pt x="713620" y="136816"/>
                  <a:pt x="1282096" y="-45649"/>
                  <a:pt x="2075543" y="10274"/>
                </a:cubicBezTo>
                <a:cubicBezTo>
                  <a:pt x="2868990" y="66197"/>
                  <a:pt x="3863219" y="625504"/>
                  <a:pt x="4760685" y="648902"/>
                </a:cubicBezTo>
                <a:cubicBezTo>
                  <a:pt x="5658151" y="672300"/>
                  <a:pt x="6555618" y="157654"/>
                  <a:pt x="7460342" y="150661"/>
                </a:cubicBezTo>
                <a:cubicBezTo>
                  <a:pt x="8365066" y="143668"/>
                  <a:pt x="9395580" y="578476"/>
                  <a:pt x="10189028" y="606945"/>
                </a:cubicBezTo>
                <a:cubicBezTo>
                  <a:pt x="10982476" y="635414"/>
                  <a:pt x="11611427" y="479924"/>
                  <a:pt x="12221028" y="321476"/>
                </a:cubicBezTo>
              </a:path>
            </a:pathLst>
          </a:custGeom>
          <a:noFill/>
          <a:ln w="158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75"/>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p:cNvSpPr txBox="1"/>
          <p:nvPr>
            <p:custDataLst>
              <p:tags r:id="rId1"/>
            </p:custDataLst>
          </p:nvPr>
        </p:nvSpPr>
        <p:spPr>
          <a:xfrm>
            <a:off x="659675" y="97314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lvl="0">
              <a:lnSpc>
                <a:spcPct val="100000"/>
              </a:lnSpc>
              <a:spcAft>
                <a:spcPts val="800"/>
              </a:spcAft>
            </a:pPr>
            <a:r>
              <a:rPr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01</a:t>
            </a:r>
            <a:r>
              <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、毕业设计的目的与要求</a:t>
            </a:r>
            <a:endPar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endParaRPr>
          </a:p>
        </p:txBody>
      </p:sp>
      <p:sp>
        <p:nvSpPr>
          <p:cNvPr id="5" name="文本框 8"/>
          <p:cNvSpPr txBox="1">
            <a:spLocks noChangeArrowheads="1"/>
          </p:cNvSpPr>
          <p:nvPr/>
        </p:nvSpPr>
        <p:spPr bwMode="auto">
          <a:xfrm>
            <a:off x="367650" y="1572241"/>
            <a:ext cx="11456699" cy="3713517"/>
          </a:xfrm>
          <a:prstGeom prst="rect">
            <a:avLst/>
          </a:prstGeom>
          <a:noFill/>
          <a:ln w="9525">
            <a:noFill/>
            <a:miter lim="800000"/>
          </a:ln>
        </p:spPr>
        <p:txBody>
          <a:bodyPr wrap="square">
            <a:spAutoFit/>
          </a:bodyPr>
          <a:lstStyle/>
          <a:p>
            <a:pPr>
              <a:lnSpc>
                <a:spcPct val="150000"/>
              </a:lnSpc>
            </a:pPr>
            <a:r>
              <a:rPr lang="zh-CN" altLang="en-US" sz="2000" b="1" dirty="0">
                <a:sym typeface="+mn-ea"/>
              </a:rPr>
              <a:t>具体要求</a:t>
            </a:r>
            <a:endParaRPr lang="en-US" altLang="zh-CN" sz="2000" b="1" dirty="0">
              <a:sym typeface="+mn-ea"/>
            </a:endParaRPr>
          </a:p>
          <a:p>
            <a:pPr marL="800100" lvl="1" indent="-342900">
              <a:lnSpc>
                <a:spcPct val="150000"/>
              </a:lnSpc>
              <a:buFont typeface="Wingdings" panose="05000000000000000000" charset="0"/>
              <a:buChar char="Ø"/>
            </a:pPr>
            <a:r>
              <a:rPr lang="zh-CN" altLang="en-US" sz="2000" dirty="0">
                <a:sym typeface="+mn-ea"/>
              </a:rPr>
              <a:t>（一）培养学生综合运用专业基础理论、基础知识和基本技能的能力，培养学生独立分析问题和解决实际问题的能力，培养学生的创新意识和实践能力，使学生得到科学研究的初步训练。</a:t>
            </a:r>
            <a:endParaRPr lang="zh-CN" altLang="en-US" sz="2000" dirty="0">
              <a:sym typeface="+mn-ea"/>
            </a:endParaRPr>
          </a:p>
          <a:p>
            <a:pPr marL="800100" lvl="1" indent="-342900">
              <a:lnSpc>
                <a:spcPct val="150000"/>
              </a:lnSpc>
              <a:buFont typeface="Wingdings" panose="05000000000000000000" charset="0"/>
              <a:buChar char="Ø"/>
            </a:pPr>
            <a:endParaRPr lang="zh-CN" altLang="en-US" sz="1000" dirty="0"/>
          </a:p>
          <a:p>
            <a:pPr marL="800100" lvl="1" indent="-342900">
              <a:lnSpc>
                <a:spcPct val="150000"/>
              </a:lnSpc>
              <a:buFont typeface="Wingdings" panose="05000000000000000000" charset="0"/>
              <a:buChar char="Ø"/>
            </a:pPr>
            <a:r>
              <a:rPr lang="zh-CN" altLang="en-US" sz="2000" dirty="0">
                <a:sym typeface="+mn-ea"/>
              </a:rPr>
              <a:t>（二）进一步训练和提高学生的分析设计能力、社会调查能力、外文阅读能力、资料查询与文献检索能力、运用专业手段及科学方法获取相关信息的能力和文字表达能力等。</a:t>
            </a:r>
            <a:endParaRPr lang="zh-CN" altLang="en-US" sz="2000" dirty="0">
              <a:sym typeface="+mn-ea"/>
            </a:endParaRPr>
          </a:p>
          <a:p>
            <a:pPr marL="800100" lvl="1" indent="-342900">
              <a:lnSpc>
                <a:spcPct val="150000"/>
              </a:lnSpc>
              <a:buFont typeface="Wingdings" panose="05000000000000000000" charset="0"/>
              <a:buChar char="Ø"/>
            </a:pPr>
            <a:endParaRPr lang="zh-CN" altLang="en-US" sz="1000" dirty="0"/>
          </a:p>
          <a:p>
            <a:pPr marL="800100" lvl="1" indent="-342900">
              <a:lnSpc>
                <a:spcPct val="150000"/>
              </a:lnSpc>
              <a:buFont typeface="Wingdings" panose="05000000000000000000" charset="0"/>
              <a:buChar char="Ø"/>
            </a:pPr>
            <a:r>
              <a:rPr lang="zh-CN" altLang="en-US" sz="2000" dirty="0">
                <a:sym typeface="+mn-ea"/>
              </a:rPr>
              <a:t>（三）培养学生正确的思想方法、理论联系实际的学风和严谨认真的科学态度。</a:t>
            </a:r>
            <a:endParaRPr lang="zh-CN" altLang="en-US" sz="2000" dirty="0"/>
          </a:p>
          <a:p>
            <a:pPr marL="342900" indent="-342900">
              <a:lnSpc>
                <a:spcPct val="150000"/>
              </a:lnSpc>
            </a:pPr>
            <a:endParaRPr altLang="zh-CN" sz="2000"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校训"/>
          <p:cNvPicPr>
            <a:picLocks noChangeAspect="1"/>
          </p:cNvPicPr>
          <p:nvPr/>
        </p:nvPicPr>
        <p:blipFill>
          <a:blip r:embed="rId1"/>
          <a:stretch>
            <a:fillRect/>
          </a:stretch>
        </p:blipFill>
        <p:spPr>
          <a:xfrm>
            <a:off x="9098420" y="320358"/>
            <a:ext cx="2956560" cy="400050"/>
          </a:xfrm>
          <a:prstGeom prst="rect">
            <a:avLst/>
          </a:prstGeom>
        </p:spPr>
      </p:pic>
      <p:sp>
        <p:nvSpPr>
          <p:cNvPr id="5" name="Text Placeholder 4"/>
          <p:cNvSpPr txBox="1"/>
          <p:nvPr/>
        </p:nvSpPr>
        <p:spPr>
          <a:xfrm>
            <a:off x="260508" y="334169"/>
            <a:ext cx="2422208" cy="372428"/>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sz="3000" b="1" dirty="0">
                <a:solidFill>
                  <a:srgbClr val="C00000"/>
                </a:solidFill>
                <a:latin typeface="微软雅黑" panose="020B0503020204020204" charset="-122"/>
                <a:ea typeface="微软雅黑" panose="020B0503020204020204" charset="-122"/>
              </a:rPr>
              <a:t>目录</a:t>
            </a:r>
            <a:r>
              <a:rPr lang="en-US" altLang="zh-CN" sz="3000" b="1" dirty="0">
                <a:solidFill>
                  <a:srgbClr val="C00000"/>
                </a:solidFill>
                <a:latin typeface="微软雅黑" panose="020B0503020204020204" charset="-122"/>
                <a:ea typeface="微软雅黑" panose="020B0503020204020204" charset="-122"/>
              </a:rPr>
              <a:t>/</a:t>
            </a:r>
            <a:r>
              <a:rPr lang="en-US" altLang="zh-CN" sz="1800" b="1" dirty="0">
                <a:solidFill>
                  <a:srgbClr val="C00000"/>
                </a:solidFill>
                <a:latin typeface="微软雅黑" panose="020B0503020204020204" charset="-122"/>
                <a:ea typeface="微软雅黑" panose="020B0503020204020204" charset="-122"/>
              </a:rPr>
              <a:t>Contents</a:t>
            </a:r>
            <a:endParaRPr lang="en-US" altLang="zh-CN" sz="1800" b="1" dirty="0">
              <a:solidFill>
                <a:srgbClr val="C00000"/>
              </a:solidFill>
              <a:latin typeface="微软雅黑" panose="020B0503020204020204" charset="-122"/>
              <a:ea typeface="微软雅黑" panose="020B0503020204020204" charset="-122"/>
            </a:endParaRPr>
          </a:p>
        </p:txBody>
      </p:sp>
      <p:cxnSp>
        <p:nvCxnSpPr>
          <p:cNvPr id="6" name="直接连接符 5"/>
          <p:cNvCxnSpPr/>
          <p:nvPr/>
        </p:nvCxnSpPr>
        <p:spPr>
          <a:xfrm>
            <a:off x="125835" y="820722"/>
            <a:ext cx="11929145"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pic>
        <p:nvPicPr>
          <p:cNvPr id="9" name="图片 8" descr="ycu"/>
          <p:cNvPicPr>
            <a:picLocks noChangeAspect="1"/>
          </p:cNvPicPr>
          <p:nvPr/>
        </p:nvPicPr>
        <p:blipFill>
          <a:blip r:embed="rId2"/>
          <a:stretch>
            <a:fillRect/>
          </a:stretch>
        </p:blipFill>
        <p:spPr>
          <a:xfrm>
            <a:off x="0" y="4552950"/>
            <a:ext cx="2943225" cy="2305050"/>
          </a:xfrm>
          <a:prstGeom prst="rect">
            <a:avLst/>
          </a:prstGeom>
          <a:noFill/>
          <a:ln w="9525">
            <a:noFill/>
          </a:ln>
        </p:spPr>
      </p:pic>
      <p:grpSp>
        <p:nvGrpSpPr>
          <p:cNvPr id="10" name="组合 40"/>
          <p:cNvGrpSpPr/>
          <p:nvPr/>
        </p:nvGrpSpPr>
        <p:grpSpPr bwMode="auto">
          <a:xfrm>
            <a:off x="5417344" y="4607719"/>
            <a:ext cx="506730" cy="431006"/>
            <a:chOff x="3050167" y="1844084"/>
            <a:chExt cx="834144" cy="678092"/>
          </a:xfrm>
          <a:solidFill>
            <a:schemeClr val="bg1">
              <a:lumMod val="50000"/>
            </a:schemeClr>
          </a:solidFill>
        </p:grpSpPr>
        <p:sp>
          <p:nvSpPr>
            <p:cNvPr id="11" name="任意多边形 17"/>
            <p:cNvSpPr/>
            <p:nvPr/>
          </p:nvSpPr>
          <p:spPr>
            <a:xfrm rot="8100000" flipV="1">
              <a:off x="3050167" y="1844084"/>
              <a:ext cx="834144" cy="678092"/>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gr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825"/>
            </a:p>
          </p:txBody>
        </p:sp>
        <p:sp>
          <p:nvSpPr>
            <p:cNvPr id="12" name="文本框 42"/>
            <p:cNvSpPr txBox="1">
              <a:spLocks noChangeArrowheads="1"/>
            </p:cNvSpPr>
            <p:nvPr/>
          </p:nvSpPr>
          <p:spPr bwMode="auto">
            <a:xfrm>
              <a:off x="3123828" y="1901391"/>
              <a:ext cx="726001" cy="579438"/>
            </a:xfrm>
            <a:prstGeom prst="rect">
              <a:avLst/>
            </a:prstGeom>
            <a:grpFill/>
            <a:ln w="9525">
              <a:noFill/>
              <a:miter lim="800000"/>
            </a:ln>
          </p:spPr>
          <p:txBody>
            <a:bodyPr>
              <a:spAutoFit/>
            </a:bodyPr>
            <a:lstStyle/>
            <a:p>
              <a:r>
                <a:rPr lang="en-US" altLang="zh-CN" sz="1800">
                  <a:solidFill>
                    <a:schemeClr val="bg1"/>
                  </a:solidFill>
                  <a:latin typeface="Impact" panose="020B0806030902050204" pitchFamily="34" charset="0"/>
                </a:rPr>
                <a:t>04</a:t>
              </a:r>
              <a:endParaRPr lang="zh-CN" altLang="en-US" sz="1800">
                <a:solidFill>
                  <a:schemeClr val="bg1"/>
                </a:solidFill>
                <a:latin typeface="Impact" panose="020B0806030902050204" pitchFamily="34" charset="0"/>
              </a:endParaRPr>
            </a:p>
          </p:txBody>
        </p:sp>
      </p:grpSp>
      <p:grpSp>
        <p:nvGrpSpPr>
          <p:cNvPr id="13" name="组合 43"/>
          <p:cNvGrpSpPr/>
          <p:nvPr/>
        </p:nvGrpSpPr>
        <p:grpSpPr bwMode="auto">
          <a:xfrm>
            <a:off x="5417344" y="3778091"/>
            <a:ext cx="506730" cy="441484"/>
            <a:chOff x="3050167" y="1844084"/>
            <a:chExt cx="834142" cy="678092"/>
          </a:xfrm>
          <a:solidFill>
            <a:schemeClr val="bg1">
              <a:lumMod val="50000"/>
            </a:schemeClr>
          </a:solidFill>
        </p:grpSpPr>
        <p:sp>
          <p:nvSpPr>
            <p:cNvPr id="14" name="任意多边形 20"/>
            <p:cNvSpPr/>
            <p:nvPr/>
          </p:nvSpPr>
          <p:spPr>
            <a:xfrm rot="8100000" flipV="1">
              <a:off x="3050167" y="1844084"/>
              <a:ext cx="834142" cy="678092"/>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gr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825"/>
            </a:p>
          </p:txBody>
        </p:sp>
        <p:sp>
          <p:nvSpPr>
            <p:cNvPr id="15" name="文本框 45"/>
            <p:cNvSpPr txBox="1">
              <a:spLocks noChangeArrowheads="1"/>
            </p:cNvSpPr>
            <p:nvPr/>
          </p:nvSpPr>
          <p:spPr bwMode="auto">
            <a:xfrm>
              <a:off x="3123828" y="1885458"/>
              <a:ext cx="726001" cy="565686"/>
            </a:xfrm>
            <a:prstGeom prst="rect">
              <a:avLst/>
            </a:prstGeom>
            <a:grpFill/>
            <a:ln w="9525">
              <a:noFill/>
              <a:miter lim="800000"/>
            </a:ln>
          </p:spPr>
          <p:txBody>
            <a:bodyPr>
              <a:spAutoFit/>
            </a:bodyPr>
            <a:lstStyle/>
            <a:p>
              <a:r>
                <a:rPr lang="en-US" altLang="zh-CN" sz="1800" dirty="0">
                  <a:solidFill>
                    <a:schemeClr val="bg1"/>
                  </a:solidFill>
                  <a:latin typeface="Impact" panose="020B0806030902050204" pitchFamily="34" charset="0"/>
                </a:rPr>
                <a:t>03</a:t>
              </a:r>
              <a:endParaRPr lang="zh-CN" altLang="en-US" sz="1800" dirty="0">
                <a:solidFill>
                  <a:schemeClr val="bg1"/>
                </a:solidFill>
                <a:latin typeface="Impact" panose="020B0806030902050204" pitchFamily="34" charset="0"/>
              </a:endParaRPr>
            </a:p>
          </p:txBody>
        </p:sp>
      </p:grpSp>
      <p:grpSp>
        <p:nvGrpSpPr>
          <p:cNvPr id="16" name="组合 46"/>
          <p:cNvGrpSpPr/>
          <p:nvPr/>
        </p:nvGrpSpPr>
        <p:grpSpPr bwMode="auto">
          <a:xfrm>
            <a:off x="5417344" y="2986087"/>
            <a:ext cx="506730" cy="403860"/>
            <a:chOff x="3050349" y="1844085"/>
            <a:chExt cx="833779" cy="678092"/>
          </a:xfrm>
          <a:gradFill>
            <a:gsLst>
              <a:gs pos="0">
                <a:srgbClr val="FD4343"/>
              </a:gs>
              <a:gs pos="0">
                <a:srgbClr val="E30000"/>
              </a:gs>
              <a:gs pos="100000">
                <a:srgbClr val="C00000"/>
              </a:gs>
            </a:gsLst>
            <a:lin ang="5400000" scaled="0"/>
          </a:gradFill>
        </p:grpSpPr>
        <p:sp>
          <p:nvSpPr>
            <p:cNvPr id="17" name="任意多边形 29"/>
            <p:cNvSpPr/>
            <p:nvPr/>
          </p:nvSpPr>
          <p:spPr>
            <a:xfrm rot="8100000" flipV="1">
              <a:off x="3050349" y="1844085"/>
              <a:ext cx="833779" cy="678092"/>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gr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825"/>
            </a:p>
          </p:txBody>
        </p:sp>
        <p:sp>
          <p:nvSpPr>
            <p:cNvPr id="18" name="文本框 48"/>
            <p:cNvSpPr txBox="1">
              <a:spLocks noChangeArrowheads="1"/>
            </p:cNvSpPr>
            <p:nvPr/>
          </p:nvSpPr>
          <p:spPr bwMode="auto">
            <a:xfrm>
              <a:off x="3123827" y="1885460"/>
              <a:ext cx="726001" cy="618386"/>
            </a:xfrm>
            <a:prstGeom prst="rect">
              <a:avLst/>
            </a:prstGeom>
            <a:noFill/>
            <a:ln w="9525">
              <a:noFill/>
              <a:miter lim="800000"/>
            </a:ln>
          </p:spPr>
          <p:txBody>
            <a:bodyPr>
              <a:spAutoFit/>
            </a:bodyPr>
            <a:lstStyle/>
            <a:p>
              <a:r>
                <a:rPr lang="en-US" altLang="zh-CN" sz="1800" dirty="0">
                  <a:solidFill>
                    <a:schemeClr val="bg1"/>
                  </a:solidFill>
                  <a:latin typeface="Impact" panose="020B0806030902050204" pitchFamily="34" charset="0"/>
                </a:rPr>
                <a:t>02</a:t>
              </a:r>
              <a:endParaRPr lang="zh-CN" altLang="en-US" sz="1800" dirty="0">
                <a:solidFill>
                  <a:schemeClr val="bg1"/>
                </a:solidFill>
                <a:latin typeface="Impact" panose="020B0806030902050204" pitchFamily="34" charset="0"/>
              </a:endParaRPr>
            </a:p>
          </p:txBody>
        </p:sp>
      </p:grpSp>
      <p:grpSp>
        <p:nvGrpSpPr>
          <p:cNvPr id="19" name="组合 18"/>
          <p:cNvGrpSpPr/>
          <p:nvPr/>
        </p:nvGrpSpPr>
        <p:grpSpPr>
          <a:xfrm>
            <a:off x="6096000" y="2943225"/>
            <a:ext cx="3843338" cy="477679"/>
            <a:chOff x="6315199" y="2410178"/>
            <a:chExt cx="3744416" cy="511504"/>
          </a:xfrm>
          <a:noFill/>
        </p:grpSpPr>
        <p:sp>
          <p:nvSpPr>
            <p:cNvPr id="20" name="圆角矩形 35"/>
            <p:cNvSpPr/>
            <p:nvPr/>
          </p:nvSpPr>
          <p:spPr>
            <a:xfrm>
              <a:off x="6315199" y="2410178"/>
              <a:ext cx="3744416" cy="511504"/>
            </a:xfrm>
            <a:prstGeom prst="roundRect">
              <a:avLst/>
            </a:prstGeom>
            <a:grpFill/>
            <a:ln>
              <a:solidFill>
                <a:srgbClr val="C000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70" tIns="45735" rIns="91470" bIns="45735" anchor="ctr"/>
            <a:lstStyle/>
            <a:p>
              <a:pPr algn="ctr">
                <a:defRPr/>
              </a:pPr>
              <a:endParaRPr lang="zh-CN" altLang="en-US" sz="2025" dirty="0">
                <a:latin typeface="+mj-lt"/>
                <a:ea typeface="Arial Unicode MS" panose="020B0604020202020204" charset="-122"/>
                <a:cs typeface="Arial Unicode MS" panose="020B0604020202020204" charset="-122"/>
              </a:endParaRPr>
            </a:p>
          </p:txBody>
        </p:sp>
        <p:sp>
          <p:nvSpPr>
            <p:cNvPr id="21" name="矩形 20"/>
            <p:cNvSpPr/>
            <p:nvPr/>
          </p:nvSpPr>
          <p:spPr>
            <a:xfrm>
              <a:off x="6452744" y="2450573"/>
              <a:ext cx="2978431" cy="394380"/>
            </a:xfrm>
            <a:prstGeom prst="rect">
              <a:avLst/>
            </a:prstGeom>
            <a:grpFill/>
            <a:ln>
              <a:noFill/>
            </a:ln>
          </p:spPr>
          <p:txBody>
            <a:bodyPr wrap="square" lIns="91470" tIns="45735" rIns="91470" bIns="45735">
              <a:spAutoFit/>
            </a:bodyPr>
            <a:lstStyle/>
            <a:p>
              <a:pPr algn="l">
                <a:defRPr/>
              </a:pPr>
              <a:r>
                <a:rPr lang="zh-CN" altLang="en-US" sz="1800" b="1" kern="100" dirty="0">
                  <a:solidFill>
                    <a:srgbClr val="C00000"/>
                  </a:solidFill>
                  <a:latin typeface="微软雅黑" panose="020B0503020204020204" charset="-122"/>
                  <a:ea typeface="微软雅黑" panose="020B0503020204020204" charset="-122"/>
                  <a:cs typeface="Times New Roman" panose="02020603050405020304" pitchFamily="18" charset="0"/>
                </a:rPr>
                <a:t>毕业设计步骤与方法目标</a:t>
              </a:r>
              <a:endParaRPr lang="zh-CN" altLang="en-US" sz="1800" b="1" kern="100" dirty="0">
                <a:solidFill>
                  <a:srgbClr val="C00000"/>
                </a:solidFill>
                <a:latin typeface="微软雅黑" panose="020B0503020204020204" charset="-122"/>
                <a:ea typeface="微软雅黑" panose="020B0503020204020204" charset="-122"/>
                <a:cs typeface="Times New Roman" panose="02020603050405020304" pitchFamily="18" charset="0"/>
              </a:endParaRPr>
            </a:p>
          </p:txBody>
        </p:sp>
      </p:grpSp>
      <p:grpSp>
        <p:nvGrpSpPr>
          <p:cNvPr id="22" name="组合 21"/>
          <p:cNvGrpSpPr/>
          <p:nvPr/>
        </p:nvGrpSpPr>
        <p:grpSpPr>
          <a:xfrm>
            <a:off x="6096678" y="3748087"/>
            <a:ext cx="3871059" cy="477679"/>
            <a:chOff x="6339097" y="3296031"/>
            <a:chExt cx="3744416" cy="511504"/>
          </a:xfrm>
          <a:solidFill>
            <a:schemeClr val="bg1">
              <a:lumMod val="50000"/>
            </a:schemeClr>
          </a:solidFill>
        </p:grpSpPr>
        <p:sp>
          <p:nvSpPr>
            <p:cNvPr id="23" name="圆角矩形 38"/>
            <p:cNvSpPr/>
            <p:nvPr/>
          </p:nvSpPr>
          <p:spPr>
            <a:xfrm>
              <a:off x="6339097" y="3296031"/>
              <a:ext cx="3744416" cy="511504"/>
            </a:xfrm>
            <a:prstGeom prst="roundRect">
              <a:avLst/>
            </a:prstGeom>
            <a:grpFill/>
            <a:ln>
              <a:solidFill>
                <a:srgbClr val="C000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70" tIns="45735" rIns="91470" bIns="45735" anchor="ctr"/>
            <a:lstStyle/>
            <a:p>
              <a:pPr algn="ctr">
                <a:defRPr/>
              </a:pPr>
              <a:endParaRPr lang="zh-CN" altLang="en-US" sz="2025" dirty="0">
                <a:solidFill>
                  <a:schemeClr val="bg1"/>
                </a:solidFill>
                <a:latin typeface="+mj-lt"/>
                <a:ea typeface="Arial Unicode MS" panose="020B0604020202020204" charset="-122"/>
                <a:cs typeface="Arial Unicode MS" panose="020B0604020202020204" charset="-122"/>
              </a:endParaRPr>
            </a:p>
          </p:txBody>
        </p:sp>
        <p:sp>
          <p:nvSpPr>
            <p:cNvPr id="24" name="矩形 23"/>
            <p:cNvSpPr/>
            <p:nvPr/>
          </p:nvSpPr>
          <p:spPr>
            <a:xfrm>
              <a:off x="6485700" y="3336612"/>
              <a:ext cx="3528727" cy="394380"/>
            </a:xfrm>
            <a:prstGeom prst="rect">
              <a:avLst/>
            </a:prstGeom>
            <a:grpFill/>
            <a:ln>
              <a:noFill/>
            </a:ln>
          </p:spPr>
          <p:txBody>
            <a:bodyPr wrap="square" lIns="91470" tIns="45735" rIns="91470" bIns="45735">
              <a:spAutoFit/>
            </a:bodyPr>
            <a:lstStyle/>
            <a:p>
              <a:pPr algn="l">
                <a:defRPr/>
              </a:pPr>
              <a:endParaRPr lang="zh-CN" altLang="en-US" sz="1800" b="1" kern="100" dirty="0">
                <a:solidFill>
                  <a:schemeClr val="bg1"/>
                </a:solidFill>
                <a:latin typeface="微软雅黑" panose="020B0503020204020204" charset="-122"/>
                <a:ea typeface="微软雅黑" panose="020B0503020204020204" charset="-122"/>
                <a:cs typeface="Times New Roman" panose="02020603050405020304" pitchFamily="18" charset="0"/>
              </a:endParaRPr>
            </a:p>
          </p:txBody>
        </p:sp>
      </p:grpSp>
      <p:grpSp>
        <p:nvGrpSpPr>
          <p:cNvPr id="25" name="组合 24"/>
          <p:cNvGrpSpPr/>
          <p:nvPr/>
        </p:nvGrpSpPr>
        <p:grpSpPr>
          <a:xfrm>
            <a:off x="6096000" y="3802775"/>
            <a:ext cx="3843338" cy="1227853"/>
            <a:chOff x="6339097" y="3377608"/>
            <a:chExt cx="3744416" cy="1314799"/>
          </a:xfrm>
          <a:solidFill>
            <a:schemeClr val="bg1">
              <a:lumMod val="50000"/>
            </a:schemeClr>
          </a:solidFill>
        </p:grpSpPr>
        <p:sp>
          <p:nvSpPr>
            <p:cNvPr id="26" name="圆角矩形 41"/>
            <p:cNvSpPr/>
            <p:nvPr/>
          </p:nvSpPr>
          <p:spPr>
            <a:xfrm>
              <a:off x="6339097" y="4180903"/>
              <a:ext cx="3744416" cy="511504"/>
            </a:xfrm>
            <a:prstGeom prst="roundRect">
              <a:avLst/>
            </a:prstGeom>
            <a:grpFill/>
            <a:ln>
              <a:solidFill>
                <a:srgbClr val="C000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70" tIns="45735" rIns="91470" bIns="45735" anchor="ctr"/>
            <a:lstStyle/>
            <a:p>
              <a:pPr algn="ctr">
                <a:defRPr/>
              </a:pPr>
              <a:endParaRPr lang="zh-CN" altLang="en-US" sz="2025" dirty="0">
                <a:solidFill>
                  <a:schemeClr val="bg1"/>
                </a:solidFill>
                <a:latin typeface="+mj-lt"/>
                <a:ea typeface="Arial Unicode MS" panose="020B0604020202020204" charset="-122"/>
                <a:cs typeface="Arial Unicode MS" panose="020B0604020202020204" charset="-122"/>
              </a:endParaRPr>
            </a:p>
          </p:txBody>
        </p:sp>
        <p:sp>
          <p:nvSpPr>
            <p:cNvPr id="27" name="矩形 26"/>
            <p:cNvSpPr/>
            <p:nvPr/>
          </p:nvSpPr>
          <p:spPr>
            <a:xfrm>
              <a:off x="6451252" y="3377608"/>
              <a:ext cx="3554179" cy="394380"/>
            </a:xfrm>
            <a:prstGeom prst="rect">
              <a:avLst/>
            </a:prstGeom>
            <a:grpFill/>
          </p:spPr>
          <p:txBody>
            <a:bodyPr wrap="square" lIns="91470" tIns="45735" rIns="91470" bIns="45735">
              <a:spAutoFit/>
            </a:bodyPr>
            <a:lstStyle/>
            <a:p>
              <a:pPr algn="l">
                <a:defRPr/>
              </a:pPr>
              <a:r>
                <a:rPr lang="zh-CN" altLang="en-US" sz="1800" b="1" kern="100" dirty="0">
                  <a:solidFill>
                    <a:schemeClr val="bg1"/>
                  </a:solidFill>
                  <a:latin typeface="微软雅黑" panose="020B0503020204020204" charset="-122"/>
                  <a:ea typeface="微软雅黑" panose="020B0503020204020204" charset="-122"/>
                  <a:cs typeface="Times New Roman" panose="02020603050405020304" pitchFamily="18" charset="0"/>
                </a:rPr>
                <a:t>毕业设计论文撰写方法与要求</a:t>
              </a:r>
              <a:endParaRPr lang="zh-CN" altLang="en-US" sz="1800" b="1" kern="100" dirty="0">
                <a:solidFill>
                  <a:schemeClr val="bg1"/>
                </a:solidFill>
                <a:latin typeface="微软雅黑" panose="020B0503020204020204" charset="-122"/>
                <a:ea typeface="微软雅黑" panose="020B0503020204020204" charset="-122"/>
                <a:cs typeface="Times New Roman" panose="02020603050405020304" pitchFamily="18" charset="0"/>
              </a:endParaRPr>
            </a:p>
          </p:txBody>
        </p:sp>
      </p:grpSp>
      <p:grpSp>
        <p:nvGrpSpPr>
          <p:cNvPr id="28" name="组合 9"/>
          <p:cNvGrpSpPr/>
          <p:nvPr/>
        </p:nvGrpSpPr>
        <p:grpSpPr bwMode="auto">
          <a:xfrm>
            <a:off x="5386388" y="2189797"/>
            <a:ext cx="559118" cy="408146"/>
            <a:chOff x="3050349" y="1844085"/>
            <a:chExt cx="833779" cy="678092"/>
          </a:xfrm>
          <a:solidFill>
            <a:schemeClr val="bg1">
              <a:lumMod val="50000"/>
            </a:schemeClr>
          </a:solidFill>
        </p:grpSpPr>
        <p:sp>
          <p:nvSpPr>
            <p:cNvPr id="29" name="任意多边形 105"/>
            <p:cNvSpPr/>
            <p:nvPr/>
          </p:nvSpPr>
          <p:spPr>
            <a:xfrm rot="8100000" flipV="1">
              <a:off x="3050349" y="1844085"/>
              <a:ext cx="833779" cy="678092"/>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gr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825"/>
            </a:p>
          </p:txBody>
        </p:sp>
        <p:sp>
          <p:nvSpPr>
            <p:cNvPr id="30" name="文本框 6"/>
            <p:cNvSpPr txBox="1">
              <a:spLocks noChangeArrowheads="1"/>
            </p:cNvSpPr>
            <p:nvPr/>
          </p:nvSpPr>
          <p:spPr bwMode="auto">
            <a:xfrm>
              <a:off x="3146443" y="1890742"/>
              <a:ext cx="611465" cy="611892"/>
            </a:xfrm>
            <a:prstGeom prst="rect">
              <a:avLst/>
            </a:prstGeom>
            <a:grpFill/>
            <a:ln w="9525">
              <a:noFill/>
              <a:miter lim="800000"/>
            </a:ln>
          </p:spPr>
          <p:txBody>
            <a:bodyPr>
              <a:spAutoFit/>
            </a:bodyPr>
            <a:lstStyle/>
            <a:p>
              <a:r>
                <a:rPr lang="en-US" altLang="zh-CN" sz="1800" dirty="0">
                  <a:solidFill>
                    <a:schemeClr val="bg1"/>
                  </a:solidFill>
                  <a:latin typeface="Impact" panose="020B0806030902050204" pitchFamily="34" charset="0"/>
                </a:rPr>
                <a:t>01</a:t>
              </a:r>
              <a:endParaRPr lang="zh-CN" altLang="en-US" sz="1800" dirty="0">
                <a:solidFill>
                  <a:schemeClr val="bg1"/>
                </a:solidFill>
                <a:latin typeface="Impact" panose="020B0806030902050204" pitchFamily="34" charset="0"/>
              </a:endParaRPr>
            </a:p>
          </p:txBody>
        </p:sp>
      </p:grpSp>
      <p:grpSp>
        <p:nvGrpSpPr>
          <p:cNvPr id="31" name="组合 30"/>
          <p:cNvGrpSpPr/>
          <p:nvPr/>
        </p:nvGrpSpPr>
        <p:grpSpPr>
          <a:xfrm>
            <a:off x="6065044" y="2138362"/>
            <a:ext cx="3843338" cy="477679"/>
            <a:chOff x="6339097" y="1573726"/>
            <a:chExt cx="3744416" cy="511504"/>
          </a:xfrm>
          <a:solidFill>
            <a:schemeClr val="bg1">
              <a:lumMod val="50000"/>
            </a:schemeClr>
          </a:solidFill>
        </p:grpSpPr>
        <p:sp>
          <p:nvSpPr>
            <p:cNvPr id="32" name="圆角矩形 108"/>
            <p:cNvSpPr/>
            <p:nvPr/>
          </p:nvSpPr>
          <p:spPr>
            <a:xfrm>
              <a:off x="6339097" y="1573726"/>
              <a:ext cx="3744416" cy="511504"/>
            </a:xfrm>
            <a:prstGeom prst="roundRect">
              <a:avLst/>
            </a:prstGeom>
            <a:grpFill/>
            <a:ln>
              <a:solidFill>
                <a:srgbClr val="C000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70" tIns="45735" rIns="91470" bIns="45735" anchor="ctr"/>
            <a:lstStyle/>
            <a:p>
              <a:pPr algn="ctr">
                <a:defRPr/>
              </a:pPr>
              <a:endParaRPr lang="zh-CN" altLang="en-US" sz="2025" dirty="0">
                <a:solidFill>
                  <a:schemeClr val="bg1"/>
                </a:solidFill>
                <a:latin typeface="+mj-lt"/>
                <a:ea typeface="Arial Unicode MS" panose="020B0604020202020204" charset="-122"/>
                <a:cs typeface="Arial Unicode MS" panose="020B0604020202020204" charset="-122"/>
              </a:endParaRPr>
            </a:p>
          </p:txBody>
        </p:sp>
        <p:sp>
          <p:nvSpPr>
            <p:cNvPr id="33" name="矩形 32"/>
            <p:cNvSpPr/>
            <p:nvPr/>
          </p:nvSpPr>
          <p:spPr>
            <a:xfrm>
              <a:off x="6481411" y="1614121"/>
              <a:ext cx="3601902" cy="394380"/>
            </a:xfrm>
            <a:prstGeom prst="rect">
              <a:avLst/>
            </a:prstGeom>
            <a:grpFill/>
            <a:ln>
              <a:noFill/>
            </a:ln>
          </p:spPr>
          <p:txBody>
            <a:bodyPr wrap="square" lIns="91470" tIns="45735" rIns="91470" bIns="45735">
              <a:spAutoFit/>
            </a:bodyPr>
            <a:lstStyle/>
            <a:p>
              <a:pPr algn="l">
                <a:buClrTx/>
                <a:buSzTx/>
                <a:buFontTx/>
                <a:defRPr/>
              </a:pPr>
              <a:r>
                <a:rPr lang="zh-CN" altLang="en-US" sz="1800" b="1" kern="100" dirty="0">
                  <a:solidFill>
                    <a:schemeClr val="bg1"/>
                  </a:solidFill>
                  <a:latin typeface="微软雅黑" panose="020B0503020204020204" charset="-122"/>
                  <a:ea typeface="微软雅黑" panose="020B0503020204020204" charset="-122"/>
                  <a:cs typeface="Times New Roman" panose="02020603050405020304" pitchFamily="18" charset="0"/>
                  <a:sym typeface="+mn-ea"/>
                </a:rPr>
                <a:t>毕业设计的目的与要求</a:t>
              </a:r>
              <a:endParaRPr lang="zh-CN" altLang="en-US" sz="1800" b="1" kern="100" dirty="0">
                <a:solidFill>
                  <a:schemeClr val="bg1"/>
                </a:solidFill>
                <a:latin typeface="微软雅黑" panose="020B0503020204020204" charset="-122"/>
                <a:ea typeface="微软雅黑" panose="020B0503020204020204" charset="-122"/>
                <a:cs typeface="Times New Roman" panose="02020603050405020304" pitchFamily="18" charset="0"/>
              </a:endParaRPr>
            </a:p>
          </p:txBody>
        </p:sp>
      </p:grpSp>
      <p:cxnSp>
        <p:nvCxnSpPr>
          <p:cNvPr id="34" name="形状 10"/>
          <p:cNvCxnSpPr/>
          <p:nvPr/>
        </p:nvCxnSpPr>
        <p:spPr>
          <a:xfrm rot="10800000" flipH="1">
            <a:off x="2428524" y="3320304"/>
            <a:ext cx="1957718" cy="9525"/>
          </a:xfrm>
          <a:prstGeom prst="bentConnector5">
            <a:avLst>
              <a:gd name="adj1" fmla="val -8758"/>
              <a:gd name="adj2" fmla="val -10160767"/>
              <a:gd name="adj3" fmla="val 108758"/>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2400808" y="3646277"/>
            <a:ext cx="1880420" cy="530942"/>
          </a:xfrm>
          <a:prstGeom prst="rect">
            <a:avLst/>
          </a:prstGeom>
          <a:gradFill>
            <a:gsLst>
              <a:gs pos="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00"/>
          </a:p>
        </p:txBody>
      </p:sp>
      <p:pic>
        <p:nvPicPr>
          <p:cNvPr id="36" name="Picture 1" descr="G:\PPT制作素材\学校照片\IMG_0516.JPG"/>
          <p:cNvPicPr>
            <a:picLocks noChangeAspect="1" noChangeArrowheads="1"/>
          </p:cNvPicPr>
          <p:nvPr/>
        </p:nvPicPr>
        <p:blipFill>
          <a:blip r:embed="rId3"/>
          <a:srcRect/>
          <a:stretch>
            <a:fillRect/>
          </a:stretch>
        </p:blipFill>
        <p:spPr bwMode="auto">
          <a:xfrm>
            <a:off x="2520023" y="2735412"/>
            <a:ext cx="1993490" cy="1330032"/>
          </a:xfrm>
          <a:prstGeom prst="rect">
            <a:avLst/>
          </a:prstGeom>
          <a:noFill/>
        </p:spPr>
      </p:pic>
      <p:cxnSp>
        <p:nvCxnSpPr>
          <p:cNvPr id="37" name="直接连接符 36"/>
          <p:cNvCxnSpPr/>
          <p:nvPr/>
        </p:nvCxnSpPr>
        <p:spPr>
          <a:xfrm flipV="1">
            <a:off x="4974431" y="2175986"/>
            <a:ext cx="1429" cy="2782729"/>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38" name="矩形 37"/>
          <p:cNvSpPr/>
          <p:nvPr/>
        </p:nvSpPr>
        <p:spPr>
          <a:xfrm>
            <a:off x="6237178" y="4607638"/>
            <a:ext cx="3217215" cy="369362"/>
          </a:xfrm>
          <a:prstGeom prst="rect">
            <a:avLst/>
          </a:prstGeom>
          <a:solidFill>
            <a:schemeClr val="bg1">
              <a:lumMod val="50000"/>
            </a:schemeClr>
          </a:solidFill>
          <a:ln>
            <a:noFill/>
          </a:ln>
        </p:spPr>
        <p:txBody>
          <a:bodyPr wrap="square" lIns="91470" tIns="45735" rIns="91470" bIns="45735">
            <a:spAutoFit/>
          </a:bodyPr>
          <a:lstStyle/>
          <a:p>
            <a:pPr algn="l">
              <a:defRPr/>
            </a:pPr>
            <a:r>
              <a:rPr lang="zh-CN" altLang="en-US" sz="1800" b="1" kern="100" dirty="0">
                <a:solidFill>
                  <a:schemeClr val="bg1"/>
                </a:solidFill>
                <a:latin typeface="微软雅黑" panose="020B0503020204020204" charset="-122"/>
                <a:ea typeface="微软雅黑" panose="020B0503020204020204" charset="-122"/>
                <a:cs typeface="Times New Roman" panose="02020603050405020304" pitchFamily="18" charset="0"/>
              </a:rPr>
              <a:t>毕业论文抽检方法和实施细则</a:t>
            </a:r>
            <a:endParaRPr lang="zh-CN" altLang="en-US" sz="1800" b="1" kern="100" dirty="0">
              <a:solidFill>
                <a:schemeClr val="bg1"/>
              </a:solidFill>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ssolve">
                                      <p:cBhvr>
                                        <p:cTn id="7" dur="500"/>
                                        <p:tgtEl>
                                          <p:spTgt spid="5">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500"/>
                                        <p:tgtEl>
                                          <p:spTgt spid="28"/>
                                        </p:tgtEl>
                                      </p:cBhvr>
                                    </p:animEffect>
                                  </p:childTnLst>
                                </p:cTn>
                              </p:par>
                              <p:par>
                                <p:cTn id="15" presetID="10" presetClass="entr" presetSubtype="0" fill="hold" nodeType="withEffect">
                                  <p:stCondLst>
                                    <p:cond delay="30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par>
                                <p:cTn id="18" presetID="22" presetClass="entr" presetSubtype="8" fill="hold" nodeType="withEffect">
                                  <p:stCondLst>
                                    <p:cond delay="600"/>
                                  </p:stCondLst>
                                  <p:childTnLst>
                                    <p:set>
                                      <p:cBhvr>
                                        <p:cTn id="19" dur="1" fill="hold">
                                          <p:stCondLst>
                                            <p:cond delay="0"/>
                                          </p:stCondLst>
                                        </p:cTn>
                                        <p:tgtEl>
                                          <p:spTgt spid="19"/>
                                        </p:tgtEl>
                                        <p:attrNameLst>
                                          <p:attrName>style.visibility</p:attrName>
                                        </p:attrNameLst>
                                      </p:cBhvr>
                                      <p:to>
                                        <p:strVal val="visible"/>
                                      </p:to>
                                    </p:set>
                                    <p:animEffect transition="in" filter="wipe(left)">
                                      <p:cBhvr>
                                        <p:cTn id="20" dur="500"/>
                                        <p:tgtEl>
                                          <p:spTgt spid="19"/>
                                        </p:tgtEl>
                                      </p:cBhvr>
                                    </p:animEffect>
                                  </p:childTnLst>
                                </p:cTn>
                              </p:par>
                              <p:par>
                                <p:cTn id="21" presetID="10" presetClass="entr" presetSubtype="0" fill="hold" nodeType="withEffect">
                                  <p:stCondLst>
                                    <p:cond delay="60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22" presetClass="entr" presetSubtype="8" fill="hold" nodeType="withEffect">
                                  <p:stCondLst>
                                    <p:cond delay="900"/>
                                  </p:stCondLst>
                                  <p:childTnLst>
                                    <p:set>
                                      <p:cBhvr>
                                        <p:cTn id="25" dur="1" fill="hold">
                                          <p:stCondLst>
                                            <p:cond delay="0"/>
                                          </p:stCondLst>
                                        </p:cTn>
                                        <p:tgtEl>
                                          <p:spTgt spid="22"/>
                                        </p:tgtEl>
                                        <p:attrNameLst>
                                          <p:attrName>style.visibility</p:attrName>
                                        </p:attrNameLst>
                                      </p:cBhvr>
                                      <p:to>
                                        <p:strVal val="visible"/>
                                      </p:to>
                                    </p:set>
                                    <p:animEffect transition="in" filter="wipe(left)">
                                      <p:cBhvr>
                                        <p:cTn id="26" dur="500"/>
                                        <p:tgtEl>
                                          <p:spTgt spid="22"/>
                                        </p:tgtEl>
                                      </p:cBhvr>
                                    </p:animEffect>
                                  </p:childTnLst>
                                </p:cTn>
                              </p:par>
                              <p:par>
                                <p:cTn id="27" presetID="10" presetClass="entr" presetSubtype="0" fill="hold" nodeType="withEffect">
                                  <p:stCondLst>
                                    <p:cond delay="90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22" presetClass="entr" presetSubtype="8" fill="hold" nodeType="withEffect">
                                  <p:stCondLst>
                                    <p:cond delay="1200"/>
                                  </p:stCondLst>
                                  <p:childTnLst>
                                    <p:set>
                                      <p:cBhvr>
                                        <p:cTn id="31" dur="1" fill="hold">
                                          <p:stCondLst>
                                            <p:cond delay="0"/>
                                          </p:stCondLst>
                                        </p:cTn>
                                        <p:tgtEl>
                                          <p:spTgt spid="25"/>
                                        </p:tgtEl>
                                        <p:attrNameLst>
                                          <p:attrName>style.visibility</p:attrName>
                                        </p:attrNameLst>
                                      </p:cBhvr>
                                      <p:to>
                                        <p:strVal val="visible"/>
                                      </p:to>
                                    </p:set>
                                    <p:animEffect transition="in" filter="wipe(left)">
                                      <p:cBhvr>
                                        <p:cTn id="32" dur="500"/>
                                        <p:tgtEl>
                                          <p:spTgt spid="25"/>
                                        </p:tgtEl>
                                      </p:cBhvr>
                                    </p:animEffect>
                                  </p:childTnLst>
                                </p:cTn>
                              </p:par>
                              <p:par>
                                <p:cTn id="33" presetID="22" presetClass="entr" presetSubtype="8" fill="hold" nodeType="withEffect">
                                  <p:stCondLst>
                                    <p:cond delay="300"/>
                                  </p:stCondLst>
                                  <p:childTnLst>
                                    <p:set>
                                      <p:cBhvr>
                                        <p:cTn id="34" dur="1" fill="hold">
                                          <p:stCondLst>
                                            <p:cond delay="0"/>
                                          </p:stCondLst>
                                        </p:cTn>
                                        <p:tgtEl>
                                          <p:spTgt spid="31"/>
                                        </p:tgtEl>
                                        <p:attrNameLst>
                                          <p:attrName>style.visibility</p:attrName>
                                        </p:attrNameLst>
                                      </p:cBhvr>
                                      <p:to>
                                        <p:strVal val="visible"/>
                                      </p:to>
                                    </p:set>
                                    <p:animEffect transition="in" filter="wipe(left)">
                                      <p:cBhvr>
                                        <p:cTn id="35" dur="500"/>
                                        <p:tgtEl>
                                          <p:spTgt spid="31"/>
                                        </p:tgtEl>
                                      </p:cBhvr>
                                    </p:animEffect>
                                  </p:childTnLst>
                                </p:cTn>
                              </p:par>
                            </p:childTnLst>
                          </p:cTn>
                        </p:par>
                        <p:par>
                          <p:cTn id="36" fill="hold">
                            <p:stCondLst>
                              <p:cond delay="1000"/>
                            </p:stCondLst>
                            <p:childTnLst>
                              <p:par>
                                <p:cTn id="37" presetID="26" presetClass="emph" presetSubtype="0" fill="hold" nodeType="afterEffect">
                                  <p:stCondLst>
                                    <p:cond delay="0"/>
                                  </p:stCondLst>
                                  <p:childTnLst>
                                    <p:animEffect transition="out" filter="fade">
                                      <p:cBhvr>
                                        <p:cTn id="38" dur="500" tmFilter="0, 0; .2, .5; .8, .5; 1, 0"/>
                                        <p:tgtEl>
                                          <p:spTgt spid="28"/>
                                        </p:tgtEl>
                                      </p:cBhvr>
                                    </p:animEffect>
                                    <p:animScale>
                                      <p:cBhvr>
                                        <p:cTn id="39" dur="250" autoRev="1" fill="hold"/>
                                        <p:tgtEl>
                                          <p:spTgt spid="28"/>
                                        </p:tgtEl>
                                      </p:cBhvr>
                                      <p:by x="105000" y="105000"/>
                                    </p:animScale>
                                  </p:childTnLst>
                                </p:cTn>
                              </p:par>
                              <p:par>
                                <p:cTn id="40" presetID="26" presetClass="emph" presetSubtype="0" fill="hold" nodeType="withEffect">
                                  <p:stCondLst>
                                    <p:cond delay="0"/>
                                  </p:stCondLst>
                                  <p:childTnLst>
                                    <p:animEffect transition="out" filter="fade">
                                      <p:cBhvr>
                                        <p:cTn id="41" dur="500" tmFilter="0, 0; .2, .5; .8, .5; 1, 0"/>
                                        <p:tgtEl>
                                          <p:spTgt spid="31"/>
                                        </p:tgtEl>
                                      </p:cBhvr>
                                    </p:animEffect>
                                    <p:animScale>
                                      <p:cBhvr>
                                        <p:cTn id="42" dur="250" autoRev="1" fill="hold"/>
                                        <p:tgtEl>
                                          <p:spTgt spid="31"/>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02</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毕业设计步骤与方法目标</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3" name="文本框 2"/>
          <p:cNvSpPr txBox="1"/>
          <p:nvPr/>
        </p:nvSpPr>
        <p:spPr>
          <a:xfrm>
            <a:off x="430515" y="1568858"/>
            <a:ext cx="11330969" cy="3261727"/>
          </a:xfrm>
          <a:prstGeom prst="rect">
            <a:avLst/>
          </a:prstGeom>
          <a:noFill/>
          <a:ln w="9525">
            <a:noFill/>
          </a:ln>
        </p:spPr>
        <p:txBody>
          <a:bodyPr wrap="square">
            <a:spAutoFit/>
          </a:bodyPr>
          <a:lstStyle/>
          <a:p>
            <a:pPr algn="just">
              <a:lnSpc>
                <a:spcPct val="13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（一）开题</a:t>
            </a:r>
            <a:endParaRPr lang="zh-CN" altLang="en-US" sz="2000" dirty="0">
              <a:solidFill>
                <a:srgbClr val="0070C0"/>
              </a:solidFill>
              <a:latin typeface="微软雅黑" panose="020B0503020204020204" charset="-122"/>
              <a:ea typeface="微软雅黑" panose="020B0503020204020204" charset="-122"/>
            </a:endParaRPr>
          </a:p>
          <a:p>
            <a:pPr marL="800100" lvl="1" indent="-342900" algn="just">
              <a:lnSpc>
                <a:spcPct val="130000"/>
              </a:lnSpc>
              <a:buClrTx/>
              <a:buSzTx/>
              <a:buFont typeface="Wingdings" panose="05000000000000000000" charset="0"/>
              <a:buChar char="Ø"/>
            </a:pPr>
            <a:r>
              <a:rPr lang="zh-CN" altLang="en-US" sz="2000" dirty="0"/>
              <a:t>1.学生根据任务书的要求，在查阅相关文献资料的基础上，两周内撰写完成《宜春学院本科生毕业设计（论文）开题报告》（附件</a:t>
            </a:r>
            <a:r>
              <a:rPr lang="en-US" altLang="zh-CN" sz="2000" dirty="0"/>
              <a:t>4</a:t>
            </a:r>
            <a:r>
              <a:rPr lang="zh-CN" altLang="en-US" sz="2000" dirty="0"/>
              <a:t>）。</a:t>
            </a:r>
            <a:endParaRPr lang="zh-CN" altLang="en-US" sz="2000" dirty="0"/>
          </a:p>
          <a:p>
            <a:pPr marL="800100" lvl="1" indent="-342900" algn="just">
              <a:lnSpc>
                <a:spcPct val="130000"/>
              </a:lnSpc>
              <a:buClrTx/>
              <a:buSzTx/>
              <a:buFont typeface="Wingdings" panose="05000000000000000000" charset="0"/>
              <a:buChar char="Ø"/>
            </a:pPr>
            <a:endParaRPr lang="zh-CN" altLang="en-US" sz="2000" dirty="0"/>
          </a:p>
          <a:p>
            <a:pPr marL="800100" lvl="1" indent="-342900" algn="just">
              <a:lnSpc>
                <a:spcPct val="130000"/>
              </a:lnSpc>
              <a:buClrTx/>
              <a:buSzTx/>
              <a:buFont typeface="Wingdings" panose="05000000000000000000" charset="0"/>
              <a:buChar char="Ø"/>
            </a:pPr>
            <a:r>
              <a:rPr lang="zh-CN" altLang="en-US" sz="2000" dirty="0"/>
              <a:t>2.开题报告经指导教师审查认可并签字后，由系毕业设计（论文）工作领导小组统一安排组织开题答辩。</a:t>
            </a:r>
            <a:endParaRPr lang="en-US" altLang="zh-CN" sz="2000" dirty="0"/>
          </a:p>
          <a:p>
            <a:pPr marL="800100" lvl="1" indent="-342900" algn="just">
              <a:lnSpc>
                <a:spcPct val="130000"/>
              </a:lnSpc>
              <a:buClrTx/>
              <a:buSzTx/>
              <a:buFont typeface="Wingdings" panose="05000000000000000000" charset="0"/>
              <a:buChar char="Ø"/>
            </a:pPr>
            <a:endParaRPr lang="zh-CN" altLang="en-US" sz="2000" dirty="0"/>
          </a:p>
          <a:p>
            <a:pPr marL="800100" lvl="1" indent="-342900" algn="just">
              <a:lnSpc>
                <a:spcPct val="130000"/>
              </a:lnSpc>
              <a:buClrTx/>
              <a:buSzTx/>
              <a:buFont typeface="Wingdings" panose="05000000000000000000" charset="0"/>
              <a:buChar char="Ø"/>
            </a:pPr>
            <a:r>
              <a:rPr lang="zh-CN" altLang="en-US" sz="2000" dirty="0"/>
              <a:t>3.开题答辩未通过的学生须在指导教师的指导下重新开题。</a:t>
            </a:r>
            <a:endParaRPr lang="zh-CN" alt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02</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毕业设计步骤与方法目标</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4" name="文本框 3"/>
          <p:cNvSpPr txBox="1"/>
          <p:nvPr/>
        </p:nvSpPr>
        <p:spPr>
          <a:xfrm>
            <a:off x="438785" y="1384300"/>
            <a:ext cx="11523916" cy="4061946"/>
          </a:xfrm>
          <a:prstGeom prst="rect">
            <a:avLst/>
          </a:prstGeom>
          <a:noFill/>
          <a:ln w="9525">
            <a:noFill/>
          </a:ln>
        </p:spPr>
        <p:txBody>
          <a:bodyPr wrap="square">
            <a:spAutoFit/>
          </a:bodyPr>
          <a:lstStyle/>
          <a:p>
            <a:pPr algn="just">
              <a:lnSpc>
                <a:spcPct val="13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（二）开展研究</a:t>
            </a:r>
            <a:endParaRPr lang="zh-CN" altLang="en-US" sz="2000" dirty="0">
              <a:solidFill>
                <a:srgbClr val="0070C0"/>
              </a:solidFill>
              <a:latin typeface="微软雅黑" panose="020B0503020204020204" charset="-122"/>
              <a:ea typeface="微软雅黑" panose="020B0503020204020204" charset="-122"/>
            </a:endParaRPr>
          </a:p>
          <a:p>
            <a:pPr marL="800100" lvl="1" indent="-342900" algn="just">
              <a:lnSpc>
                <a:spcPct val="130000"/>
              </a:lnSpc>
              <a:buClrTx/>
              <a:buSzTx/>
              <a:buFont typeface="Wingdings" panose="05000000000000000000" charset="0"/>
              <a:buChar char="Ø"/>
            </a:pPr>
            <a:r>
              <a:rPr sz="2000" dirty="0"/>
              <a:t>1.学生根据任务书的要求和开题报告制定的研究计划，在指导教师的指导下，进一步查阅相关文献资料，开展研究，获得研究结果。</a:t>
            </a:r>
            <a:endParaRPr sz="2000" dirty="0"/>
          </a:p>
          <a:p>
            <a:pPr marL="800100" lvl="1" indent="-342900" algn="just">
              <a:lnSpc>
                <a:spcPct val="130000"/>
              </a:lnSpc>
              <a:buClrTx/>
              <a:buSzTx/>
              <a:buFont typeface="Wingdings" panose="05000000000000000000" charset="0"/>
              <a:buChar char="Ø"/>
            </a:pPr>
            <a:endParaRPr sz="2000" dirty="0"/>
          </a:p>
          <a:p>
            <a:pPr marL="800100" lvl="1" indent="-342900" algn="just">
              <a:lnSpc>
                <a:spcPct val="130000"/>
              </a:lnSpc>
              <a:buClrTx/>
              <a:buSzTx/>
              <a:buFont typeface="Wingdings" panose="05000000000000000000" charset="0"/>
              <a:buChar char="Ø"/>
            </a:pPr>
            <a:r>
              <a:rPr sz="2000" dirty="0"/>
              <a:t>2.指导教师应与学生约定每周指导的具体时间，及时了解学生研究工作的进展情况，有针对性地给予指导。</a:t>
            </a:r>
            <a:endParaRPr sz="2000" dirty="0"/>
          </a:p>
          <a:p>
            <a:pPr marL="800100" lvl="1" indent="-342900" algn="just">
              <a:lnSpc>
                <a:spcPct val="130000"/>
              </a:lnSpc>
              <a:buClrTx/>
              <a:buSzTx/>
              <a:buFont typeface="Wingdings" panose="05000000000000000000" charset="0"/>
              <a:buChar char="Ø"/>
            </a:pPr>
            <a:endParaRPr sz="2000" dirty="0"/>
          </a:p>
          <a:p>
            <a:pPr marL="800100" lvl="1" indent="-342900" algn="just">
              <a:lnSpc>
                <a:spcPct val="130000"/>
              </a:lnSpc>
              <a:buClrTx/>
              <a:buSzTx/>
              <a:buFont typeface="Wingdings" panose="05000000000000000000" charset="0"/>
              <a:buChar char="Ø"/>
            </a:pPr>
            <a:r>
              <a:rPr sz="2000" dirty="0"/>
              <a:t>3.学生应主动与指导教师联系，定期向指导教师汇报工作进展情况。学生无故缺席毕业设计（论文）时间累计达到毕业设计（论文）总时数的1/3时，指导教师有权终止学生继续开展毕业设计（论文）工作，并提供必要的证据材料，报所在系研究处理。</a:t>
            </a:r>
            <a:endParaRPr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02</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毕业设计步骤与方法目标</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3" name="文本框 2"/>
          <p:cNvSpPr txBox="1"/>
          <p:nvPr/>
        </p:nvSpPr>
        <p:spPr>
          <a:xfrm>
            <a:off x="438785" y="1384300"/>
            <a:ext cx="11507138" cy="4462055"/>
          </a:xfrm>
          <a:prstGeom prst="rect">
            <a:avLst/>
          </a:prstGeom>
          <a:noFill/>
          <a:ln w="9525">
            <a:noFill/>
          </a:ln>
        </p:spPr>
        <p:txBody>
          <a:bodyPr wrap="square">
            <a:spAutoFit/>
          </a:bodyPr>
          <a:lstStyle/>
          <a:p>
            <a:pPr algn="just">
              <a:lnSpc>
                <a:spcPct val="13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（三）毕业设计的系统开发与文档的撰写</a:t>
            </a:r>
            <a:endParaRPr lang="zh-CN" altLang="en-US" sz="2000" dirty="0">
              <a:solidFill>
                <a:srgbClr val="0070C0"/>
              </a:solidFill>
              <a:latin typeface="微软雅黑" panose="020B0503020204020204" charset="-122"/>
              <a:ea typeface="微软雅黑" panose="020B0503020204020204" charset="-122"/>
            </a:endParaRPr>
          </a:p>
          <a:p>
            <a:pPr marL="800100" lvl="1" indent="-342900" algn="just">
              <a:lnSpc>
                <a:spcPct val="130000"/>
              </a:lnSpc>
              <a:buClrTx/>
              <a:buSzTx/>
              <a:buFont typeface="Wingdings" panose="05000000000000000000" charset="0"/>
              <a:buChar char="Ø"/>
            </a:pPr>
            <a:r>
              <a:rPr lang="zh-CN" altLang="en-US" sz="2000" dirty="0"/>
              <a:t>1.</a:t>
            </a:r>
            <a:r>
              <a:rPr sz="2000" dirty="0">
                <a:sym typeface="+mn-ea"/>
              </a:rPr>
              <a:t>学生根据任务书的要求和开题报告制定的研究计划</a:t>
            </a:r>
            <a:r>
              <a:rPr lang="zh-CN" sz="2000" dirty="0">
                <a:ea typeface="宋体" panose="02010600030101010101" pitchFamily="2" charset="-122"/>
                <a:sym typeface="+mn-ea"/>
              </a:rPr>
              <a:t>，采用所选用的技术完成系统各项功能的开发</a:t>
            </a:r>
            <a:r>
              <a:rPr lang="zh-CN" altLang="en-US" sz="2000" dirty="0"/>
              <a:t>。</a:t>
            </a:r>
            <a:endParaRPr lang="en-US" altLang="zh-CN" sz="2000" dirty="0"/>
          </a:p>
          <a:p>
            <a:pPr marL="800100" lvl="1" indent="-342900" algn="just">
              <a:lnSpc>
                <a:spcPct val="130000"/>
              </a:lnSpc>
              <a:buClrTx/>
              <a:buSzTx/>
              <a:buFont typeface="Wingdings" panose="05000000000000000000" charset="0"/>
              <a:buChar char="Ø"/>
            </a:pPr>
            <a:endParaRPr lang="zh-CN" altLang="en-US" sz="2000" dirty="0"/>
          </a:p>
          <a:p>
            <a:pPr marL="800100" lvl="1" indent="-342900" algn="just">
              <a:lnSpc>
                <a:spcPct val="130000"/>
              </a:lnSpc>
              <a:buClrTx/>
              <a:buSzTx/>
              <a:buFont typeface="Wingdings" panose="05000000000000000000" charset="0"/>
              <a:buChar char="Ø"/>
            </a:pPr>
            <a:r>
              <a:rPr lang="en-US" altLang="zh-CN" sz="2000" dirty="0"/>
              <a:t>2</a:t>
            </a:r>
            <a:r>
              <a:rPr lang="zh-CN" altLang="en-US" sz="2000" dirty="0"/>
              <a:t>.参考学校给出的毕业设计论文的模块及撰写规范完成论文的撰写工作。</a:t>
            </a:r>
            <a:endParaRPr lang="en-US" altLang="zh-CN" sz="2000" dirty="0"/>
          </a:p>
          <a:p>
            <a:pPr marL="800100" lvl="1" indent="-342900" algn="just">
              <a:lnSpc>
                <a:spcPct val="130000"/>
              </a:lnSpc>
              <a:buClrTx/>
              <a:buSzTx/>
              <a:buFont typeface="Wingdings" panose="05000000000000000000" charset="0"/>
              <a:buChar char="Ø"/>
            </a:pPr>
            <a:endParaRPr lang="zh-CN" altLang="en-US" sz="2000" dirty="0"/>
          </a:p>
          <a:p>
            <a:pPr marL="800100" lvl="1" indent="-342900" algn="just">
              <a:lnSpc>
                <a:spcPct val="130000"/>
              </a:lnSpc>
              <a:buClrTx/>
              <a:buSzTx/>
              <a:buFont typeface="Wingdings" panose="05000000000000000000" charset="0"/>
              <a:buChar char="Ø"/>
            </a:pPr>
            <a:r>
              <a:rPr lang="en-US" altLang="zh-CN" sz="2000" dirty="0"/>
              <a:t>3</a:t>
            </a:r>
            <a:r>
              <a:rPr lang="zh-CN" altLang="en-US" sz="2000" dirty="0"/>
              <a:t>.初稿交指导教师审阅。原则上指导教师对毕业设计（论文）的审阅、修改应不少于3次。</a:t>
            </a:r>
            <a:endParaRPr lang="en-US" altLang="zh-CN" sz="2000" dirty="0"/>
          </a:p>
          <a:p>
            <a:pPr marL="800100" lvl="1" indent="-342900" algn="just">
              <a:lnSpc>
                <a:spcPct val="130000"/>
              </a:lnSpc>
              <a:buClrTx/>
              <a:buSzTx/>
              <a:buFont typeface="Wingdings" panose="05000000000000000000" charset="0"/>
              <a:buChar char="Ø"/>
            </a:pPr>
            <a:endParaRPr lang="zh-CN" altLang="en-US" sz="2000" dirty="0"/>
          </a:p>
          <a:p>
            <a:pPr marL="800100" lvl="1" indent="-342900" algn="just">
              <a:lnSpc>
                <a:spcPct val="130000"/>
              </a:lnSpc>
              <a:buClrTx/>
              <a:buSzTx/>
              <a:buFont typeface="Wingdings" panose="05000000000000000000" charset="0"/>
              <a:buChar char="Ø"/>
            </a:pPr>
            <a:r>
              <a:rPr lang="en-US" altLang="zh-CN" sz="2000" dirty="0">
                <a:sym typeface="+mn-ea"/>
              </a:rPr>
              <a:t>4</a:t>
            </a:r>
            <a:r>
              <a:rPr lang="zh-CN" altLang="en-US" sz="2000" dirty="0">
                <a:sym typeface="+mn-ea"/>
              </a:rPr>
              <a:t>.毕业设计（论文）的撰写应严格遵守学术道德和学术规范，凡毕业设计（论文）出现购买、由他人代写、剽窃或者伪造数据等作假情形的，一经查实，按教育部《学位论文作假行为处理办法》（中华人民共和国教育部令第34号）处理，并追究指导教师的相关责任。</a:t>
            </a:r>
            <a:endParaRPr lang="zh-CN" alt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02</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毕业设计步骤与方法目标</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4" name="文本框 3"/>
          <p:cNvSpPr txBox="1"/>
          <p:nvPr/>
        </p:nvSpPr>
        <p:spPr>
          <a:xfrm>
            <a:off x="438785" y="1384300"/>
            <a:ext cx="11507138" cy="4061946"/>
          </a:xfrm>
          <a:prstGeom prst="rect">
            <a:avLst/>
          </a:prstGeom>
          <a:noFill/>
          <a:ln w="9525">
            <a:noFill/>
          </a:ln>
        </p:spPr>
        <p:txBody>
          <a:bodyPr wrap="square">
            <a:spAutoFit/>
          </a:bodyPr>
          <a:lstStyle/>
          <a:p>
            <a:pPr algn="just">
              <a:lnSpc>
                <a:spcPct val="13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（四）答辩评议</a:t>
            </a:r>
            <a:endParaRPr lang="zh-CN" altLang="en-US" sz="2000" dirty="0">
              <a:solidFill>
                <a:srgbClr val="0070C0"/>
              </a:solidFill>
              <a:latin typeface="微软雅黑" panose="020B0503020204020204" charset="-122"/>
              <a:ea typeface="微软雅黑" panose="020B0503020204020204" charset="-122"/>
            </a:endParaRPr>
          </a:p>
          <a:p>
            <a:pPr marL="800100" lvl="1" indent="-342900" algn="just">
              <a:lnSpc>
                <a:spcPct val="130000"/>
              </a:lnSpc>
              <a:buClrTx/>
              <a:buSzTx/>
              <a:buFont typeface="Wingdings" panose="05000000000000000000" charset="0"/>
              <a:buChar char="Ø"/>
            </a:pPr>
            <a:r>
              <a:rPr lang="zh-CN" altLang="en-US" sz="2000" dirty="0"/>
              <a:t>1.学生完成毕业论文（设计）后由所在系组织答辩，并公布具体的答辩时间。有下列情形之一者，不能参加答辩：</a:t>
            </a:r>
            <a:endParaRPr lang="zh-CN" altLang="en-US" sz="2000" dirty="0"/>
          </a:p>
          <a:p>
            <a:pPr marL="1257300" lvl="2" indent="-342900" algn="just">
              <a:lnSpc>
                <a:spcPct val="130000"/>
              </a:lnSpc>
              <a:buClrTx/>
              <a:buSzTx/>
              <a:buFont typeface="Arial" panose="020B0604020202020204" pitchFamily="34" charset="0"/>
              <a:buChar char="•"/>
            </a:pPr>
            <a:r>
              <a:rPr lang="zh-CN" altLang="en-US" sz="2000" dirty="0"/>
              <a:t>（1）毕业当年申请延长学习期限者；</a:t>
            </a:r>
            <a:endParaRPr lang="zh-CN" altLang="en-US" sz="2000" dirty="0"/>
          </a:p>
          <a:p>
            <a:pPr marL="1257300" lvl="2" indent="-342900" algn="just">
              <a:lnSpc>
                <a:spcPct val="130000"/>
              </a:lnSpc>
              <a:buClrTx/>
              <a:buSzTx/>
              <a:buFont typeface="Arial" panose="020B0604020202020204" pitchFamily="34" charset="0"/>
              <a:buChar char="•"/>
            </a:pPr>
            <a:r>
              <a:rPr lang="zh-CN" altLang="en-US" sz="2000" dirty="0"/>
              <a:t>（2）毕业论文（设计）评阅不合格者；</a:t>
            </a:r>
            <a:endParaRPr lang="zh-CN" altLang="en-US" sz="2000" dirty="0"/>
          </a:p>
          <a:p>
            <a:pPr marL="1257300" lvl="2" indent="-342900" algn="just">
              <a:lnSpc>
                <a:spcPct val="130000"/>
              </a:lnSpc>
              <a:buClrTx/>
              <a:buSzTx/>
              <a:buFont typeface="Arial" panose="020B0604020202020204" pitchFamily="34" charset="0"/>
              <a:buChar char="•"/>
            </a:pPr>
            <a:r>
              <a:rPr lang="zh-CN" altLang="en-US" sz="2000" dirty="0"/>
              <a:t>（3）毕业论文（设计）经查实有作假行为者；</a:t>
            </a:r>
            <a:endParaRPr lang="zh-CN" altLang="en-US" sz="2000" dirty="0"/>
          </a:p>
          <a:p>
            <a:pPr marL="1257300" lvl="2" indent="-342900" algn="just">
              <a:lnSpc>
                <a:spcPct val="130000"/>
              </a:lnSpc>
              <a:buClrTx/>
              <a:buSzTx/>
              <a:buFont typeface="Arial" panose="020B0604020202020204" pitchFamily="34" charset="0"/>
              <a:buChar char="•"/>
            </a:pPr>
            <a:r>
              <a:rPr lang="zh-CN" altLang="en-US" sz="2000" dirty="0"/>
              <a:t>（4）定稿毕业论文（设计）重复率超过25%者。</a:t>
            </a:r>
            <a:endParaRPr lang="zh-CN" altLang="en-US" sz="2000" dirty="0"/>
          </a:p>
          <a:p>
            <a:pPr marL="1257300" lvl="2" indent="-342900" algn="just">
              <a:lnSpc>
                <a:spcPct val="130000"/>
              </a:lnSpc>
              <a:buClrTx/>
              <a:buSzTx/>
              <a:buFont typeface="Arial" panose="020B0604020202020204" pitchFamily="34" charset="0"/>
              <a:buChar char="•"/>
            </a:pPr>
            <a:endParaRPr lang="zh-CN" altLang="en-US" sz="2000" dirty="0"/>
          </a:p>
          <a:p>
            <a:pPr marL="800100" lvl="1" indent="-342900" algn="just">
              <a:lnSpc>
                <a:spcPct val="130000"/>
              </a:lnSpc>
              <a:buClrTx/>
              <a:buSzTx/>
              <a:buFont typeface="Wingdings" panose="05000000000000000000" charset="0"/>
              <a:buChar char="Ø"/>
            </a:pPr>
            <a:r>
              <a:rPr lang="zh-CN" altLang="en-US" sz="2000" dirty="0"/>
              <a:t>2.学生完成定稿后，答辩前，首先，由学生在毕业论文管理系统中提出答辩</a:t>
            </a:r>
            <a:r>
              <a:rPr lang="zh-CN" altLang="en-US" sz="2000" dirty="0">
                <a:sym typeface="+mn-ea"/>
              </a:rPr>
              <a:t>申请</a:t>
            </a:r>
            <a:r>
              <a:rPr lang="zh-CN" altLang="en-US" sz="2000" dirty="0"/>
              <a:t>；然后，指导老师评议、审核通过方可进入下一环节。</a:t>
            </a:r>
            <a:endParaRPr lang="zh-CN" alt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02</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毕业设计步骤与方法目标</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3" name="文本框 2"/>
          <p:cNvSpPr txBox="1"/>
          <p:nvPr/>
        </p:nvSpPr>
        <p:spPr>
          <a:xfrm>
            <a:off x="438785" y="1384300"/>
            <a:ext cx="11498749" cy="3977307"/>
          </a:xfrm>
          <a:prstGeom prst="rect">
            <a:avLst/>
          </a:prstGeom>
          <a:noFill/>
          <a:ln w="9525">
            <a:noFill/>
          </a:ln>
        </p:spPr>
        <p:txBody>
          <a:bodyPr wrap="square">
            <a:spAutoFit/>
          </a:bodyPr>
          <a:lstStyle/>
          <a:p>
            <a:pPr algn="just">
              <a:lnSpc>
                <a:spcPct val="16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（四）答辩评</a:t>
            </a:r>
            <a:r>
              <a:rPr lang="zh-CN" altLang="en-US" sz="2000" dirty="0">
                <a:solidFill>
                  <a:srgbClr val="0070C0"/>
                </a:solidFill>
                <a:latin typeface="微软雅黑" panose="020B0503020204020204" charset="-122"/>
                <a:ea typeface="微软雅黑" panose="020B0503020204020204" charset="-122"/>
                <a:sym typeface="+mn-ea"/>
              </a:rPr>
              <a:t>议</a:t>
            </a:r>
            <a:endParaRPr lang="zh-CN" altLang="en-US" sz="2000" dirty="0"/>
          </a:p>
          <a:p>
            <a:pPr marL="800100" lvl="1" indent="-342900" algn="just">
              <a:lnSpc>
                <a:spcPct val="160000"/>
              </a:lnSpc>
              <a:buClrTx/>
              <a:buSzTx/>
              <a:buFont typeface="Wingdings" panose="05000000000000000000" charset="0"/>
              <a:buChar char="Ø"/>
            </a:pPr>
            <a:r>
              <a:rPr lang="en-US" altLang="zh-CN" sz="2000" dirty="0"/>
              <a:t>3</a:t>
            </a:r>
            <a:r>
              <a:rPr lang="zh-CN" altLang="en-US" sz="2000" dirty="0"/>
              <a:t>.</a:t>
            </a:r>
            <a:r>
              <a:rPr lang="zh-CN" altLang="en-US" sz="2000" dirty="0">
                <a:sym typeface="+mn-ea"/>
              </a:rPr>
              <a:t>答辩前一周由系答辩委员会指定评阅老师对毕业设计（论文）进行形式评阅，评阅通过后方可参加答辩。</a:t>
            </a:r>
            <a:endParaRPr lang="zh-CN" altLang="en-US" sz="2000" dirty="0">
              <a:sym typeface="+mn-ea"/>
            </a:endParaRPr>
          </a:p>
          <a:p>
            <a:pPr marL="800100" lvl="1" indent="-342900" algn="just">
              <a:lnSpc>
                <a:spcPct val="160000"/>
              </a:lnSpc>
              <a:buClrTx/>
              <a:buSzTx/>
              <a:buFont typeface="Wingdings" panose="05000000000000000000" charset="0"/>
              <a:buChar char="Ø"/>
            </a:pPr>
            <a:r>
              <a:rPr lang="en-US" altLang="zh-CN" sz="2000" dirty="0"/>
              <a:t>4</a:t>
            </a:r>
            <a:r>
              <a:rPr lang="zh-CN" altLang="en-US" sz="2000" dirty="0"/>
              <a:t>.由系答辩委员会负责，组织若干答辩小组，分组具体负责毕业论文（设计）的答辩工作。答辩小组成员人数不少于3人，设组长1人，组长由答辩委员会成员担任，答辩须以公开方式进行。</a:t>
            </a:r>
            <a:endParaRPr lang="zh-CN" altLang="en-US" sz="2000" dirty="0"/>
          </a:p>
          <a:p>
            <a:pPr marL="800100" lvl="1" indent="-342900" algn="just">
              <a:lnSpc>
                <a:spcPct val="160000"/>
              </a:lnSpc>
              <a:buClrTx/>
              <a:buSzTx/>
              <a:buFont typeface="Wingdings" panose="05000000000000000000" charset="0"/>
              <a:buChar char="Ø"/>
            </a:pPr>
            <a:r>
              <a:rPr lang="en-US" altLang="zh-CN" sz="2000" dirty="0"/>
              <a:t>5</a:t>
            </a:r>
            <a:r>
              <a:rPr lang="zh-CN" altLang="en-US" sz="2000" dirty="0"/>
              <a:t>.所有学生必须进行</a:t>
            </a:r>
            <a:r>
              <a:rPr lang="zh-CN" altLang="en-US" sz="2000" dirty="0">
                <a:sym typeface="+mn-ea"/>
              </a:rPr>
              <a:t>毕业设计（论文）</a:t>
            </a:r>
            <a:r>
              <a:rPr lang="zh-CN" altLang="en-US" sz="2000" dirty="0"/>
              <a:t>答辩。</a:t>
            </a:r>
            <a:endParaRPr lang="zh-CN" altLang="en-US" sz="2000" dirty="0"/>
          </a:p>
          <a:p>
            <a:pPr marL="800100" lvl="1" indent="-342900" algn="just">
              <a:lnSpc>
                <a:spcPct val="160000"/>
              </a:lnSpc>
              <a:buClrTx/>
              <a:buSzTx/>
              <a:buFont typeface="Wingdings" panose="05000000000000000000" charset="0"/>
              <a:buChar char="Ø"/>
            </a:pPr>
            <a:r>
              <a:rPr lang="zh-CN" altLang="en-US" sz="2000" dirty="0"/>
              <a:t>6.答辩时，学生先报告</a:t>
            </a:r>
            <a:r>
              <a:rPr lang="zh-CN" altLang="en-US" sz="2000" dirty="0">
                <a:sym typeface="+mn-ea"/>
              </a:rPr>
              <a:t>毕业设计（论文）</a:t>
            </a:r>
            <a:r>
              <a:rPr lang="zh-CN" altLang="en-US" sz="2000" dirty="0"/>
              <a:t>的主要内容，再由答辩小组成员和与会者提问，学生须回答提问。</a:t>
            </a:r>
            <a:endParaRPr lang="zh-CN" alt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02</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毕业设计步骤与方法目标</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4" name="文本框 3"/>
          <p:cNvSpPr txBox="1"/>
          <p:nvPr/>
        </p:nvSpPr>
        <p:spPr>
          <a:xfrm>
            <a:off x="438785" y="1384300"/>
            <a:ext cx="11515527" cy="4200445"/>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（五）成绩评定</a:t>
            </a:r>
            <a:endParaRPr lang="zh-CN" altLang="en-US" sz="2000" dirty="0">
              <a:solidFill>
                <a:srgbClr val="0070C0"/>
              </a:solidFill>
              <a:latin typeface="微软雅黑" panose="020B0503020204020204" charset="-122"/>
              <a:ea typeface="微软雅黑" panose="020B0503020204020204" charset="-122"/>
            </a:endParaRPr>
          </a:p>
          <a:p>
            <a:pPr marL="800100" lvl="1" indent="-342900" algn="just">
              <a:lnSpc>
                <a:spcPct val="150000"/>
              </a:lnSpc>
              <a:buClrTx/>
              <a:buSzTx/>
              <a:buFont typeface="Wingdings" panose="05000000000000000000" charset="0"/>
              <a:buChar char="Ø"/>
            </a:pPr>
            <a:r>
              <a:rPr sz="2000" dirty="0"/>
              <a:t>1.毕业论文（设计）成绩评定均采用百分制。</a:t>
            </a:r>
            <a:endParaRPr sz="2000" dirty="0"/>
          </a:p>
          <a:p>
            <a:pPr marL="800100" lvl="1" indent="-342900" algn="just">
              <a:lnSpc>
                <a:spcPct val="150000"/>
              </a:lnSpc>
              <a:buClrTx/>
              <a:buSzTx/>
              <a:buFont typeface="Wingdings" panose="05000000000000000000" charset="0"/>
              <a:buChar char="Ø"/>
            </a:pPr>
            <a:r>
              <a:rPr lang="en-US" sz="2000" dirty="0"/>
              <a:t>2</a:t>
            </a:r>
            <a:r>
              <a:rPr sz="2000" dirty="0"/>
              <a:t>.毕业论文（设计）成绩</a:t>
            </a:r>
            <a:r>
              <a:rPr lang="zh-CN" sz="2000" dirty="0"/>
              <a:t>由指导成绩（</a:t>
            </a:r>
            <a:r>
              <a:rPr lang="en-US" altLang="zh-CN" sz="2000" dirty="0"/>
              <a:t>30%</a:t>
            </a:r>
            <a:r>
              <a:rPr lang="zh-CN" altLang="en-US" sz="2000" dirty="0">
                <a:ea typeface="宋体" panose="02010600030101010101" pitchFamily="2" charset="-122"/>
              </a:rPr>
              <a:t>）</a:t>
            </a:r>
            <a:r>
              <a:rPr lang="en-US" altLang="zh-CN" sz="2000" dirty="0"/>
              <a:t>+评阅专家成绩</a:t>
            </a:r>
            <a:r>
              <a:rPr lang="zh-CN" sz="2000" dirty="0">
                <a:sym typeface="+mn-ea"/>
              </a:rPr>
              <a:t>（</a:t>
            </a:r>
            <a:r>
              <a:rPr lang="en-US" altLang="zh-CN" sz="2000" dirty="0">
                <a:sym typeface="+mn-ea"/>
              </a:rPr>
              <a:t>30%</a:t>
            </a:r>
            <a:r>
              <a:rPr lang="zh-CN" altLang="en-US" sz="2000" dirty="0">
                <a:ea typeface="宋体" panose="02010600030101010101" pitchFamily="2" charset="-122"/>
                <a:sym typeface="+mn-ea"/>
              </a:rPr>
              <a:t>）</a:t>
            </a:r>
            <a:r>
              <a:rPr lang="en-US" altLang="zh-CN" sz="2000" dirty="0"/>
              <a:t>+答辩成绩</a:t>
            </a:r>
            <a:r>
              <a:rPr lang="zh-CN" sz="2000" dirty="0">
                <a:sym typeface="+mn-ea"/>
              </a:rPr>
              <a:t>（</a:t>
            </a:r>
            <a:r>
              <a:rPr lang="en-US" altLang="zh-CN" sz="2000" dirty="0">
                <a:sym typeface="+mn-ea"/>
              </a:rPr>
              <a:t>40%</a:t>
            </a:r>
            <a:r>
              <a:rPr lang="zh-CN" altLang="en-US" sz="2000" dirty="0">
                <a:ea typeface="宋体" panose="02010600030101010101" pitchFamily="2" charset="-122"/>
                <a:sym typeface="+mn-ea"/>
              </a:rPr>
              <a:t>）三部分组成</a:t>
            </a:r>
            <a:r>
              <a:rPr sz="2000" dirty="0"/>
              <a:t>。</a:t>
            </a:r>
            <a:endParaRPr sz="2000" dirty="0"/>
          </a:p>
          <a:p>
            <a:pPr marL="800100" lvl="1" indent="-342900" algn="just">
              <a:lnSpc>
                <a:spcPct val="150000"/>
              </a:lnSpc>
              <a:buClrTx/>
              <a:buSzTx/>
              <a:buFont typeface="Wingdings" panose="05000000000000000000" charset="0"/>
              <a:buChar char="Ø"/>
            </a:pPr>
            <a:r>
              <a:rPr lang="en-US" sz="2000" dirty="0"/>
              <a:t>3.</a:t>
            </a:r>
            <a:r>
              <a:rPr sz="2000" dirty="0"/>
              <a:t>系答辩委员会对所有毕业论文（设计）进行终审，确定终评成绩，并从严掌握优秀标准，获优秀成绩（成绩≥90分）者一般不宜超过本专业毕业生总人数的5%；对达不到学位水准的毕业论文（设计）不予通过。</a:t>
            </a:r>
            <a:endParaRPr sz="2000" dirty="0"/>
          </a:p>
          <a:p>
            <a:pPr marL="800100" lvl="1" indent="-342900" algn="just">
              <a:lnSpc>
                <a:spcPct val="150000"/>
              </a:lnSpc>
              <a:buClrTx/>
              <a:buSzTx/>
              <a:buFont typeface="Wingdings" panose="05000000000000000000" charset="0"/>
              <a:buChar char="Ø"/>
            </a:pPr>
            <a:r>
              <a:rPr lang="en-US" sz="2000" dirty="0"/>
              <a:t>4.</a:t>
            </a:r>
            <a:r>
              <a:rPr sz="2000" dirty="0"/>
              <a:t>答辩未通过的毕业论文（设计）应限时进行修改或重做，完成后，可由系答辩委员会组织进行二次答辩。仍不通过者，按结业处理。</a:t>
            </a:r>
            <a:endParaRPr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02</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毕业设计步骤与方法目标</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pic>
        <p:nvPicPr>
          <p:cNvPr id="5" name="图片 4"/>
          <p:cNvPicPr>
            <a:picLocks noChangeAspect="1"/>
          </p:cNvPicPr>
          <p:nvPr/>
        </p:nvPicPr>
        <p:blipFill>
          <a:blip r:embed="rId2"/>
          <a:stretch>
            <a:fillRect/>
          </a:stretch>
        </p:blipFill>
        <p:spPr>
          <a:xfrm>
            <a:off x="6944188" y="1503976"/>
            <a:ext cx="4510541" cy="4737433"/>
          </a:xfrm>
          <a:prstGeom prst="rect">
            <a:avLst/>
          </a:prstGeom>
          <a:ln w="12700">
            <a:solidFill>
              <a:schemeClr val="accent1"/>
            </a:solidFill>
          </a:ln>
        </p:spPr>
      </p:pic>
      <p:sp>
        <p:nvSpPr>
          <p:cNvPr id="7" name="文本框 6"/>
          <p:cNvSpPr txBox="1"/>
          <p:nvPr/>
        </p:nvSpPr>
        <p:spPr>
          <a:xfrm>
            <a:off x="438785" y="1384300"/>
            <a:ext cx="11515527" cy="1892121"/>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（六）毕业设计提交材料</a:t>
            </a:r>
            <a:endParaRPr lang="zh-CN" altLang="en-US" sz="2000" dirty="0">
              <a:solidFill>
                <a:srgbClr val="0070C0"/>
              </a:solidFill>
              <a:latin typeface="微软雅黑" panose="020B0503020204020204" charset="-122"/>
              <a:ea typeface="微软雅黑" panose="020B0503020204020204" charset="-122"/>
            </a:endParaRPr>
          </a:p>
          <a:p>
            <a:pPr marL="800100" lvl="1" indent="-342900" algn="just">
              <a:lnSpc>
                <a:spcPct val="150000"/>
              </a:lnSpc>
              <a:buClrTx/>
              <a:buSzTx/>
              <a:buFont typeface="Wingdings" panose="05000000000000000000" charset="0"/>
              <a:buChar char="Ø"/>
            </a:pPr>
            <a:r>
              <a:rPr sz="2000" dirty="0"/>
              <a:t>1.毕业论文（设计）</a:t>
            </a:r>
            <a:r>
              <a:rPr lang="zh-CN" altLang="en-US" sz="2000" dirty="0"/>
              <a:t>文档。</a:t>
            </a:r>
            <a:endParaRPr sz="2000" dirty="0"/>
          </a:p>
          <a:p>
            <a:pPr marL="800100" lvl="1" indent="-342900" algn="just">
              <a:lnSpc>
                <a:spcPct val="150000"/>
              </a:lnSpc>
              <a:buClrTx/>
              <a:buSzTx/>
              <a:buFont typeface="Wingdings" panose="05000000000000000000" charset="0"/>
              <a:buChar char="Ø"/>
            </a:pPr>
            <a:r>
              <a:rPr lang="en-US" sz="2000" dirty="0"/>
              <a:t>2</a:t>
            </a:r>
            <a:r>
              <a:rPr sz="2000" dirty="0"/>
              <a:t>.毕业论文（设计）</a:t>
            </a:r>
            <a:r>
              <a:rPr lang="zh-CN" altLang="en-US" sz="2000" dirty="0"/>
              <a:t>文档中所有图形的源文件</a:t>
            </a:r>
            <a:r>
              <a:rPr sz="2000" dirty="0"/>
              <a:t>。</a:t>
            </a:r>
            <a:endParaRPr sz="2000" dirty="0"/>
          </a:p>
          <a:p>
            <a:pPr marL="800100" lvl="1" indent="-342900" algn="just">
              <a:lnSpc>
                <a:spcPct val="150000"/>
              </a:lnSpc>
              <a:buClrTx/>
              <a:buSzTx/>
              <a:buFont typeface="Wingdings" panose="05000000000000000000" charset="0"/>
              <a:buChar char="Ø"/>
            </a:pPr>
            <a:r>
              <a:rPr lang="en-US" sz="2000" dirty="0"/>
              <a:t>3.</a:t>
            </a:r>
            <a:r>
              <a:rPr sz="2000" dirty="0"/>
              <a:t> </a:t>
            </a:r>
            <a:r>
              <a:rPr lang="zh-CN" altLang="en-US" sz="2000" dirty="0"/>
              <a:t>毕业论文（设计）源代码</a:t>
            </a:r>
            <a:r>
              <a:rPr sz="2000" dirty="0"/>
              <a:t>。</a:t>
            </a:r>
            <a:endParaRPr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校训"/>
          <p:cNvPicPr>
            <a:picLocks noChangeAspect="1"/>
          </p:cNvPicPr>
          <p:nvPr/>
        </p:nvPicPr>
        <p:blipFill>
          <a:blip r:embed="rId1"/>
          <a:stretch>
            <a:fillRect/>
          </a:stretch>
        </p:blipFill>
        <p:spPr>
          <a:xfrm>
            <a:off x="9098420" y="320358"/>
            <a:ext cx="2956560" cy="400050"/>
          </a:xfrm>
          <a:prstGeom prst="rect">
            <a:avLst/>
          </a:prstGeom>
        </p:spPr>
      </p:pic>
      <p:sp>
        <p:nvSpPr>
          <p:cNvPr id="5" name="Text Placeholder 4"/>
          <p:cNvSpPr txBox="1"/>
          <p:nvPr/>
        </p:nvSpPr>
        <p:spPr>
          <a:xfrm>
            <a:off x="260508" y="334169"/>
            <a:ext cx="2422208" cy="372428"/>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sz="3000" b="1" dirty="0">
                <a:solidFill>
                  <a:srgbClr val="C00000"/>
                </a:solidFill>
                <a:latin typeface="微软雅黑" panose="020B0503020204020204" charset="-122"/>
                <a:ea typeface="微软雅黑" panose="020B0503020204020204" charset="-122"/>
              </a:rPr>
              <a:t>目录</a:t>
            </a:r>
            <a:r>
              <a:rPr lang="en-US" altLang="zh-CN" sz="3000" b="1" dirty="0">
                <a:solidFill>
                  <a:srgbClr val="C00000"/>
                </a:solidFill>
                <a:latin typeface="微软雅黑" panose="020B0503020204020204" charset="-122"/>
                <a:ea typeface="微软雅黑" panose="020B0503020204020204" charset="-122"/>
              </a:rPr>
              <a:t>/</a:t>
            </a:r>
            <a:r>
              <a:rPr lang="en-US" altLang="zh-CN" sz="1800" b="1" dirty="0">
                <a:solidFill>
                  <a:srgbClr val="C00000"/>
                </a:solidFill>
                <a:latin typeface="微软雅黑" panose="020B0503020204020204" charset="-122"/>
                <a:ea typeface="微软雅黑" panose="020B0503020204020204" charset="-122"/>
              </a:rPr>
              <a:t>Contents</a:t>
            </a:r>
            <a:endParaRPr lang="en-US" altLang="zh-CN" sz="1800" b="1" dirty="0">
              <a:solidFill>
                <a:srgbClr val="C00000"/>
              </a:solidFill>
              <a:latin typeface="微软雅黑" panose="020B0503020204020204" charset="-122"/>
              <a:ea typeface="微软雅黑" panose="020B0503020204020204" charset="-122"/>
            </a:endParaRPr>
          </a:p>
        </p:txBody>
      </p:sp>
      <p:cxnSp>
        <p:nvCxnSpPr>
          <p:cNvPr id="6" name="直接连接符 5"/>
          <p:cNvCxnSpPr/>
          <p:nvPr/>
        </p:nvCxnSpPr>
        <p:spPr>
          <a:xfrm>
            <a:off x="125835" y="820722"/>
            <a:ext cx="11929145"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pic>
        <p:nvPicPr>
          <p:cNvPr id="9" name="图片 8" descr="ycu"/>
          <p:cNvPicPr>
            <a:picLocks noChangeAspect="1"/>
          </p:cNvPicPr>
          <p:nvPr/>
        </p:nvPicPr>
        <p:blipFill>
          <a:blip r:embed="rId2"/>
          <a:stretch>
            <a:fillRect/>
          </a:stretch>
        </p:blipFill>
        <p:spPr>
          <a:xfrm>
            <a:off x="0" y="4552950"/>
            <a:ext cx="2943225" cy="2305050"/>
          </a:xfrm>
          <a:prstGeom prst="rect">
            <a:avLst/>
          </a:prstGeom>
          <a:noFill/>
          <a:ln w="9525">
            <a:noFill/>
          </a:ln>
        </p:spPr>
      </p:pic>
      <p:grpSp>
        <p:nvGrpSpPr>
          <p:cNvPr id="10" name="组合 40"/>
          <p:cNvGrpSpPr/>
          <p:nvPr/>
        </p:nvGrpSpPr>
        <p:grpSpPr bwMode="auto">
          <a:xfrm>
            <a:off x="5386388" y="4535096"/>
            <a:ext cx="506730" cy="431006"/>
            <a:chOff x="3050167" y="1844084"/>
            <a:chExt cx="834144" cy="678092"/>
          </a:xfrm>
          <a:solidFill>
            <a:schemeClr val="bg1">
              <a:lumMod val="50000"/>
            </a:schemeClr>
          </a:solidFill>
        </p:grpSpPr>
        <p:sp>
          <p:nvSpPr>
            <p:cNvPr id="11" name="任意多边形 17"/>
            <p:cNvSpPr/>
            <p:nvPr/>
          </p:nvSpPr>
          <p:spPr>
            <a:xfrm rot="8100000" flipV="1">
              <a:off x="3050167" y="1844084"/>
              <a:ext cx="834144" cy="678092"/>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gr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825"/>
            </a:p>
          </p:txBody>
        </p:sp>
        <p:sp>
          <p:nvSpPr>
            <p:cNvPr id="12" name="文本框 42"/>
            <p:cNvSpPr txBox="1">
              <a:spLocks noChangeArrowheads="1"/>
            </p:cNvSpPr>
            <p:nvPr/>
          </p:nvSpPr>
          <p:spPr bwMode="auto">
            <a:xfrm>
              <a:off x="3123828" y="1901391"/>
              <a:ext cx="726001" cy="579438"/>
            </a:xfrm>
            <a:prstGeom prst="rect">
              <a:avLst/>
            </a:prstGeom>
            <a:grpFill/>
            <a:ln w="9525">
              <a:noFill/>
              <a:miter lim="800000"/>
            </a:ln>
          </p:spPr>
          <p:txBody>
            <a:bodyPr>
              <a:spAutoFit/>
            </a:bodyPr>
            <a:lstStyle/>
            <a:p>
              <a:r>
                <a:rPr lang="en-US" altLang="zh-CN" sz="1800">
                  <a:solidFill>
                    <a:schemeClr val="bg1"/>
                  </a:solidFill>
                  <a:latin typeface="Impact" panose="020B0806030902050204" pitchFamily="34" charset="0"/>
                </a:rPr>
                <a:t>04</a:t>
              </a:r>
              <a:endParaRPr lang="zh-CN" altLang="en-US" sz="1800">
                <a:solidFill>
                  <a:schemeClr val="bg1"/>
                </a:solidFill>
                <a:latin typeface="Impact" panose="020B0806030902050204" pitchFamily="34" charset="0"/>
              </a:endParaRPr>
            </a:p>
          </p:txBody>
        </p:sp>
      </p:grpSp>
      <p:grpSp>
        <p:nvGrpSpPr>
          <p:cNvPr id="13" name="组合 43"/>
          <p:cNvGrpSpPr/>
          <p:nvPr/>
        </p:nvGrpSpPr>
        <p:grpSpPr bwMode="auto">
          <a:xfrm>
            <a:off x="5417344" y="3778091"/>
            <a:ext cx="506730" cy="441484"/>
            <a:chOff x="3050167" y="1844084"/>
            <a:chExt cx="834142" cy="678092"/>
          </a:xfrm>
          <a:gradFill>
            <a:gsLst>
              <a:gs pos="0">
                <a:srgbClr val="FD4343"/>
              </a:gs>
              <a:gs pos="0">
                <a:srgbClr val="E30000"/>
              </a:gs>
              <a:gs pos="100000">
                <a:srgbClr val="C00000"/>
              </a:gs>
            </a:gsLst>
            <a:lin ang="5400000" scaled="0"/>
          </a:gradFill>
        </p:grpSpPr>
        <p:sp>
          <p:nvSpPr>
            <p:cNvPr id="14" name="任意多边形 20"/>
            <p:cNvSpPr/>
            <p:nvPr/>
          </p:nvSpPr>
          <p:spPr>
            <a:xfrm rot="8100000" flipV="1">
              <a:off x="3050167" y="1844084"/>
              <a:ext cx="834142" cy="678092"/>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gr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825"/>
            </a:p>
          </p:txBody>
        </p:sp>
        <p:sp>
          <p:nvSpPr>
            <p:cNvPr id="15" name="文本框 45"/>
            <p:cNvSpPr txBox="1">
              <a:spLocks noChangeArrowheads="1"/>
            </p:cNvSpPr>
            <p:nvPr/>
          </p:nvSpPr>
          <p:spPr bwMode="auto">
            <a:xfrm>
              <a:off x="3123828" y="1885458"/>
              <a:ext cx="726001" cy="565686"/>
            </a:xfrm>
            <a:prstGeom prst="rect">
              <a:avLst/>
            </a:prstGeom>
            <a:noFill/>
            <a:ln w="9525">
              <a:noFill/>
              <a:miter lim="800000"/>
            </a:ln>
          </p:spPr>
          <p:txBody>
            <a:bodyPr>
              <a:spAutoFit/>
            </a:bodyPr>
            <a:lstStyle/>
            <a:p>
              <a:r>
                <a:rPr lang="en-US" altLang="zh-CN" sz="1800" dirty="0">
                  <a:solidFill>
                    <a:schemeClr val="bg1"/>
                  </a:solidFill>
                  <a:latin typeface="Impact" panose="020B0806030902050204" pitchFamily="34" charset="0"/>
                </a:rPr>
                <a:t>03</a:t>
              </a:r>
              <a:endParaRPr lang="zh-CN" altLang="en-US" sz="1800" dirty="0">
                <a:solidFill>
                  <a:schemeClr val="bg1"/>
                </a:solidFill>
                <a:latin typeface="Impact" panose="020B0806030902050204" pitchFamily="34" charset="0"/>
              </a:endParaRPr>
            </a:p>
          </p:txBody>
        </p:sp>
      </p:grpSp>
      <p:grpSp>
        <p:nvGrpSpPr>
          <p:cNvPr id="16" name="组合 46"/>
          <p:cNvGrpSpPr/>
          <p:nvPr/>
        </p:nvGrpSpPr>
        <p:grpSpPr bwMode="auto">
          <a:xfrm>
            <a:off x="5417344" y="2986087"/>
            <a:ext cx="506730" cy="403860"/>
            <a:chOff x="3050349" y="1844085"/>
            <a:chExt cx="833779" cy="678092"/>
          </a:xfrm>
          <a:solidFill>
            <a:schemeClr val="bg1">
              <a:lumMod val="50000"/>
            </a:schemeClr>
          </a:solidFill>
        </p:grpSpPr>
        <p:sp>
          <p:nvSpPr>
            <p:cNvPr id="17" name="任意多边形 29"/>
            <p:cNvSpPr/>
            <p:nvPr/>
          </p:nvSpPr>
          <p:spPr>
            <a:xfrm rot="8100000" flipV="1">
              <a:off x="3050349" y="1844085"/>
              <a:ext cx="833779" cy="678092"/>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gr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825"/>
            </a:p>
          </p:txBody>
        </p:sp>
        <p:sp>
          <p:nvSpPr>
            <p:cNvPr id="18" name="文本框 48"/>
            <p:cNvSpPr txBox="1">
              <a:spLocks noChangeArrowheads="1"/>
            </p:cNvSpPr>
            <p:nvPr/>
          </p:nvSpPr>
          <p:spPr bwMode="auto">
            <a:xfrm>
              <a:off x="3123827" y="1885460"/>
              <a:ext cx="726001" cy="618386"/>
            </a:xfrm>
            <a:prstGeom prst="rect">
              <a:avLst/>
            </a:prstGeom>
            <a:grpFill/>
            <a:ln w="9525">
              <a:noFill/>
              <a:miter lim="800000"/>
            </a:ln>
          </p:spPr>
          <p:txBody>
            <a:bodyPr>
              <a:spAutoFit/>
            </a:bodyPr>
            <a:lstStyle/>
            <a:p>
              <a:r>
                <a:rPr lang="en-US" altLang="zh-CN" sz="1800" dirty="0">
                  <a:solidFill>
                    <a:schemeClr val="bg1"/>
                  </a:solidFill>
                  <a:latin typeface="Impact" panose="020B0806030902050204" pitchFamily="34" charset="0"/>
                </a:rPr>
                <a:t>02</a:t>
              </a:r>
              <a:endParaRPr lang="zh-CN" altLang="en-US" sz="1800" dirty="0">
                <a:solidFill>
                  <a:schemeClr val="bg1"/>
                </a:solidFill>
                <a:latin typeface="Impact" panose="020B0806030902050204" pitchFamily="34" charset="0"/>
              </a:endParaRPr>
            </a:p>
          </p:txBody>
        </p:sp>
      </p:grpSp>
      <p:grpSp>
        <p:nvGrpSpPr>
          <p:cNvPr id="19" name="组合 18"/>
          <p:cNvGrpSpPr/>
          <p:nvPr/>
        </p:nvGrpSpPr>
        <p:grpSpPr>
          <a:xfrm>
            <a:off x="6096000" y="2943225"/>
            <a:ext cx="3843338" cy="477679"/>
            <a:chOff x="6315199" y="2410178"/>
            <a:chExt cx="3744416" cy="511504"/>
          </a:xfrm>
          <a:solidFill>
            <a:schemeClr val="bg1">
              <a:lumMod val="50000"/>
            </a:schemeClr>
          </a:solidFill>
        </p:grpSpPr>
        <p:sp>
          <p:nvSpPr>
            <p:cNvPr id="20" name="圆角矩形 35"/>
            <p:cNvSpPr/>
            <p:nvPr/>
          </p:nvSpPr>
          <p:spPr>
            <a:xfrm>
              <a:off x="6315199" y="2410178"/>
              <a:ext cx="3744416" cy="511504"/>
            </a:xfrm>
            <a:prstGeom prst="roundRect">
              <a:avLst/>
            </a:prstGeom>
            <a:grpFill/>
            <a:ln>
              <a:solidFill>
                <a:srgbClr val="C000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70" tIns="45735" rIns="91470" bIns="45735" anchor="ctr"/>
            <a:lstStyle/>
            <a:p>
              <a:pPr algn="ctr">
                <a:defRPr/>
              </a:pPr>
              <a:endParaRPr lang="zh-CN" altLang="en-US" sz="2025" dirty="0">
                <a:solidFill>
                  <a:schemeClr val="bg1"/>
                </a:solidFill>
                <a:latin typeface="+mj-lt"/>
                <a:ea typeface="Arial Unicode MS" panose="020B0604020202020204" charset="-122"/>
                <a:cs typeface="Arial Unicode MS" panose="020B0604020202020204" charset="-122"/>
              </a:endParaRPr>
            </a:p>
          </p:txBody>
        </p:sp>
        <p:sp>
          <p:nvSpPr>
            <p:cNvPr id="21" name="矩形 20"/>
            <p:cNvSpPr/>
            <p:nvPr/>
          </p:nvSpPr>
          <p:spPr>
            <a:xfrm>
              <a:off x="6452744" y="2450573"/>
              <a:ext cx="2978431" cy="394380"/>
            </a:xfrm>
            <a:prstGeom prst="rect">
              <a:avLst/>
            </a:prstGeom>
            <a:grpFill/>
            <a:ln>
              <a:noFill/>
            </a:ln>
          </p:spPr>
          <p:txBody>
            <a:bodyPr wrap="square" lIns="91470" tIns="45735" rIns="91470" bIns="45735">
              <a:spAutoFit/>
            </a:bodyPr>
            <a:lstStyle/>
            <a:p>
              <a:pPr algn="l">
                <a:defRPr/>
              </a:pPr>
              <a:r>
                <a:rPr lang="zh-CN" altLang="en-US" sz="1800" b="1" kern="100" dirty="0">
                  <a:solidFill>
                    <a:schemeClr val="bg1"/>
                  </a:solidFill>
                  <a:latin typeface="微软雅黑" panose="020B0503020204020204" charset="-122"/>
                  <a:ea typeface="微软雅黑" panose="020B0503020204020204" charset="-122"/>
                  <a:cs typeface="Times New Roman" panose="02020603050405020304" pitchFamily="18" charset="0"/>
                </a:rPr>
                <a:t>毕业设计步骤与方法目标</a:t>
              </a:r>
              <a:endParaRPr lang="zh-CN" altLang="en-US" sz="1800" b="1" kern="100" dirty="0">
                <a:solidFill>
                  <a:schemeClr val="bg1"/>
                </a:solidFill>
                <a:latin typeface="微软雅黑" panose="020B0503020204020204" charset="-122"/>
                <a:ea typeface="微软雅黑" panose="020B0503020204020204" charset="-122"/>
                <a:cs typeface="Times New Roman" panose="02020603050405020304" pitchFamily="18" charset="0"/>
              </a:endParaRPr>
            </a:p>
          </p:txBody>
        </p:sp>
      </p:grpSp>
      <p:grpSp>
        <p:nvGrpSpPr>
          <p:cNvPr id="22" name="组合 21"/>
          <p:cNvGrpSpPr/>
          <p:nvPr/>
        </p:nvGrpSpPr>
        <p:grpSpPr>
          <a:xfrm>
            <a:off x="6096680" y="3748087"/>
            <a:ext cx="3907670" cy="477679"/>
            <a:chOff x="6339097" y="3296031"/>
            <a:chExt cx="3807767" cy="511504"/>
          </a:xfrm>
          <a:noFill/>
        </p:grpSpPr>
        <p:sp>
          <p:nvSpPr>
            <p:cNvPr id="23" name="圆角矩形 38"/>
            <p:cNvSpPr/>
            <p:nvPr/>
          </p:nvSpPr>
          <p:spPr>
            <a:xfrm>
              <a:off x="6339097" y="3296031"/>
              <a:ext cx="3744416" cy="511504"/>
            </a:xfrm>
            <a:prstGeom prst="roundRect">
              <a:avLst/>
            </a:prstGeom>
            <a:grpFill/>
            <a:ln>
              <a:solidFill>
                <a:srgbClr val="C000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70" tIns="45735" rIns="91470" bIns="45735" anchor="ctr"/>
            <a:lstStyle/>
            <a:p>
              <a:pPr algn="ctr">
                <a:defRPr/>
              </a:pPr>
              <a:endParaRPr lang="zh-CN" altLang="en-US" sz="2025" dirty="0">
                <a:latin typeface="+mj-lt"/>
                <a:ea typeface="Arial Unicode MS" panose="020B0604020202020204" charset="-122"/>
                <a:cs typeface="Arial Unicode MS" panose="020B0604020202020204" charset="-122"/>
              </a:endParaRPr>
            </a:p>
          </p:txBody>
        </p:sp>
        <p:sp>
          <p:nvSpPr>
            <p:cNvPr id="24" name="矩形 23"/>
            <p:cNvSpPr/>
            <p:nvPr/>
          </p:nvSpPr>
          <p:spPr>
            <a:xfrm>
              <a:off x="6485700" y="3336611"/>
              <a:ext cx="3661164" cy="394380"/>
            </a:xfrm>
            <a:prstGeom prst="rect">
              <a:avLst/>
            </a:prstGeom>
            <a:grpFill/>
            <a:ln>
              <a:noFill/>
            </a:ln>
          </p:spPr>
          <p:txBody>
            <a:bodyPr wrap="square" lIns="91470" tIns="45735" rIns="91470" bIns="45735">
              <a:spAutoFit/>
            </a:bodyPr>
            <a:lstStyle/>
            <a:p>
              <a:pPr algn="l">
                <a:defRPr/>
              </a:pPr>
              <a:endParaRPr lang="zh-CN" altLang="en-US" sz="1800" b="1" kern="100" dirty="0">
                <a:solidFill>
                  <a:schemeClr val="bg1"/>
                </a:solidFill>
                <a:latin typeface="微软雅黑" panose="020B0503020204020204" charset="-122"/>
                <a:ea typeface="微软雅黑" panose="020B0503020204020204" charset="-122"/>
                <a:cs typeface="Times New Roman" panose="02020603050405020304" pitchFamily="18" charset="0"/>
              </a:endParaRPr>
            </a:p>
          </p:txBody>
        </p:sp>
      </p:grpSp>
      <p:sp>
        <p:nvSpPr>
          <p:cNvPr id="26" name="圆角矩形 41"/>
          <p:cNvSpPr/>
          <p:nvPr/>
        </p:nvSpPr>
        <p:spPr>
          <a:xfrm>
            <a:off x="6065044" y="4480326"/>
            <a:ext cx="3843338" cy="477679"/>
          </a:xfrm>
          <a:prstGeom prst="roundRect">
            <a:avLst/>
          </a:prstGeom>
          <a:solidFill>
            <a:schemeClr val="bg1">
              <a:lumMod val="50000"/>
            </a:schemeClr>
          </a:solidFill>
          <a:ln>
            <a:solidFill>
              <a:srgbClr val="C000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70" tIns="45735" rIns="91470" bIns="45735" anchor="ctr"/>
          <a:lstStyle/>
          <a:p>
            <a:pPr algn="ctr">
              <a:defRPr/>
            </a:pPr>
            <a:endParaRPr lang="zh-CN" altLang="en-US" sz="2025" dirty="0">
              <a:solidFill>
                <a:schemeClr val="bg1"/>
              </a:solidFill>
              <a:latin typeface="+mj-lt"/>
              <a:ea typeface="Arial Unicode MS" panose="020B0604020202020204" charset="-122"/>
              <a:cs typeface="Arial Unicode MS" panose="020B0604020202020204" charset="-122"/>
            </a:endParaRPr>
          </a:p>
        </p:txBody>
      </p:sp>
      <p:sp>
        <p:nvSpPr>
          <p:cNvPr id="27" name="矩形 26"/>
          <p:cNvSpPr/>
          <p:nvPr/>
        </p:nvSpPr>
        <p:spPr>
          <a:xfrm>
            <a:off x="6211118" y="3802775"/>
            <a:ext cx="3648075" cy="368300"/>
          </a:xfrm>
          <a:prstGeom prst="rect">
            <a:avLst/>
          </a:prstGeom>
          <a:noFill/>
        </p:spPr>
        <p:txBody>
          <a:bodyPr wrap="square" lIns="91470" tIns="45735" rIns="91470" bIns="45735">
            <a:spAutoFit/>
          </a:bodyPr>
          <a:lstStyle/>
          <a:p>
            <a:pPr algn="l">
              <a:defRPr/>
            </a:pPr>
            <a:r>
              <a:rPr lang="zh-CN" altLang="en-US" sz="1800" b="1" kern="100" dirty="0">
                <a:solidFill>
                  <a:srgbClr val="C00000"/>
                </a:solidFill>
                <a:latin typeface="微软雅黑" panose="020B0503020204020204" charset="-122"/>
                <a:ea typeface="微软雅黑" panose="020B0503020204020204" charset="-122"/>
                <a:cs typeface="Times New Roman" panose="02020603050405020304" pitchFamily="18" charset="0"/>
              </a:rPr>
              <a:t>毕业设计论文撰写方法与要求</a:t>
            </a:r>
            <a:endParaRPr lang="zh-CN" altLang="en-US" sz="1800" b="1" kern="100" dirty="0">
              <a:solidFill>
                <a:srgbClr val="C00000"/>
              </a:solidFill>
              <a:latin typeface="微软雅黑" panose="020B0503020204020204" charset="-122"/>
              <a:ea typeface="微软雅黑" panose="020B0503020204020204" charset="-122"/>
              <a:cs typeface="Times New Roman" panose="02020603050405020304" pitchFamily="18" charset="0"/>
            </a:endParaRPr>
          </a:p>
        </p:txBody>
      </p:sp>
      <p:grpSp>
        <p:nvGrpSpPr>
          <p:cNvPr id="28" name="组合 9"/>
          <p:cNvGrpSpPr/>
          <p:nvPr/>
        </p:nvGrpSpPr>
        <p:grpSpPr bwMode="auto">
          <a:xfrm>
            <a:off x="5386388" y="2189797"/>
            <a:ext cx="559118" cy="408146"/>
            <a:chOff x="3050349" y="1844085"/>
            <a:chExt cx="833779" cy="678092"/>
          </a:xfrm>
          <a:solidFill>
            <a:schemeClr val="bg1">
              <a:lumMod val="50000"/>
            </a:schemeClr>
          </a:solidFill>
        </p:grpSpPr>
        <p:sp>
          <p:nvSpPr>
            <p:cNvPr id="29" name="任意多边形 105"/>
            <p:cNvSpPr/>
            <p:nvPr/>
          </p:nvSpPr>
          <p:spPr>
            <a:xfrm rot="8100000" flipV="1">
              <a:off x="3050349" y="1844085"/>
              <a:ext cx="833779" cy="678092"/>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gr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825"/>
            </a:p>
          </p:txBody>
        </p:sp>
        <p:sp>
          <p:nvSpPr>
            <p:cNvPr id="30" name="文本框 6"/>
            <p:cNvSpPr txBox="1">
              <a:spLocks noChangeArrowheads="1"/>
            </p:cNvSpPr>
            <p:nvPr/>
          </p:nvSpPr>
          <p:spPr bwMode="auto">
            <a:xfrm>
              <a:off x="3146443" y="1890742"/>
              <a:ext cx="611465" cy="611892"/>
            </a:xfrm>
            <a:prstGeom prst="rect">
              <a:avLst/>
            </a:prstGeom>
            <a:grpFill/>
            <a:ln w="9525">
              <a:noFill/>
              <a:miter lim="800000"/>
            </a:ln>
          </p:spPr>
          <p:txBody>
            <a:bodyPr>
              <a:spAutoFit/>
            </a:bodyPr>
            <a:lstStyle/>
            <a:p>
              <a:r>
                <a:rPr lang="en-US" altLang="zh-CN" sz="1800" dirty="0">
                  <a:solidFill>
                    <a:schemeClr val="bg1"/>
                  </a:solidFill>
                  <a:latin typeface="Impact" panose="020B0806030902050204" pitchFamily="34" charset="0"/>
                </a:rPr>
                <a:t>01</a:t>
              </a:r>
              <a:endParaRPr lang="zh-CN" altLang="en-US" sz="1800" dirty="0">
                <a:solidFill>
                  <a:schemeClr val="bg1"/>
                </a:solidFill>
                <a:latin typeface="Impact" panose="020B0806030902050204" pitchFamily="34" charset="0"/>
              </a:endParaRPr>
            </a:p>
          </p:txBody>
        </p:sp>
      </p:grpSp>
      <p:grpSp>
        <p:nvGrpSpPr>
          <p:cNvPr id="31" name="组合 30"/>
          <p:cNvGrpSpPr/>
          <p:nvPr/>
        </p:nvGrpSpPr>
        <p:grpSpPr>
          <a:xfrm>
            <a:off x="6065044" y="2138362"/>
            <a:ext cx="3843338" cy="477679"/>
            <a:chOff x="6339097" y="1573726"/>
            <a:chExt cx="3744416" cy="511504"/>
          </a:xfrm>
          <a:solidFill>
            <a:schemeClr val="bg1">
              <a:lumMod val="50000"/>
            </a:schemeClr>
          </a:solidFill>
        </p:grpSpPr>
        <p:sp>
          <p:nvSpPr>
            <p:cNvPr id="32" name="圆角矩形 108"/>
            <p:cNvSpPr/>
            <p:nvPr/>
          </p:nvSpPr>
          <p:spPr>
            <a:xfrm>
              <a:off x="6339097" y="1573726"/>
              <a:ext cx="3744416" cy="511504"/>
            </a:xfrm>
            <a:prstGeom prst="roundRect">
              <a:avLst/>
            </a:prstGeom>
            <a:grpFill/>
            <a:ln>
              <a:solidFill>
                <a:srgbClr val="C000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70" tIns="45735" rIns="91470" bIns="45735" anchor="ctr"/>
            <a:lstStyle/>
            <a:p>
              <a:pPr algn="ctr">
                <a:defRPr/>
              </a:pPr>
              <a:endParaRPr lang="zh-CN" altLang="en-US" sz="2025" dirty="0">
                <a:solidFill>
                  <a:schemeClr val="bg1"/>
                </a:solidFill>
                <a:latin typeface="+mj-lt"/>
                <a:ea typeface="Arial Unicode MS" panose="020B0604020202020204" charset="-122"/>
                <a:cs typeface="Arial Unicode MS" panose="020B0604020202020204" charset="-122"/>
              </a:endParaRPr>
            </a:p>
          </p:txBody>
        </p:sp>
        <p:sp>
          <p:nvSpPr>
            <p:cNvPr id="33" name="矩形 32"/>
            <p:cNvSpPr/>
            <p:nvPr/>
          </p:nvSpPr>
          <p:spPr>
            <a:xfrm>
              <a:off x="6481411" y="1614121"/>
              <a:ext cx="3601902" cy="394380"/>
            </a:xfrm>
            <a:prstGeom prst="rect">
              <a:avLst/>
            </a:prstGeom>
            <a:grpFill/>
            <a:ln>
              <a:noFill/>
            </a:ln>
          </p:spPr>
          <p:txBody>
            <a:bodyPr wrap="square" lIns="91470" tIns="45735" rIns="91470" bIns="45735">
              <a:spAutoFit/>
            </a:bodyPr>
            <a:lstStyle/>
            <a:p>
              <a:pPr algn="l">
                <a:buClrTx/>
                <a:buSzTx/>
                <a:buFontTx/>
                <a:defRPr/>
              </a:pPr>
              <a:r>
                <a:rPr lang="zh-CN" altLang="en-US" sz="1800" b="1" kern="100" dirty="0">
                  <a:solidFill>
                    <a:schemeClr val="bg1"/>
                  </a:solidFill>
                  <a:latin typeface="微软雅黑" panose="020B0503020204020204" charset="-122"/>
                  <a:ea typeface="微软雅黑" panose="020B0503020204020204" charset="-122"/>
                  <a:cs typeface="Times New Roman" panose="02020603050405020304" pitchFamily="18" charset="0"/>
                  <a:sym typeface="+mn-ea"/>
                </a:rPr>
                <a:t>毕业设计的目的与要求</a:t>
              </a:r>
              <a:endParaRPr lang="zh-CN" altLang="en-US" sz="1800" b="1" kern="100" dirty="0">
                <a:solidFill>
                  <a:schemeClr val="bg1"/>
                </a:solidFill>
                <a:latin typeface="微软雅黑" panose="020B0503020204020204" charset="-122"/>
                <a:ea typeface="微软雅黑" panose="020B0503020204020204" charset="-122"/>
                <a:cs typeface="Times New Roman" panose="02020603050405020304" pitchFamily="18" charset="0"/>
              </a:endParaRPr>
            </a:p>
          </p:txBody>
        </p:sp>
      </p:grpSp>
      <p:cxnSp>
        <p:nvCxnSpPr>
          <p:cNvPr id="34" name="形状 10"/>
          <p:cNvCxnSpPr/>
          <p:nvPr/>
        </p:nvCxnSpPr>
        <p:spPr>
          <a:xfrm rot="10800000" flipH="1">
            <a:off x="2428524" y="3320304"/>
            <a:ext cx="1957718" cy="9525"/>
          </a:xfrm>
          <a:prstGeom prst="bentConnector5">
            <a:avLst>
              <a:gd name="adj1" fmla="val -8758"/>
              <a:gd name="adj2" fmla="val -10160767"/>
              <a:gd name="adj3" fmla="val 108758"/>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2400808" y="3646277"/>
            <a:ext cx="1880420" cy="530942"/>
          </a:xfrm>
          <a:prstGeom prst="rect">
            <a:avLst/>
          </a:prstGeom>
          <a:gradFill>
            <a:gsLst>
              <a:gs pos="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00"/>
          </a:p>
        </p:txBody>
      </p:sp>
      <p:pic>
        <p:nvPicPr>
          <p:cNvPr id="36" name="Picture 1" descr="G:\PPT制作素材\学校照片\IMG_0516.JPG"/>
          <p:cNvPicPr>
            <a:picLocks noChangeAspect="1" noChangeArrowheads="1"/>
          </p:cNvPicPr>
          <p:nvPr/>
        </p:nvPicPr>
        <p:blipFill>
          <a:blip r:embed="rId3"/>
          <a:srcRect/>
          <a:stretch>
            <a:fillRect/>
          </a:stretch>
        </p:blipFill>
        <p:spPr bwMode="auto">
          <a:xfrm>
            <a:off x="2520023" y="2735412"/>
            <a:ext cx="1993490" cy="1330032"/>
          </a:xfrm>
          <a:prstGeom prst="rect">
            <a:avLst/>
          </a:prstGeom>
          <a:noFill/>
        </p:spPr>
      </p:pic>
      <p:cxnSp>
        <p:nvCxnSpPr>
          <p:cNvPr id="37" name="直接连接符 36"/>
          <p:cNvCxnSpPr/>
          <p:nvPr/>
        </p:nvCxnSpPr>
        <p:spPr>
          <a:xfrm flipV="1">
            <a:off x="4974431" y="2175986"/>
            <a:ext cx="1429" cy="2782729"/>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38" name="矩形 37"/>
          <p:cNvSpPr/>
          <p:nvPr/>
        </p:nvSpPr>
        <p:spPr>
          <a:xfrm>
            <a:off x="6065044" y="4535015"/>
            <a:ext cx="3831101" cy="367869"/>
          </a:xfrm>
          <a:prstGeom prst="rect">
            <a:avLst/>
          </a:prstGeom>
          <a:solidFill>
            <a:schemeClr val="bg1">
              <a:lumMod val="50000"/>
            </a:schemeClr>
          </a:solidFill>
          <a:ln>
            <a:noFill/>
          </a:ln>
        </p:spPr>
        <p:txBody>
          <a:bodyPr wrap="square" lIns="91470" tIns="45735" rIns="91470" bIns="45735">
            <a:spAutoFit/>
          </a:bodyPr>
          <a:lstStyle/>
          <a:p>
            <a:pPr algn="l">
              <a:defRPr/>
            </a:pPr>
            <a:r>
              <a:rPr lang="zh-CN" altLang="en-US" sz="1800" b="1" kern="100" dirty="0">
                <a:solidFill>
                  <a:schemeClr val="bg1"/>
                </a:solidFill>
                <a:latin typeface="微软雅黑" panose="020B0503020204020204" charset="-122"/>
                <a:ea typeface="微软雅黑" panose="020B0503020204020204" charset="-122"/>
                <a:cs typeface="Times New Roman" panose="02020603050405020304" pitchFamily="18" charset="0"/>
              </a:rPr>
              <a:t>毕业论文抽检方法和实施细则</a:t>
            </a:r>
            <a:endParaRPr lang="zh-CN" altLang="en-US" sz="1800" b="1" kern="100" dirty="0">
              <a:solidFill>
                <a:schemeClr val="bg1"/>
              </a:solidFill>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ssolve">
                                      <p:cBhvr>
                                        <p:cTn id="7" dur="500"/>
                                        <p:tgtEl>
                                          <p:spTgt spid="5">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500"/>
                                        <p:tgtEl>
                                          <p:spTgt spid="28"/>
                                        </p:tgtEl>
                                      </p:cBhvr>
                                    </p:animEffect>
                                  </p:childTnLst>
                                </p:cTn>
                              </p:par>
                              <p:par>
                                <p:cTn id="15" presetID="10" presetClass="entr" presetSubtype="0" fill="hold" nodeType="withEffect">
                                  <p:stCondLst>
                                    <p:cond delay="30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par>
                                <p:cTn id="18" presetID="22" presetClass="entr" presetSubtype="8" fill="hold" nodeType="withEffect">
                                  <p:stCondLst>
                                    <p:cond delay="600"/>
                                  </p:stCondLst>
                                  <p:childTnLst>
                                    <p:set>
                                      <p:cBhvr>
                                        <p:cTn id="19" dur="1" fill="hold">
                                          <p:stCondLst>
                                            <p:cond delay="0"/>
                                          </p:stCondLst>
                                        </p:cTn>
                                        <p:tgtEl>
                                          <p:spTgt spid="19"/>
                                        </p:tgtEl>
                                        <p:attrNameLst>
                                          <p:attrName>style.visibility</p:attrName>
                                        </p:attrNameLst>
                                      </p:cBhvr>
                                      <p:to>
                                        <p:strVal val="visible"/>
                                      </p:to>
                                    </p:set>
                                    <p:animEffect transition="in" filter="wipe(left)">
                                      <p:cBhvr>
                                        <p:cTn id="20" dur="500"/>
                                        <p:tgtEl>
                                          <p:spTgt spid="19"/>
                                        </p:tgtEl>
                                      </p:cBhvr>
                                    </p:animEffect>
                                  </p:childTnLst>
                                </p:cTn>
                              </p:par>
                              <p:par>
                                <p:cTn id="21" presetID="10" presetClass="entr" presetSubtype="0" fill="hold" nodeType="withEffect">
                                  <p:stCondLst>
                                    <p:cond delay="60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22" presetClass="entr" presetSubtype="8" fill="hold" nodeType="withEffect">
                                  <p:stCondLst>
                                    <p:cond delay="900"/>
                                  </p:stCondLst>
                                  <p:childTnLst>
                                    <p:set>
                                      <p:cBhvr>
                                        <p:cTn id="25" dur="1" fill="hold">
                                          <p:stCondLst>
                                            <p:cond delay="0"/>
                                          </p:stCondLst>
                                        </p:cTn>
                                        <p:tgtEl>
                                          <p:spTgt spid="22"/>
                                        </p:tgtEl>
                                        <p:attrNameLst>
                                          <p:attrName>style.visibility</p:attrName>
                                        </p:attrNameLst>
                                      </p:cBhvr>
                                      <p:to>
                                        <p:strVal val="visible"/>
                                      </p:to>
                                    </p:set>
                                    <p:animEffect transition="in" filter="wipe(left)">
                                      <p:cBhvr>
                                        <p:cTn id="26" dur="500"/>
                                        <p:tgtEl>
                                          <p:spTgt spid="22"/>
                                        </p:tgtEl>
                                      </p:cBhvr>
                                    </p:animEffect>
                                  </p:childTnLst>
                                </p:cTn>
                              </p:par>
                              <p:par>
                                <p:cTn id="27" presetID="10" presetClass="entr" presetSubtype="0" fill="hold" nodeType="withEffect">
                                  <p:stCondLst>
                                    <p:cond delay="90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22" presetClass="entr" presetSubtype="8" fill="hold" nodeType="withEffect">
                                  <p:stCondLst>
                                    <p:cond delay="300"/>
                                  </p:stCondLst>
                                  <p:childTnLst>
                                    <p:set>
                                      <p:cBhvr>
                                        <p:cTn id="31" dur="1" fill="hold">
                                          <p:stCondLst>
                                            <p:cond delay="0"/>
                                          </p:stCondLst>
                                        </p:cTn>
                                        <p:tgtEl>
                                          <p:spTgt spid="31"/>
                                        </p:tgtEl>
                                        <p:attrNameLst>
                                          <p:attrName>style.visibility</p:attrName>
                                        </p:attrNameLst>
                                      </p:cBhvr>
                                      <p:to>
                                        <p:strVal val="visible"/>
                                      </p:to>
                                    </p:set>
                                    <p:animEffect transition="in" filter="wipe(left)">
                                      <p:cBhvr>
                                        <p:cTn id="32" dur="500"/>
                                        <p:tgtEl>
                                          <p:spTgt spid="31"/>
                                        </p:tgtEl>
                                      </p:cBhvr>
                                    </p:animEffect>
                                  </p:childTnLst>
                                </p:cTn>
                              </p:par>
                            </p:childTnLst>
                          </p:cTn>
                        </p:par>
                        <p:par>
                          <p:cTn id="33" fill="hold">
                            <p:stCondLst>
                              <p:cond delay="1000"/>
                            </p:stCondLst>
                            <p:childTnLst>
                              <p:par>
                                <p:cTn id="34" presetID="26" presetClass="emph" presetSubtype="0" fill="hold" nodeType="afterEffect">
                                  <p:stCondLst>
                                    <p:cond delay="0"/>
                                  </p:stCondLst>
                                  <p:childTnLst>
                                    <p:animEffect transition="out" filter="fade">
                                      <p:cBhvr>
                                        <p:cTn id="35" dur="500" tmFilter="0, 0; .2, .5; .8, .5; 1, 0"/>
                                        <p:tgtEl>
                                          <p:spTgt spid="28"/>
                                        </p:tgtEl>
                                      </p:cBhvr>
                                    </p:animEffect>
                                    <p:animScale>
                                      <p:cBhvr>
                                        <p:cTn id="36" dur="250" autoRev="1" fill="hold"/>
                                        <p:tgtEl>
                                          <p:spTgt spid="28"/>
                                        </p:tgtEl>
                                      </p:cBhvr>
                                      <p:by x="105000" y="105000"/>
                                    </p:animScale>
                                  </p:childTnLst>
                                </p:cTn>
                              </p:par>
                              <p:par>
                                <p:cTn id="37" presetID="26" presetClass="emph" presetSubtype="0" fill="hold" nodeType="withEffect">
                                  <p:stCondLst>
                                    <p:cond delay="0"/>
                                  </p:stCondLst>
                                  <p:childTnLst>
                                    <p:animEffect transition="out" filter="fade">
                                      <p:cBhvr>
                                        <p:cTn id="38" dur="500" tmFilter="0, 0; .2, .5; .8, .5; 1, 0"/>
                                        <p:tgtEl>
                                          <p:spTgt spid="31"/>
                                        </p:tgtEl>
                                      </p:cBhvr>
                                    </p:animEffect>
                                    <p:animScale>
                                      <p:cBhvr>
                                        <p:cTn id="39" dur="250" autoRev="1" fill="hold"/>
                                        <p:tgtEl>
                                          <p:spTgt spid="31"/>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03</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毕业设计论文撰写方法与要求</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3" name="文本框 2"/>
          <p:cNvSpPr txBox="1"/>
          <p:nvPr/>
        </p:nvSpPr>
        <p:spPr>
          <a:xfrm>
            <a:off x="438785" y="1384300"/>
            <a:ext cx="8334375" cy="958660"/>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（一）软件开发过程与毕业设计论文关系</a:t>
            </a:r>
            <a:endParaRPr lang="zh-CN" altLang="en-US" sz="2000" dirty="0">
              <a:solidFill>
                <a:srgbClr val="0070C0"/>
              </a:solidFill>
              <a:latin typeface="微软雅黑" panose="020B0503020204020204" charset="-122"/>
              <a:ea typeface="微软雅黑" panose="020B0503020204020204" charset="-122"/>
            </a:endParaRPr>
          </a:p>
          <a:p>
            <a:pPr marL="800100" lvl="1" indent="-342900" algn="just">
              <a:lnSpc>
                <a:spcPct val="150000"/>
              </a:lnSpc>
              <a:buClrTx/>
              <a:buSzTx/>
              <a:buFont typeface="Wingdings" panose="05000000000000000000" charset="0"/>
              <a:buChar char="Ø"/>
            </a:pPr>
            <a:endParaRPr lang="zh-CN" altLang="en-US" sz="2000" dirty="0"/>
          </a:p>
        </p:txBody>
      </p:sp>
      <p:graphicFrame>
        <p:nvGraphicFramePr>
          <p:cNvPr id="4" name="内容占位符 3"/>
          <p:cNvGraphicFramePr/>
          <p:nvPr/>
        </p:nvGraphicFramePr>
        <p:xfrm>
          <a:off x="408614" y="2386575"/>
          <a:ext cx="11374771" cy="32972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03</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毕业设计论文撰写方法与要求</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5" name="文本框 4"/>
          <p:cNvSpPr txBox="1"/>
          <p:nvPr/>
        </p:nvSpPr>
        <p:spPr>
          <a:xfrm>
            <a:off x="438785" y="1384300"/>
            <a:ext cx="11314430" cy="968791"/>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（二）问题定义</a:t>
            </a:r>
            <a:endParaRPr lang="zh-CN" altLang="en-US" sz="2000" dirty="0">
              <a:solidFill>
                <a:srgbClr val="0070C0"/>
              </a:solidFill>
              <a:latin typeface="微软雅黑" panose="020B0503020204020204" charset="-122"/>
              <a:ea typeface="微软雅黑" panose="020B0503020204020204" charset="-122"/>
            </a:endParaRPr>
          </a:p>
          <a:p>
            <a:pPr marL="800100" lvl="1" indent="-342900" algn="just">
              <a:lnSpc>
                <a:spcPct val="150000"/>
              </a:lnSpc>
              <a:buClrTx/>
              <a:buSzTx/>
              <a:buFont typeface="Wingdings" panose="05000000000000000000" charset="0"/>
              <a:buChar char="Ø"/>
            </a:pPr>
            <a:endParaRPr lang="zh-CN" altLang="en-US" sz="2000" dirty="0"/>
          </a:p>
        </p:txBody>
      </p:sp>
      <p:sp>
        <p:nvSpPr>
          <p:cNvPr id="6" name="内容占位符 2"/>
          <p:cNvSpPr txBox="1"/>
          <p:nvPr/>
        </p:nvSpPr>
        <p:spPr>
          <a:xfrm>
            <a:off x="266813" y="2075561"/>
            <a:ext cx="11486402" cy="3864144"/>
          </a:xfrm>
          <a:prstGeom prst="rect">
            <a:avLst/>
          </a:prstGeom>
        </p:spPr>
        <p:txBody>
          <a:bodyPr>
            <a:normAutofit/>
          </a:bodyPr>
          <a:lst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a:lnSpc>
                <a:spcPct val="150000"/>
              </a:lnSpc>
            </a:pPr>
            <a:r>
              <a:rPr lang="zh-CN" altLang="en-US" sz="2800" dirty="0"/>
              <a:t>项目背景</a:t>
            </a:r>
            <a:endParaRPr lang="en-US" altLang="zh-CN" sz="2800" dirty="0"/>
          </a:p>
          <a:p>
            <a:pPr lvl="1">
              <a:lnSpc>
                <a:spcPct val="150000"/>
              </a:lnSpc>
            </a:pPr>
            <a:r>
              <a:rPr lang="zh-CN" altLang="en-US" sz="2400" dirty="0"/>
              <a:t>社会发展背景、项目的出发点以及项目的意义和重要性等等</a:t>
            </a:r>
            <a:endParaRPr lang="en-US" altLang="zh-CN" sz="2400" dirty="0"/>
          </a:p>
          <a:p>
            <a:pPr>
              <a:lnSpc>
                <a:spcPct val="150000"/>
              </a:lnSpc>
            </a:pPr>
            <a:r>
              <a:rPr lang="zh-CN" altLang="en-US" sz="2800" dirty="0"/>
              <a:t>研究的内容</a:t>
            </a:r>
            <a:endParaRPr lang="en-US" altLang="zh-CN" sz="2800" dirty="0"/>
          </a:p>
          <a:p>
            <a:pPr lvl="1">
              <a:lnSpc>
                <a:spcPct val="150000"/>
              </a:lnSpc>
            </a:pPr>
            <a:r>
              <a:rPr lang="zh-CN" altLang="en-US" sz="2400" dirty="0"/>
              <a:t>定义问题</a:t>
            </a:r>
            <a:endParaRPr lang="en-US" altLang="zh-CN" sz="2400" dirty="0"/>
          </a:p>
          <a:p>
            <a:pPr lvl="1">
              <a:lnSpc>
                <a:spcPct val="150000"/>
              </a:lnSpc>
            </a:pPr>
            <a:r>
              <a:rPr lang="zh-CN" altLang="en-US" sz="2400" dirty="0"/>
              <a:t>简要说明论文中的系统采用了什么样的技术手段，采用了什么样的组织架构，做了些什么研究工作，解决了哪些问题</a:t>
            </a:r>
            <a:endParaRPr lang="zh-CN" alt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03</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毕业设计论文撰写方法与要求</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3" name="文本框 2"/>
          <p:cNvSpPr txBox="1"/>
          <p:nvPr/>
        </p:nvSpPr>
        <p:spPr>
          <a:xfrm>
            <a:off x="438785" y="1384300"/>
            <a:ext cx="11473582" cy="505523"/>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（三）需求分析</a:t>
            </a:r>
            <a:endParaRPr lang="zh-CN" altLang="en-US" sz="2000" dirty="0"/>
          </a:p>
        </p:txBody>
      </p:sp>
      <p:sp>
        <p:nvSpPr>
          <p:cNvPr id="4" name="内容占位符 2"/>
          <p:cNvSpPr txBox="1"/>
          <p:nvPr/>
        </p:nvSpPr>
        <p:spPr>
          <a:xfrm>
            <a:off x="571499" y="2190316"/>
            <a:ext cx="11340867" cy="4038600"/>
          </a:xfrm>
          <a:prstGeom prst="rect">
            <a:avLst/>
          </a:prstGeom>
        </p:spPr>
        <p:txBody>
          <a:bodyPr/>
          <a:lst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a:lnSpc>
                <a:spcPct val="150000"/>
              </a:lnSpc>
            </a:pPr>
            <a:r>
              <a:rPr lang="zh-CN" altLang="en-US" sz="2800" dirty="0"/>
              <a:t>针对提出的问题，系统需要</a:t>
            </a:r>
            <a:r>
              <a:rPr lang="zh-CN" altLang="en-US" sz="2800" dirty="0">
                <a:solidFill>
                  <a:srgbClr val="FF0000"/>
                </a:solidFill>
              </a:rPr>
              <a:t>做什么</a:t>
            </a:r>
            <a:r>
              <a:rPr lang="zh-CN" altLang="en-US" sz="2800" dirty="0"/>
              <a:t>才能解决问题</a:t>
            </a:r>
            <a:endParaRPr lang="en-US" altLang="zh-CN" sz="2800" dirty="0"/>
          </a:p>
          <a:p>
            <a:pPr lvl="1">
              <a:lnSpc>
                <a:spcPct val="150000"/>
              </a:lnSpc>
            </a:pPr>
            <a:r>
              <a:rPr lang="zh-CN" altLang="en-US" sz="2400" dirty="0"/>
              <a:t>解决问题的步骤（业务分析）</a:t>
            </a:r>
            <a:endParaRPr lang="en-US" altLang="zh-CN" sz="2400" dirty="0"/>
          </a:p>
          <a:p>
            <a:pPr lvl="1">
              <a:lnSpc>
                <a:spcPct val="150000"/>
              </a:lnSpc>
            </a:pPr>
            <a:r>
              <a:rPr lang="zh-CN" altLang="en-US" sz="2400" dirty="0"/>
              <a:t>系统必须具有的功能（用例分析）</a:t>
            </a:r>
            <a:endParaRPr lang="zh-CN" alt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03</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毕业设计论文撰写方法与要求</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5" name="文本框 4"/>
          <p:cNvSpPr txBox="1"/>
          <p:nvPr/>
        </p:nvSpPr>
        <p:spPr>
          <a:xfrm>
            <a:off x="438785" y="1384300"/>
            <a:ext cx="8334375" cy="499111"/>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（三）需求分析</a:t>
            </a:r>
            <a:r>
              <a:rPr lang="en-US" altLang="zh-CN" sz="2000" dirty="0">
                <a:solidFill>
                  <a:srgbClr val="0070C0"/>
                </a:solidFill>
                <a:latin typeface="微软雅黑" panose="020B0503020204020204" charset="-122"/>
                <a:ea typeface="微软雅黑" panose="020B0503020204020204" charset="-122"/>
              </a:rPr>
              <a:t>——</a:t>
            </a:r>
            <a:r>
              <a:rPr lang="zh-CN" altLang="en-US" sz="2000" dirty="0">
                <a:solidFill>
                  <a:srgbClr val="0070C0"/>
                </a:solidFill>
                <a:latin typeface="微软雅黑" panose="020B0503020204020204" charset="-122"/>
                <a:ea typeface="微软雅黑" panose="020B0503020204020204" charset="-122"/>
              </a:rPr>
              <a:t>业务分析</a:t>
            </a:r>
            <a:endParaRPr lang="zh-CN" altLang="en-US" sz="2000" dirty="0"/>
          </a:p>
        </p:txBody>
      </p:sp>
      <p:sp>
        <p:nvSpPr>
          <p:cNvPr id="6" name="内容占位符 2"/>
          <p:cNvSpPr txBox="1"/>
          <p:nvPr/>
        </p:nvSpPr>
        <p:spPr>
          <a:xfrm>
            <a:off x="595618" y="2097798"/>
            <a:ext cx="8439797" cy="4038600"/>
          </a:xfrm>
          <a:prstGeom prst="rect">
            <a:avLst/>
          </a:prstGeom>
        </p:spPr>
        <p:txBody>
          <a:bodyPr>
            <a:normAutofit lnSpcReduction="10000"/>
          </a:bodyPr>
          <a:lst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a:lnSpc>
                <a:spcPct val="150000"/>
              </a:lnSpc>
            </a:pPr>
            <a:r>
              <a:rPr lang="zh-CN" altLang="en-US" sz="2800" dirty="0"/>
              <a:t>业务描述</a:t>
            </a:r>
            <a:endParaRPr lang="en-US" altLang="zh-CN" sz="2800" dirty="0"/>
          </a:p>
          <a:p>
            <a:pPr lvl="1">
              <a:lnSpc>
                <a:spcPct val="150000"/>
              </a:lnSpc>
            </a:pPr>
            <a:r>
              <a:rPr lang="zh-CN" altLang="en-US" sz="2400" dirty="0"/>
              <a:t>业务描述</a:t>
            </a:r>
            <a:endParaRPr lang="en-US" altLang="zh-CN" sz="2400" dirty="0"/>
          </a:p>
          <a:p>
            <a:pPr>
              <a:lnSpc>
                <a:spcPct val="150000"/>
              </a:lnSpc>
            </a:pPr>
            <a:r>
              <a:rPr lang="zh-CN" altLang="en-US" sz="2800" dirty="0"/>
              <a:t>业务人员分析</a:t>
            </a:r>
            <a:endParaRPr lang="en-US" altLang="zh-CN" sz="2800" dirty="0"/>
          </a:p>
          <a:p>
            <a:pPr lvl="1">
              <a:lnSpc>
                <a:spcPct val="150000"/>
              </a:lnSpc>
            </a:pPr>
            <a:r>
              <a:rPr lang="zh-CN" altLang="en-US" sz="2400" dirty="0"/>
              <a:t>完成某一项业务的人员</a:t>
            </a:r>
            <a:endParaRPr lang="en-US" altLang="zh-CN" sz="2400" dirty="0"/>
          </a:p>
          <a:p>
            <a:pPr>
              <a:lnSpc>
                <a:spcPct val="150000"/>
              </a:lnSpc>
            </a:pPr>
            <a:r>
              <a:rPr lang="zh-CN" altLang="en-US" sz="2800" dirty="0"/>
              <a:t>业务流程分析</a:t>
            </a:r>
            <a:endParaRPr lang="en-US" altLang="zh-CN" sz="2800" dirty="0"/>
          </a:p>
          <a:p>
            <a:pPr lvl="1">
              <a:lnSpc>
                <a:spcPct val="150000"/>
              </a:lnSpc>
            </a:pPr>
            <a:r>
              <a:rPr lang="zh-CN" altLang="en-US" sz="2400" dirty="0"/>
              <a:t>完成某一项业务的步骤</a:t>
            </a:r>
            <a:endParaRPr lang="en-US" altLang="zh-CN" sz="2400" dirty="0"/>
          </a:p>
          <a:p>
            <a:pPr lvl="1"/>
            <a:endParaRPr lang="zh-CN" altLang="en-US" dirty="0"/>
          </a:p>
        </p:txBody>
      </p:sp>
      <p:pic>
        <p:nvPicPr>
          <p:cNvPr id="7" name="图片 6" descr="课堂考勤业务流程图"/>
          <p:cNvPicPr>
            <a:picLocks noChangeAspect="1"/>
          </p:cNvPicPr>
          <p:nvPr/>
        </p:nvPicPr>
        <p:blipFill>
          <a:blip r:embed="rId2"/>
          <a:stretch>
            <a:fillRect/>
          </a:stretch>
        </p:blipFill>
        <p:spPr>
          <a:xfrm>
            <a:off x="6478171" y="1503976"/>
            <a:ext cx="4737909" cy="485889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03</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毕业设计论文撰写方法与要求</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3" name="文本框 2"/>
          <p:cNvSpPr txBox="1"/>
          <p:nvPr/>
        </p:nvSpPr>
        <p:spPr>
          <a:xfrm>
            <a:off x="438785" y="1384300"/>
            <a:ext cx="8334375" cy="499111"/>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（三）需求分析</a:t>
            </a:r>
            <a:r>
              <a:rPr lang="en-US" altLang="zh-CN" sz="2000" dirty="0">
                <a:solidFill>
                  <a:srgbClr val="0070C0"/>
                </a:solidFill>
                <a:latin typeface="微软雅黑" panose="020B0503020204020204" charset="-122"/>
                <a:ea typeface="微软雅黑" panose="020B0503020204020204" charset="-122"/>
              </a:rPr>
              <a:t>——</a:t>
            </a:r>
            <a:r>
              <a:rPr lang="zh-CN" altLang="en-US" sz="2000" dirty="0">
                <a:solidFill>
                  <a:srgbClr val="0070C0"/>
                </a:solidFill>
                <a:latin typeface="微软雅黑" panose="020B0503020204020204" charset="-122"/>
                <a:ea typeface="微软雅黑" panose="020B0503020204020204" charset="-122"/>
              </a:rPr>
              <a:t>用例分析</a:t>
            </a:r>
            <a:endParaRPr lang="zh-CN" altLang="en-US" sz="2000" dirty="0"/>
          </a:p>
        </p:txBody>
      </p:sp>
      <p:sp>
        <p:nvSpPr>
          <p:cNvPr id="4" name="内容占位符 2"/>
          <p:cNvSpPr txBox="1"/>
          <p:nvPr/>
        </p:nvSpPr>
        <p:spPr>
          <a:xfrm>
            <a:off x="211138" y="2129295"/>
            <a:ext cx="9872871" cy="4038600"/>
          </a:xfrm>
          <a:prstGeom prst="rect">
            <a:avLst/>
          </a:prstGeom>
        </p:spPr>
        <p:txBody>
          <a:bodyPr>
            <a:normAutofit/>
          </a:bodyPr>
          <a:lst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a:lnSpc>
                <a:spcPct val="150000"/>
              </a:lnSpc>
            </a:pPr>
            <a:r>
              <a:rPr lang="zh-CN" altLang="en-US" sz="2800" dirty="0"/>
              <a:t>用户角色分析</a:t>
            </a:r>
            <a:endParaRPr lang="en-US" altLang="zh-CN" sz="2800" dirty="0"/>
          </a:p>
          <a:p>
            <a:pPr lvl="1">
              <a:lnSpc>
                <a:spcPct val="150000"/>
              </a:lnSpc>
            </a:pPr>
            <a:r>
              <a:rPr lang="zh-CN" altLang="en-US" sz="2400" dirty="0"/>
              <a:t>系统用户角色</a:t>
            </a:r>
            <a:endParaRPr lang="en-US" altLang="zh-CN" sz="2400" dirty="0"/>
          </a:p>
          <a:p>
            <a:pPr>
              <a:lnSpc>
                <a:spcPct val="150000"/>
              </a:lnSpc>
            </a:pPr>
            <a:r>
              <a:rPr lang="zh-CN" altLang="en-US" sz="2800" dirty="0"/>
              <a:t>总体用例分析</a:t>
            </a:r>
            <a:endParaRPr lang="en-US" altLang="zh-CN" sz="2800" dirty="0"/>
          </a:p>
          <a:p>
            <a:pPr lvl="1">
              <a:lnSpc>
                <a:spcPct val="150000"/>
              </a:lnSpc>
            </a:pPr>
            <a:r>
              <a:rPr lang="zh-CN" altLang="en-US" sz="2400" dirty="0"/>
              <a:t>系统功能划分</a:t>
            </a:r>
            <a:endParaRPr lang="en-US" altLang="zh-CN" sz="2400" dirty="0"/>
          </a:p>
          <a:p>
            <a:pPr>
              <a:lnSpc>
                <a:spcPct val="150000"/>
              </a:lnSpc>
            </a:pPr>
            <a:r>
              <a:rPr lang="zh-CN" altLang="en-US" sz="2800" dirty="0"/>
              <a:t>子用例分析</a:t>
            </a:r>
            <a:endParaRPr lang="en-US" altLang="zh-CN" sz="2800" dirty="0"/>
          </a:p>
          <a:p>
            <a:pPr lvl="1">
              <a:lnSpc>
                <a:spcPct val="150000"/>
              </a:lnSpc>
            </a:pPr>
            <a:r>
              <a:rPr lang="zh-CN" altLang="en-US" sz="2400" dirty="0"/>
              <a:t>每一个功能的细化</a:t>
            </a:r>
            <a:endParaRPr lang="zh-CN" altLang="en-US" sz="2400" dirty="0"/>
          </a:p>
        </p:txBody>
      </p:sp>
      <p:pic>
        <p:nvPicPr>
          <p:cNvPr id="10" name="图片 9" descr="系统用例图"/>
          <p:cNvPicPr>
            <a:picLocks noChangeAspect="1"/>
          </p:cNvPicPr>
          <p:nvPr/>
        </p:nvPicPr>
        <p:blipFill>
          <a:blip r:embed="rId2"/>
          <a:stretch>
            <a:fillRect/>
          </a:stretch>
        </p:blipFill>
        <p:spPr>
          <a:xfrm>
            <a:off x="5984248" y="1503976"/>
            <a:ext cx="5929860" cy="4663919"/>
          </a:xfrm>
          <a:prstGeom prst="rect">
            <a:avLst/>
          </a:prstGeom>
        </p:spPr>
      </p:pic>
      <p:sp>
        <p:nvSpPr>
          <p:cNvPr id="11" name="矩形 10"/>
          <p:cNvSpPr/>
          <p:nvPr/>
        </p:nvSpPr>
        <p:spPr>
          <a:xfrm>
            <a:off x="7315200" y="2003087"/>
            <a:ext cx="3397541" cy="622233"/>
          </a:xfrm>
          <a:prstGeom prst="rect">
            <a:avLst/>
          </a:prstGeom>
          <a:noFill/>
          <a:ln>
            <a:solidFill>
              <a:srgbClr val="C0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03</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毕业设计论文撰写方法与要求</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3" name="文本框 2"/>
          <p:cNvSpPr txBox="1"/>
          <p:nvPr/>
        </p:nvSpPr>
        <p:spPr>
          <a:xfrm>
            <a:off x="438785" y="1384300"/>
            <a:ext cx="8334375" cy="499111"/>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（三）需求分析</a:t>
            </a:r>
            <a:r>
              <a:rPr lang="en-US" altLang="zh-CN" sz="2000" dirty="0">
                <a:solidFill>
                  <a:srgbClr val="0070C0"/>
                </a:solidFill>
                <a:latin typeface="微软雅黑" panose="020B0503020204020204" charset="-122"/>
                <a:ea typeface="微软雅黑" panose="020B0503020204020204" charset="-122"/>
              </a:rPr>
              <a:t>——</a:t>
            </a:r>
            <a:r>
              <a:rPr lang="zh-CN" altLang="en-US" sz="2000" dirty="0">
                <a:solidFill>
                  <a:srgbClr val="0070C0"/>
                </a:solidFill>
                <a:latin typeface="微软雅黑" panose="020B0503020204020204" charset="-122"/>
                <a:ea typeface="微软雅黑" panose="020B0503020204020204" charset="-122"/>
              </a:rPr>
              <a:t>用例分析</a:t>
            </a:r>
            <a:endParaRPr lang="zh-CN" altLang="en-US" sz="2000" dirty="0"/>
          </a:p>
        </p:txBody>
      </p:sp>
      <p:sp>
        <p:nvSpPr>
          <p:cNvPr id="8" name="内容占位符 2"/>
          <p:cNvSpPr txBox="1"/>
          <p:nvPr/>
        </p:nvSpPr>
        <p:spPr>
          <a:xfrm>
            <a:off x="167780" y="2059821"/>
            <a:ext cx="5368954" cy="4038600"/>
          </a:xfrm>
          <a:prstGeom prst="rect">
            <a:avLst/>
          </a:prstGeom>
        </p:spPr>
        <p:txBody>
          <a:bodyPr/>
          <a:lst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lvl="1"/>
            <a:r>
              <a:rPr lang="zh-CN" altLang="en-US" dirty="0"/>
              <a:t>子用例分析</a:t>
            </a:r>
            <a:endParaRPr lang="en-US" altLang="zh-CN" dirty="0"/>
          </a:p>
          <a:p>
            <a:pPr lvl="2"/>
            <a:r>
              <a:rPr lang="zh-CN" altLang="en-US" dirty="0"/>
              <a:t>课堂考勤总用例进一步</a:t>
            </a:r>
            <a:r>
              <a:rPr lang="zh-CN" altLang="en-US" b="1" dirty="0">
                <a:solidFill>
                  <a:srgbClr val="FF0000"/>
                </a:solidFill>
              </a:rPr>
              <a:t>分解为：</a:t>
            </a:r>
            <a:endParaRPr lang="en-US" altLang="zh-CN" b="1" dirty="0">
              <a:solidFill>
                <a:srgbClr val="FF0000"/>
              </a:solidFill>
            </a:endParaRPr>
          </a:p>
          <a:p>
            <a:pPr lvl="3"/>
            <a:r>
              <a:rPr lang="zh-CN" altLang="en-US" b="1" dirty="0">
                <a:solidFill>
                  <a:srgbClr val="FF0000"/>
                </a:solidFill>
              </a:rPr>
              <a:t>参数设置</a:t>
            </a:r>
            <a:endParaRPr lang="en-US" altLang="zh-CN" b="1" dirty="0">
              <a:solidFill>
                <a:srgbClr val="FF0000"/>
              </a:solidFill>
            </a:endParaRPr>
          </a:p>
          <a:p>
            <a:pPr lvl="4"/>
            <a:r>
              <a:rPr lang="zh-CN" altLang="en-US" b="1" dirty="0">
                <a:solidFill>
                  <a:srgbClr val="FF0000"/>
                </a:solidFill>
              </a:rPr>
              <a:t>上课信息设置</a:t>
            </a:r>
            <a:endParaRPr lang="en-US" altLang="zh-CN" b="1" dirty="0">
              <a:solidFill>
                <a:srgbClr val="FF0000"/>
              </a:solidFill>
            </a:endParaRPr>
          </a:p>
          <a:p>
            <a:pPr lvl="4"/>
            <a:r>
              <a:rPr lang="zh-CN" altLang="en-US" b="1" dirty="0">
                <a:solidFill>
                  <a:srgbClr val="FF0000"/>
                </a:solidFill>
              </a:rPr>
              <a:t>考勤时间设置</a:t>
            </a:r>
            <a:endParaRPr lang="en-US" altLang="zh-CN" b="1" dirty="0">
              <a:solidFill>
                <a:srgbClr val="FF0000"/>
              </a:solidFill>
            </a:endParaRPr>
          </a:p>
          <a:p>
            <a:pPr lvl="4"/>
            <a:r>
              <a:rPr lang="en-US" altLang="zh-CN" b="1" dirty="0">
                <a:solidFill>
                  <a:srgbClr val="FF0000"/>
                </a:solidFill>
              </a:rPr>
              <a:t>…</a:t>
            </a:r>
            <a:endParaRPr lang="en-US" altLang="zh-CN" b="1" dirty="0">
              <a:solidFill>
                <a:srgbClr val="FF0000"/>
              </a:solidFill>
            </a:endParaRPr>
          </a:p>
          <a:p>
            <a:pPr lvl="3"/>
            <a:r>
              <a:rPr lang="zh-CN" altLang="en-US" b="1" dirty="0">
                <a:solidFill>
                  <a:srgbClr val="FF0000"/>
                </a:solidFill>
              </a:rPr>
              <a:t>教师考勤</a:t>
            </a:r>
            <a:endParaRPr lang="en-US" altLang="zh-CN" b="1" dirty="0">
              <a:solidFill>
                <a:srgbClr val="FF0000"/>
              </a:solidFill>
            </a:endParaRPr>
          </a:p>
          <a:p>
            <a:pPr lvl="4"/>
            <a:r>
              <a:rPr lang="zh-CN" altLang="en-US" b="1" dirty="0">
                <a:solidFill>
                  <a:srgbClr val="FF0000"/>
                </a:solidFill>
              </a:rPr>
              <a:t>身份证刷卡</a:t>
            </a:r>
            <a:endParaRPr lang="en-US" altLang="zh-CN" b="1" dirty="0">
              <a:solidFill>
                <a:srgbClr val="FF0000"/>
              </a:solidFill>
            </a:endParaRPr>
          </a:p>
          <a:p>
            <a:pPr lvl="3"/>
            <a:r>
              <a:rPr lang="zh-CN" altLang="en-US" b="1" dirty="0">
                <a:solidFill>
                  <a:srgbClr val="FF0000"/>
                </a:solidFill>
              </a:rPr>
              <a:t>学生考勤</a:t>
            </a:r>
            <a:endParaRPr lang="en-US" altLang="zh-CN" b="1" dirty="0">
              <a:solidFill>
                <a:srgbClr val="FF0000"/>
              </a:solidFill>
            </a:endParaRPr>
          </a:p>
          <a:p>
            <a:pPr lvl="4"/>
            <a:r>
              <a:rPr lang="zh-CN" altLang="en-US" b="1" dirty="0">
                <a:solidFill>
                  <a:srgbClr val="FF0000"/>
                </a:solidFill>
              </a:rPr>
              <a:t>身份证刷卡</a:t>
            </a:r>
            <a:endParaRPr lang="en-US" altLang="zh-CN" b="1" dirty="0">
              <a:solidFill>
                <a:srgbClr val="FF0000"/>
              </a:solidFill>
            </a:endParaRPr>
          </a:p>
          <a:p>
            <a:pPr lvl="4"/>
            <a:endParaRPr lang="zh-CN" altLang="en-US" b="1" dirty="0">
              <a:solidFill>
                <a:srgbClr val="FF0000"/>
              </a:solidFill>
            </a:endParaRPr>
          </a:p>
        </p:txBody>
      </p:sp>
      <p:pic>
        <p:nvPicPr>
          <p:cNvPr id="13" name="图片 12" descr="课堂考勤用例图"/>
          <p:cNvPicPr>
            <a:picLocks noChangeAspect="1"/>
          </p:cNvPicPr>
          <p:nvPr/>
        </p:nvPicPr>
        <p:blipFill>
          <a:blip r:embed="rId2"/>
          <a:stretch>
            <a:fillRect/>
          </a:stretch>
        </p:blipFill>
        <p:spPr>
          <a:xfrm>
            <a:off x="5528345" y="1633855"/>
            <a:ext cx="6560191" cy="433643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03</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毕业设计论文撰写方法与要求</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3" name="文本框 2"/>
          <p:cNvSpPr txBox="1"/>
          <p:nvPr/>
        </p:nvSpPr>
        <p:spPr>
          <a:xfrm>
            <a:off x="438785" y="1384300"/>
            <a:ext cx="8334375" cy="499111"/>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（三）需求分析</a:t>
            </a:r>
            <a:r>
              <a:rPr lang="en-US" altLang="zh-CN" sz="2000" dirty="0">
                <a:solidFill>
                  <a:srgbClr val="0070C0"/>
                </a:solidFill>
                <a:latin typeface="微软雅黑" panose="020B0503020204020204" charset="-122"/>
                <a:ea typeface="微软雅黑" panose="020B0503020204020204" charset="-122"/>
              </a:rPr>
              <a:t>——</a:t>
            </a:r>
            <a:r>
              <a:rPr lang="zh-CN" altLang="en-US" sz="2000" dirty="0">
                <a:solidFill>
                  <a:srgbClr val="0070C0"/>
                </a:solidFill>
                <a:latin typeface="微软雅黑" panose="020B0503020204020204" charset="-122"/>
                <a:ea typeface="微软雅黑" panose="020B0503020204020204" charset="-122"/>
              </a:rPr>
              <a:t>用例分析</a:t>
            </a:r>
            <a:endParaRPr lang="zh-CN" altLang="en-US" sz="2000" dirty="0"/>
          </a:p>
        </p:txBody>
      </p:sp>
      <p:sp>
        <p:nvSpPr>
          <p:cNvPr id="4" name="内容占位符 2"/>
          <p:cNvSpPr txBox="1"/>
          <p:nvPr/>
        </p:nvSpPr>
        <p:spPr>
          <a:xfrm>
            <a:off x="0" y="2250119"/>
            <a:ext cx="6096000" cy="4038600"/>
          </a:xfrm>
          <a:prstGeom prst="rect">
            <a:avLst/>
          </a:prstGeom>
        </p:spPr>
        <p:txBody>
          <a:bodyPr/>
          <a:lst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lvl="1"/>
            <a:r>
              <a:rPr lang="zh-CN" altLang="en-US" dirty="0"/>
              <a:t>用例描述</a:t>
            </a:r>
            <a:endParaRPr lang="en-US" altLang="zh-CN" dirty="0"/>
          </a:p>
          <a:p>
            <a:pPr lvl="2"/>
            <a:r>
              <a:rPr lang="zh-CN" altLang="en-US" dirty="0"/>
              <a:t>针对课堂考勤分解出来的</a:t>
            </a:r>
            <a:r>
              <a:rPr lang="zh-CN" altLang="en-US" b="1" dirty="0">
                <a:solidFill>
                  <a:srgbClr val="FF0000"/>
                </a:solidFill>
              </a:rPr>
              <a:t>每一个最低层子用例</a:t>
            </a:r>
            <a:r>
              <a:rPr lang="zh-CN" altLang="en-US" dirty="0"/>
              <a:t>都以模板表格形式描述</a:t>
            </a:r>
            <a:endParaRPr lang="en-US" altLang="zh-CN" dirty="0"/>
          </a:p>
          <a:p>
            <a:pPr lvl="2"/>
            <a:r>
              <a:rPr lang="zh-CN" altLang="en-US" dirty="0"/>
              <a:t>描述内容：</a:t>
            </a:r>
            <a:r>
              <a:rPr lang="zh-CN" altLang="en-US" b="1" dirty="0">
                <a:solidFill>
                  <a:srgbClr val="FF0000"/>
                </a:solidFill>
              </a:rPr>
              <a:t>参与者和系统交互过程</a:t>
            </a:r>
            <a:endParaRPr lang="en-US" altLang="zh-CN" b="1" dirty="0">
              <a:solidFill>
                <a:srgbClr val="FF0000"/>
              </a:solidFill>
            </a:endParaRPr>
          </a:p>
          <a:p>
            <a:pPr lvl="2"/>
            <a:r>
              <a:rPr lang="zh-CN" altLang="en-US" b="1" dirty="0">
                <a:solidFill>
                  <a:srgbClr val="FF0000"/>
                </a:solidFill>
              </a:rPr>
              <a:t>注意：</a:t>
            </a:r>
            <a:r>
              <a:rPr lang="zh-CN" altLang="en-US" b="1" dirty="0"/>
              <a:t>子用例图中</a:t>
            </a:r>
            <a:r>
              <a:rPr lang="zh-CN" altLang="en-US" b="1" dirty="0">
                <a:solidFill>
                  <a:srgbClr val="FF0000"/>
                </a:solidFill>
              </a:rPr>
              <a:t>每一个用例</a:t>
            </a:r>
            <a:r>
              <a:rPr lang="zh-CN" altLang="en-US" b="1" dirty="0"/>
              <a:t>都需要</a:t>
            </a:r>
            <a:r>
              <a:rPr lang="zh-CN" altLang="en-US" b="1" dirty="0">
                <a:solidFill>
                  <a:srgbClr val="FF0000"/>
                </a:solidFill>
              </a:rPr>
              <a:t>描述</a:t>
            </a:r>
            <a:endParaRPr lang="zh-CN" altLang="en-US" b="1" dirty="0">
              <a:solidFill>
                <a:srgbClr val="FF0000"/>
              </a:solidFill>
            </a:endParaRPr>
          </a:p>
        </p:txBody>
      </p:sp>
      <p:pic>
        <p:nvPicPr>
          <p:cNvPr id="5" name="图片 4"/>
          <p:cNvPicPr>
            <a:picLocks noChangeAspect="1"/>
          </p:cNvPicPr>
          <p:nvPr/>
        </p:nvPicPr>
        <p:blipFill>
          <a:blip r:embed="rId2"/>
          <a:stretch>
            <a:fillRect/>
          </a:stretch>
        </p:blipFill>
        <p:spPr>
          <a:xfrm>
            <a:off x="6204169" y="1883411"/>
            <a:ext cx="5608049" cy="359028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03</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毕业设计论文撰写方法与要求</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3" name="文本框 2"/>
          <p:cNvSpPr txBox="1"/>
          <p:nvPr/>
        </p:nvSpPr>
        <p:spPr>
          <a:xfrm>
            <a:off x="438785" y="1384300"/>
            <a:ext cx="8334375" cy="499111"/>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（三）需求分析</a:t>
            </a:r>
            <a:r>
              <a:rPr lang="en-US" altLang="zh-CN" sz="2000" dirty="0">
                <a:solidFill>
                  <a:srgbClr val="0070C0"/>
                </a:solidFill>
                <a:latin typeface="微软雅黑" panose="020B0503020204020204" charset="-122"/>
                <a:ea typeface="微软雅黑" panose="020B0503020204020204" charset="-122"/>
              </a:rPr>
              <a:t>——</a:t>
            </a:r>
            <a:r>
              <a:rPr lang="zh-CN" altLang="en-US" sz="2000" dirty="0">
                <a:solidFill>
                  <a:srgbClr val="0070C0"/>
                </a:solidFill>
                <a:latin typeface="微软雅黑" panose="020B0503020204020204" charset="-122"/>
                <a:ea typeface="微软雅黑" panose="020B0503020204020204" charset="-122"/>
              </a:rPr>
              <a:t>用例分析</a:t>
            </a:r>
            <a:endParaRPr lang="zh-CN" altLang="en-US" sz="2000" dirty="0"/>
          </a:p>
        </p:txBody>
      </p:sp>
      <p:pic>
        <p:nvPicPr>
          <p:cNvPr id="6" name="图片 5"/>
          <p:cNvPicPr>
            <a:picLocks noChangeAspect="1"/>
          </p:cNvPicPr>
          <p:nvPr/>
        </p:nvPicPr>
        <p:blipFill>
          <a:blip r:embed="rId2"/>
          <a:stretch>
            <a:fillRect/>
          </a:stretch>
        </p:blipFill>
        <p:spPr>
          <a:xfrm>
            <a:off x="1748626" y="1883411"/>
            <a:ext cx="1896839" cy="4240552"/>
          </a:xfrm>
          <a:prstGeom prst="rect">
            <a:avLst/>
          </a:prstGeom>
        </p:spPr>
      </p:pic>
      <p:pic>
        <p:nvPicPr>
          <p:cNvPr id="7" name="图片 6"/>
          <p:cNvPicPr>
            <a:picLocks noChangeAspect="1"/>
          </p:cNvPicPr>
          <p:nvPr/>
        </p:nvPicPr>
        <p:blipFill>
          <a:blip r:embed="rId3"/>
          <a:stretch>
            <a:fillRect/>
          </a:stretch>
        </p:blipFill>
        <p:spPr>
          <a:xfrm>
            <a:off x="7425800" y="1777715"/>
            <a:ext cx="3849734" cy="442184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03</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毕业设计论文撰写方法与要求</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3" name="文本框 2"/>
          <p:cNvSpPr txBox="1"/>
          <p:nvPr/>
        </p:nvSpPr>
        <p:spPr>
          <a:xfrm>
            <a:off x="438785" y="1384300"/>
            <a:ext cx="8334375" cy="499111"/>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（三）需求分析</a:t>
            </a:r>
            <a:r>
              <a:rPr lang="en-US" altLang="zh-CN" sz="2000" dirty="0">
                <a:solidFill>
                  <a:srgbClr val="0070C0"/>
                </a:solidFill>
                <a:latin typeface="微软雅黑" panose="020B0503020204020204" charset="-122"/>
                <a:ea typeface="微软雅黑" panose="020B0503020204020204" charset="-122"/>
              </a:rPr>
              <a:t>——</a:t>
            </a:r>
            <a:r>
              <a:rPr lang="zh-CN" altLang="en-US" sz="2000" dirty="0">
                <a:solidFill>
                  <a:srgbClr val="0070C0"/>
                </a:solidFill>
                <a:latin typeface="微软雅黑" panose="020B0503020204020204" charset="-122"/>
                <a:ea typeface="微软雅黑" panose="020B0503020204020204" charset="-122"/>
              </a:rPr>
              <a:t>用例分析</a:t>
            </a:r>
            <a:endParaRPr lang="zh-CN" altLang="en-US" sz="2000" dirty="0"/>
          </a:p>
        </p:txBody>
      </p:sp>
      <p:sp>
        <p:nvSpPr>
          <p:cNvPr id="4" name="内容占位符 2"/>
          <p:cNvSpPr txBox="1"/>
          <p:nvPr/>
        </p:nvSpPr>
        <p:spPr>
          <a:xfrm>
            <a:off x="313056" y="2201523"/>
            <a:ext cx="8722360" cy="4038600"/>
          </a:xfrm>
          <a:prstGeom prst="rect">
            <a:avLst/>
          </a:prstGeom>
        </p:spPr>
        <p:txBody>
          <a:bodyPr/>
          <a:lst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r>
              <a:rPr lang="zh-CN" altLang="en-US" sz="2800" dirty="0"/>
              <a:t>常见检查点</a:t>
            </a:r>
            <a:endParaRPr lang="en-US" altLang="zh-CN" sz="2800" dirty="0"/>
          </a:p>
          <a:p>
            <a:pPr lvl="1"/>
            <a:r>
              <a:rPr lang="zh-CN" altLang="en-US" sz="2400" dirty="0"/>
              <a:t>检查功能需求和功能实现是否一致</a:t>
            </a:r>
            <a:endParaRPr lang="en-US" altLang="zh-CN" sz="2400" dirty="0"/>
          </a:p>
          <a:p>
            <a:pPr lvl="1">
              <a:lnSpc>
                <a:spcPct val="150000"/>
              </a:lnSpc>
            </a:pPr>
            <a:r>
              <a:rPr lang="zh-CN" altLang="en-US" sz="2400" dirty="0"/>
              <a:t>检查功能需求和模块设计是否一致</a:t>
            </a:r>
            <a:endParaRPr lang="en-US" altLang="zh-CN" sz="2400" dirty="0"/>
          </a:p>
          <a:p>
            <a:pPr lvl="1"/>
            <a:r>
              <a:rPr lang="zh-CN" altLang="en-US" sz="2400" dirty="0"/>
              <a:t>检查用例和用例描述是否一致</a:t>
            </a:r>
            <a:endParaRPr lang="en-US" altLang="zh-CN" sz="2400" dirty="0"/>
          </a:p>
          <a:p>
            <a:pPr lvl="1"/>
            <a:endParaRPr lang="en-US" altLang="zh-CN" sz="2400" dirty="0"/>
          </a:p>
          <a:p>
            <a:pPr lvl="1"/>
            <a:endParaRPr lang="zh-CN" alt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03</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毕业设计论文撰写方法与要求</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5" name="文本框 4"/>
          <p:cNvSpPr txBox="1"/>
          <p:nvPr/>
        </p:nvSpPr>
        <p:spPr>
          <a:xfrm>
            <a:off x="438785" y="1384300"/>
            <a:ext cx="8334375" cy="958660"/>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（四）软件设计</a:t>
            </a:r>
            <a:endParaRPr lang="zh-CN" altLang="en-US" sz="2000" dirty="0">
              <a:solidFill>
                <a:srgbClr val="0070C0"/>
              </a:solidFill>
              <a:latin typeface="微软雅黑" panose="020B0503020204020204" charset="-122"/>
              <a:ea typeface="微软雅黑" panose="020B0503020204020204" charset="-122"/>
            </a:endParaRPr>
          </a:p>
          <a:p>
            <a:pPr marL="800100" lvl="1" indent="-342900" algn="just">
              <a:lnSpc>
                <a:spcPct val="150000"/>
              </a:lnSpc>
              <a:buClrTx/>
              <a:buSzTx/>
              <a:buFont typeface="Wingdings" panose="05000000000000000000" charset="0"/>
              <a:buChar char="Ø"/>
            </a:pPr>
            <a:endParaRPr lang="zh-CN" altLang="en-US" sz="2000" dirty="0"/>
          </a:p>
        </p:txBody>
      </p:sp>
      <p:sp>
        <p:nvSpPr>
          <p:cNvPr id="6" name="内容占位符 2"/>
          <p:cNvSpPr txBox="1"/>
          <p:nvPr/>
        </p:nvSpPr>
        <p:spPr>
          <a:xfrm>
            <a:off x="211138" y="1965336"/>
            <a:ext cx="11542077" cy="4038600"/>
          </a:xfrm>
          <a:prstGeom prst="rect">
            <a:avLst/>
          </a:prstGeom>
        </p:spPr>
        <p:txBody>
          <a:bodyPr/>
          <a:lst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a:lnSpc>
                <a:spcPct val="150000"/>
              </a:lnSpc>
            </a:pPr>
            <a:r>
              <a:rPr lang="zh-CN" altLang="en-US" sz="2800" dirty="0"/>
              <a:t>以需求分析为基础，主要解决</a:t>
            </a:r>
            <a:r>
              <a:rPr lang="zh-CN" altLang="en-US" sz="2800" dirty="0">
                <a:solidFill>
                  <a:srgbClr val="FF0000"/>
                </a:solidFill>
              </a:rPr>
              <a:t>怎么做</a:t>
            </a:r>
            <a:r>
              <a:rPr lang="zh-CN" altLang="en-US" sz="2800" dirty="0"/>
              <a:t>才能解决问题</a:t>
            </a:r>
            <a:endParaRPr lang="en-US" altLang="zh-CN" sz="2800" dirty="0"/>
          </a:p>
          <a:p>
            <a:pPr lvl="1">
              <a:lnSpc>
                <a:spcPct val="150000"/>
              </a:lnSpc>
            </a:pPr>
            <a:r>
              <a:rPr lang="zh-CN" altLang="en-US" sz="2400" dirty="0"/>
              <a:t>软件体系结构设计</a:t>
            </a:r>
            <a:endParaRPr lang="en-US" altLang="zh-CN" sz="2400" dirty="0"/>
          </a:p>
          <a:p>
            <a:pPr lvl="1">
              <a:lnSpc>
                <a:spcPct val="150000"/>
              </a:lnSpc>
            </a:pPr>
            <a:r>
              <a:rPr lang="zh-CN" altLang="en-US" sz="2400" dirty="0"/>
              <a:t>软件功能模块设计</a:t>
            </a:r>
            <a:endParaRPr lang="en-US" altLang="zh-CN" sz="2400" dirty="0"/>
          </a:p>
          <a:p>
            <a:pPr lvl="1">
              <a:lnSpc>
                <a:spcPct val="150000"/>
              </a:lnSpc>
            </a:pPr>
            <a:r>
              <a:rPr lang="zh-CN" altLang="en-US" sz="2400" dirty="0"/>
              <a:t>数据库设计</a:t>
            </a:r>
            <a:endParaRPr lang="zh-CN" alt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03</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毕业设计论文撰写方法与要求</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3" name="文本框 2"/>
          <p:cNvSpPr txBox="1"/>
          <p:nvPr/>
        </p:nvSpPr>
        <p:spPr>
          <a:xfrm>
            <a:off x="438785" y="1384300"/>
            <a:ext cx="8334375" cy="499111"/>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（四）软件设计</a:t>
            </a:r>
            <a:r>
              <a:rPr lang="en-US" altLang="zh-CN" sz="2000" dirty="0">
                <a:solidFill>
                  <a:srgbClr val="0070C0"/>
                </a:solidFill>
                <a:latin typeface="微软雅黑" panose="020B0503020204020204" charset="-122"/>
                <a:ea typeface="微软雅黑" panose="020B0503020204020204" charset="-122"/>
              </a:rPr>
              <a:t>——</a:t>
            </a:r>
            <a:r>
              <a:rPr lang="zh-CN" altLang="en-US" sz="2000" dirty="0">
                <a:solidFill>
                  <a:srgbClr val="0070C0"/>
                </a:solidFill>
                <a:latin typeface="微软雅黑" panose="020B0503020204020204" charset="-122"/>
                <a:ea typeface="微软雅黑" panose="020B0503020204020204" charset="-122"/>
              </a:rPr>
              <a:t>软件体系结构设计</a:t>
            </a:r>
            <a:endParaRPr lang="zh-CN" altLang="en-US" sz="2000" dirty="0"/>
          </a:p>
        </p:txBody>
      </p:sp>
      <p:sp>
        <p:nvSpPr>
          <p:cNvPr id="4" name="内容占位符 2"/>
          <p:cNvSpPr txBox="1"/>
          <p:nvPr/>
        </p:nvSpPr>
        <p:spPr>
          <a:xfrm>
            <a:off x="433699" y="2008661"/>
            <a:ext cx="11319277" cy="4038600"/>
          </a:xfrm>
          <a:prstGeom prst="rect">
            <a:avLst/>
          </a:prstGeom>
        </p:spPr>
        <p:txBody>
          <a:bodyPr/>
          <a:lst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r>
              <a:rPr lang="zh-CN" altLang="en-US" sz="2800" dirty="0"/>
              <a:t>描述实现系统功能选用的技术框架结构及特点</a:t>
            </a:r>
            <a:endParaRPr lang="en-US" altLang="zh-CN" sz="2800" dirty="0"/>
          </a:p>
          <a:p>
            <a:pPr lvl="1"/>
            <a:r>
              <a:rPr lang="zh-CN" altLang="en-US" sz="2400" dirty="0"/>
              <a:t>如</a:t>
            </a:r>
            <a:r>
              <a:rPr lang="en-US" altLang="zh-CN" sz="2400" dirty="0" err="1"/>
              <a:t>Vue+SSM</a:t>
            </a:r>
            <a:r>
              <a:rPr lang="zh-CN" altLang="en-US" sz="2400" dirty="0"/>
              <a:t>、</a:t>
            </a:r>
            <a:r>
              <a:rPr lang="en-US" altLang="zh-CN" sz="2400" dirty="0"/>
              <a:t>MVC</a:t>
            </a:r>
            <a:r>
              <a:rPr lang="zh-CN" altLang="en-US" sz="2400" dirty="0"/>
              <a:t>等</a:t>
            </a:r>
            <a:endParaRPr lang="zh-CN" altLang="en-US" sz="2400" dirty="0"/>
          </a:p>
        </p:txBody>
      </p:sp>
      <p:pic>
        <p:nvPicPr>
          <p:cNvPr id="7" name="图片 6"/>
          <p:cNvPicPr>
            <a:picLocks noChangeAspect="1"/>
          </p:cNvPicPr>
          <p:nvPr/>
        </p:nvPicPr>
        <p:blipFill>
          <a:blip r:embed="rId2"/>
          <a:stretch>
            <a:fillRect/>
          </a:stretch>
        </p:blipFill>
        <p:spPr>
          <a:xfrm>
            <a:off x="2346521" y="2941826"/>
            <a:ext cx="7493631" cy="335652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03</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毕业设计论文撰写方法与要求</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3" name="文本框 2"/>
          <p:cNvSpPr txBox="1"/>
          <p:nvPr/>
        </p:nvSpPr>
        <p:spPr>
          <a:xfrm>
            <a:off x="438785" y="1384300"/>
            <a:ext cx="8334375" cy="499111"/>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（四）软件设计</a:t>
            </a:r>
            <a:r>
              <a:rPr lang="en-US" altLang="zh-CN" sz="2000" dirty="0">
                <a:solidFill>
                  <a:srgbClr val="0070C0"/>
                </a:solidFill>
                <a:latin typeface="微软雅黑" panose="020B0503020204020204" charset="-122"/>
                <a:ea typeface="微软雅黑" panose="020B0503020204020204" charset="-122"/>
              </a:rPr>
              <a:t>——</a:t>
            </a:r>
            <a:r>
              <a:rPr lang="zh-CN" altLang="en-US" sz="2000" dirty="0">
                <a:solidFill>
                  <a:srgbClr val="0070C0"/>
                </a:solidFill>
                <a:latin typeface="微软雅黑" panose="020B0503020204020204" charset="-122"/>
                <a:ea typeface="微软雅黑" panose="020B0503020204020204" charset="-122"/>
              </a:rPr>
              <a:t>软件体系结构设计</a:t>
            </a:r>
            <a:endParaRPr lang="zh-CN" altLang="en-US" sz="2000" dirty="0"/>
          </a:p>
        </p:txBody>
      </p:sp>
      <p:sp>
        <p:nvSpPr>
          <p:cNvPr id="5" name="内容占位符 2"/>
          <p:cNvSpPr txBox="1"/>
          <p:nvPr/>
        </p:nvSpPr>
        <p:spPr>
          <a:xfrm>
            <a:off x="152516" y="2201523"/>
            <a:ext cx="11675961" cy="4038600"/>
          </a:xfrm>
          <a:prstGeom prst="rect">
            <a:avLst/>
          </a:prstGeom>
        </p:spPr>
        <p:txBody>
          <a:bodyPr/>
          <a:lst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lvl="1">
              <a:lnSpc>
                <a:spcPct val="150000"/>
              </a:lnSpc>
            </a:pPr>
            <a:r>
              <a:rPr lang="zh-CN" altLang="en-US" sz="2400" dirty="0"/>
              <a:t>在需求分析阶段</a:t>
            </a:r>
            <a:r>
              <a:rPr lang="zh-CN" altLang="en-US" sz="2400" dirty="0">
                <a:solidFill>
                  <a:srgbClr val="FF0000"/>
                </a:solidFill>
              </a:rPr>
              <a:t>总体用例模型</a:t>
            </a:r>
            <a:r>
              <a:rPr lang="zh-CN" altLang="en-US" sz="2400" dirty="0"/>
              <a:t>中划分的用例，一般可以理解为</a:t>
            </a:r>
            <a:r>
              <a:rPr lang="zh-CN" altLang="en-US" sz="2400" dirty="0">
                <a:solidFill>
                  <a:srgbClr val="FF0000"/>
                </a:solidFill>
              </a:rPr>
              <a:t>功能模块</a:t>
            </a:r>
            <a:endParaRPr lang="en-US" altLang="zh-CN" sz="2400" dirty="0"/>
          </a:p>
          <a:p>
            <a:pPr lvl="1">
              <a:lnSpc>
                <a:spcPct val="150000"/>
              </a:lnSpc>
            </a:pPr>
            <a:r>
              <a:rPr lang="zh-CN" altLang="en-US" sz="2400" dirty="0"/>
              <a:t>总用例和功能模块</a:t>
            </a:r>
            <a:r>
              <a:rPr lang="zh-CN" altLang="en-US" sz="2400" dirty="0">
                <a:solidFill>
                  <a:srgbClr val="FF0000"/>
                </a:solidFill>
              </a:rPr>
              <a:t>一般是一一对应</a:t>
            </a:r>
            <a:r>
              <a:rPr lang="zh-CN" altLang="en-US" sz="2400" dirty="0"/>
              <a:t>的关系</a:t>
            </a:r>
            <a:endParaRPr lang="en-US" altLang="zh-CN" sz="2400" dirty="0"/>
          </a:p>
          <a:p>
            <a:pPr lvl="1">
              <a:lnSpc>
                <a:spcPct val="150000"/>
              </a:lnSpc>
            </a:pPr>
            <a:r>
              <a:rPr lang="zh-CN" altLang="en-US" sz="2400" dirty="0"/>
              <a:t>使用</a:t>
            </a:r>
            <a:r>
              <a:rPr lang="zh-CN" altLang="en-US" b="1" dirty="0">
                <a:solidFill>
                  <a:srgbClr val="FF0000"/>
                </a:solidFill>
              </a:rPr>
              <a:t>包图</a:t>
            </a:r>
            <a:r>
              <a:rPr lang="zh-CN" altLang="en-US" sz="2400" dirty="0"/>
              <a:t>描述</a:t>
            </a:r>
            <a:endParaRPr lang="en-US" altLang="zh-CN" sz="2400" dirty="0"/>
          </a:p>
        </p:txBody>
      </p:sp>
      <p:pic>
        <p:nvPicPr>
          <p:cNvPr id="6" name="图片 5" descr="总包图"/>
          <p:cNvPicPr>
            <a:picLocks noChangeAspect="1"/>
          </p:cNvPicPr>
          <p:nvPr/>
        </p:nvPicPr>
        <p:blipFill>
          <a:blip r:embed="rId2"/>
          <a:stretch>
            <a:fillRect/>
          </a:stretch>
        </p:blipFill>
        <p:spPr>
          <a:xfrm>
            <a:off x="6686025" y="3244442"/>
            <a:ext cx="5223545" cy="316380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03</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毕业设计论文撰写方法与要求</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10" name="文本框 9"/>
          <p:cNvSpPr txBox="1"/>
          <p:nvPr/>
        </p:nvSpPr>
        <p:spPr>
          <a:xfrm>
            <a:off x="438785" y="1384300"/>
            <a:ext cx="8334375" cy="499111"/>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（四）软件设计</a:t>
            </a:r>
            <a:r>
              <a:rPr lang="en-US" altLang="zh-CN" sz="2000" dirty="0">
                <a:solidFill>
                  <a:srgbClr val="0070C0"/>
                </a:solidFill>
                <a:latin typeface="微软雅黑" panose="020B0503020204020204" charset="-122"/>
                <a:ea typeface="微软雅黑" panose="020B0503020204020204" charset="-122"/>
              </a:rPr>
              <a:t>——</a:t>
            </a:r>
            <a:r>
              <a:rPr lang="zh-CN" altLang="en-US" sz="2000" dirty="0">
                <a:solidFill>
                  <a:srgbClr val="0070C0"/>
                </a:solidFill>
                <a:latin typeface="微软雅黑" panose="020B0503020204020204" charset="-122"/>
                <a:ea typeface="微软雅黑" panose="020B0503020204020204" charset="-122"/>
              </a:rPr>
              <a:t>软件功能模块设计</a:t>
            </a:r>
            <a:endParaRPr lang="zh-CN" altLang="en-US" sz="2000" dirty="0">
              <a:solidFill>
                <a:srgbClr val="0070C0"/>
              </a:solidFill>
              <a:latin typeface="微软雅黑" panose="020B0503020204020204" charset="-122"/>
              <a:ea typeface="微软雅黑" panose="020B0503020204020204" charset="-122"/>
            </a:endParaRPr>
          </a:p>
        </p:txBody>
      </p:sp>
      <p:sp>
        <p:nvSpPr>
          <p:cNvPr id="11" name="内容占位符 2"/>
          <p:cNvSpPr txBox="1"/>
          <p:nvPr/>
        </p:nvSpPr>
        <p:spPr>
          <a:xfrm>
            <a:off x="167216" y="1883411"/>
            <a:ext cx="6869676" cy="4038600"/>
          </a:xfrm>
          <a:prstGeom prst="rect">
            <a:avLst/>
          </a:prstGeom>
        </p:spPr>
        <p:txBody>
          <a:bodyPr/>
          <a:lst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lvl="1">
              <a:lnSpc>
                <a:spcPct val="150000"/>
              </a:lnSpc>
            </a:pPr>
            <a:r>
              <a:rPr lang="zh-CN" altLang="en-US" dirty="0"/>
              <a:t>根据实际使用的软件体系结构把各个功能模块设计使用</a:t>
            </a:r>
            <a:r>
              <a:rPr lang="zh-CN" altLang="en-US" sz="3200" b="1" dirty="0">
                <a:solidFill>
                  <a:srgbClr val="FF0000"/>
                </a:solidFill>
              </a:rPr>
              <a:t>类图</a:t>
            </a:r>
            <a:r>
              <a:rPr lang="zh-CN" altLang="en-US" dirty="0"/>
              <a:t>描述出来</a:t>
            </a:r>
            <a:endParaRPr lang="en-US" altLang="zh-CN" dirty="0"/>
          </a:p>
          <a:p>
            <a:pPr lvl="1">
              <a:lnSpc>
                <a:spcPct val="150000"/>
              </a:lnSpc>
            </a:pPr>
            <a:r>
              <a:rPr lang="zh-CN" altLang="en-US" dirty="0"/>
              <a:t>在控制层、业务层和数据访问层中的类设计要</a:t>
            </a:r>
            <a:r>
              <a:rPr lang="zh-CN" altLang="en-US" sz="3200" b="1" dirty="0">
                <a:solidFill>
                  <a:srgbClr val="FF0000"/>
                </a:solidFill>
              </a:rPr>
              <a:t>细化到每个类中方法</a:t>
            </a:r>
            <a:r>
              <a:rPr lang="zh-CN" altLang="en-US" dirty="0"/>
              <a:t>的设计</a:t>
            </a:r>
            <a:endParaRPr lang="en-US" altLang="zh-CN" dirty="0"/>
          </a:p>
          <a:p>
            <a:pPr lvl="1">
              <a:lnSpc>
                <a:spcPct val="150000"/>
              </a:lnSpc>
            </a:pPr>
            <a:endParaRPr lang="en-US" altLang="zh-CN" dirty="0"/>
          </a:p>
          <a:p>
            <a:endParaRPr lang="zh-CN" altLang="en-US" dirty="0"/>
          </a:p>
        </p:txBody>
      </p:sp>
      <p:sp>
        <p:nvSpPr>
          <p:cNvPr id="14" name="矩形 13"/>
          <p:cNvSpPr/>
          <p:nvPr/>
        </p:nvSpPr>
        <p:spPr>
          <a:xfrm>
            <a:off x="7315198" y="1941829"/>
            <a:ext cx="4744280" cy="7686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界面层（</a:t>
            </a:r>
            <a:r>
              <a:rPr lang="en-US" altLang="zh-CN" dirty="0"/>
              <a:t>View</a:t>
            </a:r>
            <a:r>
              <a:rPr lang="zh-CN" altLang="en-US" dirty="0"/>
              <a:t>）</a:t>
            </a:r>
            <a:endParaRPr lang="zh-CN" altLang="en-US" dirty="0"/>
          </a:p>
        </p:txBody>
      </p:sp>
      <p:sp>
        <p:nvSpPr>
          <p:cNvPr id="15" name="矩形 14"/>
          <p:cNvSpPr/>
          <p:nvPr/>
        </p:nvSpPr>
        <p:spPr>
          <a:xfrm>
            <a:off x="7315200" y="3113953"/>
            <a:ext cx="4744280" cy="7686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控制层（</a:t>
            </a:r>
            <a:r>
              <a:rPr lang="en-US" altLang="zh-CN" dirty="0"/>
              <a:t>Controller</a:t>
            </a:r>
            <a:r>
              <a:rPr lang="zh-CN" altLang="en-US" dirty="0"/>
              <a:t>）</a:t>
            </a:r>
            <a:endParaRPr lang="zh-CN" altLang="en-US" dirty="0"/>
          </a:p>
        </p:txBody>
      </p:sp>
      <p:sp>
        <p:nvSpPr>
          <p:cNvPr id="16" name="矩形 15"/>
          <p:cNvSpPr/>
          <p:nvPr/>
        </p:nvSpPr>
        <p:spPr>
          <a:xfrm>
            <a:off x="7315198" y="4262923"/>
            <a:ext cx="4744280" cy="7686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业务层（</a:t>
            </a:r>
            <a:r>
              <a:rPr lang="en-US" altLang="zh-CN" dirty="0"/>
              <a:t>Service</a:t>
            </a:r>
            <a:r>
              <a:rPr lang="zh-CN" altLang="en-US" dirty="0"/>
              <a:t>）</a:t>
            </a:r>
            <a:endParaRPr lang="zh-CN" altLang="en-US" dirty="0"/>
          </a:p>
        </p:txBody>
      </p:sp>
      <p:sp>
        <p:nvSpPr>
          <p:cNvPr id="17" name="矩形 16"/>
          <p:cNvSpPr/>
          <p:nvPr/>
        </p:nvSpPr>
        <p:spPr>
          <a:xfrm>
            <a:off x="7315198" y="5408337"/>
            <a:ext cx="4744280" cy="7686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数据访问层（</a:t>
            </a:r>
            <a:r>
              <a:rPr lang="en-US" altLang="zh-CN" dirty="0"/>
              <a:t>Data Access</a:t>
            </a:r>
            <a:r>
              <a:rPr lang="zh-CN" altLang="en-US" dirty="0"/>
              <a:t>）</a:t>
            </a:r>
            <a:endParaRPr lang="zh-CN" altLang="en-US" dirty="0"/>
          </a:p>
        </p:txBody>
      </p:sp>
      <p:sp>
        <p:nvSpPr>
          <p:cNvPr id="18" name="箭头: 下 17"/>
          <p:cNvSpPr/>
          <p:nvPr/>
        </p:nvSpPr>
        <p:spPr>
          <a:xfrm>
            <a:off x="9356031" y="2736895"/>
            <a:ext cx="384313" cy="36751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下 18"/>
          <p:cNvSpPr/>
          <p:nvPr/>
        </p:nvSpPr>
        <p:spPr>
          <a:xfrm>
            <a:off x="9356030" y="3873035"/>
            <a:ext cx="384313" cy="36751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箭头: 下 19"/>
          <p:cNvSpPr/>
          <p:nvPr/>
        </p:nvSpPr>
        <p:spPr>
          <a:xfrm>
            <a:off x="9356029" y="5036186"/>
            <a:ext cx="384313" cy="36751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03</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毕业设计论文撰写方法与要求</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10" name="文本框 9"/>
          <p:cNvSpPr txBox="1"/>
          <p:nvPr/>
        </p:nvSpPr>
        <p:spPr>
          <a:xfrm>
            <a:off x="438785" y="1384300"/>
            <a:ext cx="8334375" cy="499111"/>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（四）软件设计</a:t>
            </a:r>
            <a:r>
              <a:rPr lang="en-US" altLang="zh-CN" sz="2000" dirty="0">
                <a:solidFill>
                  <a:srgbClr val="0070C0"/>
                </a:solidFill>
                <a:latin typeface="微软雅黑" panose="020B0503020204020204" charset="-122"/>
                <a:ea typeface="微软雅黑" panose="020B0503020204020204" charset="-122"/>
              </a:rPr>
              <a:t>——</a:t>
            </a:r>
            <a:r>
              <a:rPr lang="zh-CN" altLang="en-US" sz="2000" dirty="0">
                <a:solidFill>
                  <a:srgbClr val="0070C0"/>
                </a:solidFill>
                <a:latin typeface="微软雅黑" panose="020B0503020204020204" charset="-122"/>
                <a:ea typeface="微软雅黑" panose="020B0503020204020204" charset="-122"/>
              </a:rPr>
              <a:t>软件功能模块设计</a:t>
            </a:r>
            <a:endParaRPr lang="zh-CN" altLang="en-US" sz="2000" dirty="0">
              <a:solidFill>
                <a:srgbClr val="0070C0"/>
              </a:solidFill>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71438" y="1017592"/>
            <a:ext cx="10427865" cy="567321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03</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毕业设计论文撰写方法与要求</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4" name="文本框 3"/>
          <p:cNvSpPr txBox="1"/>
          <p:nvPr/>
        </p:nvSpPr>
        <p:spPr>
          <a:xfrm>
            <a:off x="438785" y="1384300"/>
            <a:ext cx="8334375" cy="499624"/>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（四）软件设计</a:t>
            </a:r>
            <a:r>
              <a:rPr lang="en-US" altLang="zh-CN" sz="2000" dirty="0">
                <a:solidFill>
                  <a:srgbClr val="0070C0"/>
                </a:solidFill>
                <a:latin typeface="微软雅黑" panose="020B0503020204020204" charset="-122"/>
                <a:ea typeface="微软雅黑" panose="020B0503020204020204" charset="-122"/>
              </a:rPr>
              <a:t>——</a:t>
            </a:r>
            <a:r>
              <a:rPr lang="zh-CN" altLang="en-US" sz="2000" dirty="0">
                <a:solidFill>
                  <a:srgbClr val="0070C0"/>
                </a:solidFill>
                <a:latin typeface="微软雅黑" panose="020B0503020204020204" charset="-122"/>
                <a:ea typeface="微软雅黑" panose="020B0503020204020204" charset="-122"/>
              </a:rPr>
              <a:t>数据库设计</a:t>
            </a:r>
            <a:endParaRPr lang="zh-CN" altLang="en-US" sz="2000" dirty="0">
              <a:solidFill>
                <a:srgbClr val="0070C0"/>
              </a:solidFill>
              <a:latin typeface="微软雅黑" panose="020B0503020204020204" charset="-122"/>
              <a:ea typeface="微软雅黑" panose="020B0503020204020204" charset="-122"/>
            </a:endParaRPr>
          </a:p>
        </p:txBody>
      </p:sp>
      <p:sp>
        <p:nvSpPr>
          <p:cNvPr id="5" name="内容占位符 2"/>
          <p:cNvSpPr txBox="1"/>
          <p:nvPr/>
        </p:nvSpPr>
        <p:spPr>
          <a:xfrm>
            <a:off x="563476" y="1976239"/>
            <a:ext cx="10031819" cy="4038600"/>
          </a:xfrm>
          <a:prstGeom prst="rect">
            <a:avLst/>
          </a:prstGeom>
        </p:spPr>
        <p:txBody>
          <a:bodyPr/>
          <a:lst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a:lnSpc>
                <a:spcPct val="150000"/>
              </a:lnSpc>
            </a:pPr>
            <a:r>
              <a:rPr lang="zh-CN" altLang="en-US" sz="2800" dirty="0"/>
              <a:t>数据库设计</a:t>
            </a:r>
            <a:r>
              <a:rPr lang="zh-CN" altLang="en-US" b="1" dirty="0">
                <a:solidFill>
                  <a:srgbClr val="FF0000"/>
                </a:solidFill>
              </a:rPr>
              <a:t>两种可选方法，</a:t>
            </a:r>
            <a:r>
              <a:rPr lang="zh-CN" altLang="en-US" sz="2800" dirty="0"/>
              <a:t>在设计时</a:t>
            </a:r>
            <a:r>
              <a:rPr lang="zh-CN" altLang="en-US" b="1" dirty="0">
                <a:solidFill>
                  <a:srgbClr val="FF0000"/>
                </a:solidFill>
              </a:rPr>
              <a:t>选择其中一种方法</a:t>
            </a:r>
            <a:endParaRPr lang="zh-CN" altLang="en-US" b="1" dirty="0">
              <a:solidFill>
                <a:srgbClr val="FF0000"/>
              </a:solidFill>
            </a:endParaRPr>
          </a:p>
          <a:p>
            <a:pPr lvl="1">
              <a:lnSpc>
                <a:spcPct val="150000"/>
              </a:lnSpc>
            </a:pPr>
            <a:r>
              <a:rPr lang="zh-CN" altLang="en-US" sz="2400" dirty="0"/>
              <a:t>面向对象方法的实体类关系分析</a:t>
            </a:r>
            <a:endParaRPr lang="zh-CN" altLang="en-US" sz="2400" dirty="0"/>
          </a:p>
          <a:p>
            <a:pPr lvl="1">
              <a:lnSpc>
                <a:spcPct val="150000"/>
              </a:lnSpc>
            </a:pPr>
            <a:r>
              <a:rPr lang="zh-CN" altLang="en-US" sz="2400" dirty="0"/>
              <a:t>传统数据库设计方法</a:t>
            </a:r>
            <a:endParaRPr lang="en-US" altLang="zh-CN" sz="2400" dirty="0"/>
          </a:p>
          <a:p>
            <a:pPr>
              <a:lnSpc>
                <a:spcPct val="150000"/>
              </a:lnSpc>
            </a:pPr>
            <a:r>
              <a:rPr lang="zh-CN" altLang="en-US" b="1" dirty="0">
                <a:solidFill>
                  <a:srgbClr val="FF0000"/>
                </a:solidFill>
              </a:rPr>
              <a:t>规范</a:t>
            </a:r>
            <a:r>
              <a:rPr lang="zh-CN" altLang="en-US" sz="2800" dirty="0"/>
              <a:t>表结构和字段名称</a:t>
            </a:r>
            <a:r>
              <a:rPr lang="zh-CN" altLang="en-US" b="1" dirty="0">
                <a:solidFill>
                  <a:srgbClr val="FF0000"/>
                </a:solidFill>
              </a:rPr>
              <a:t>命名规则</a:t>
            </a:r>
            <a:endParaRPr lang="en-US" altLang="zh-CN" sz="2800" b="1" dirty="0">
              <a:solidFill>
                <a:srgbClr val="FF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03</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毕业设计论文撰写方法与要求</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4" name="文本框 3"/>
          <p:cNvSpPr txBox="1"/>
          <p:nvPr/>
        </p:nvSpPr>
        <p:spPr>
          <a:xfrm>
            <a:off x="438785" y="1384300"/>
            <a:ext cx="8334375" cy="499624"/>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（四）软件设计</a:t>
            </a:r>
            <a:r>
              <a:rPr lang="en-US" altLang="zh-CN" sz="2000" dirty="0">
                <a:solidFill>
                  <a:srgbClr val="0070C0"/>
                </a:solidFill>
                <a:latin typeface="微软雅黑" panose="020B0503020204020204" charset="-122"/>
                <a:ea typeface="微软雅黑" panose="020B0503020204020204" charset="-122"/>
              </a:rPr>
              <a:t>——</a:t>
            </a:r>
            <a:r>
              <a:rPr lang="zh-CN" altLang="en-US" sz="2000" dirty="0">
                <a:solidFill>
                  <a:srgbClr val="0070C0"/>
                </a:solidFill>
                <a:latin typeface="微软雅黑" panose="020B0503020204020204" charset="-122"/>
                <a:ea typeface="微软雅黑" panose="020B0503020204020204" charset="-122"/>
              </a:rPr>
              <a:t>数据库设计</a:t>
            </a:r>
            <a:endParaRPr lang="zh-CN" altLang="en-US" sz="2000" dirty="0">
              <a:solidFill>
                <a:srgbClr val="0070C0"/>
              </a:solidFill>
              <a:latin typeface="微软雅黑" panose="020B0503020204020204" charset="-122"/>
              <a:ea typeface="微软雅黑" panose="020B0503020204020204" charset="-122"/>
            </a:endParaRPr>
          </a:p>
        </p:txBody>
      </p:sp>
      <p:sp>
        <p:nvSpPr>
          <p:cNvPr id="3" name="内容占位符 2"/>
          <p:cNvSpPr txBox="1"/>
          <p:nvPr/>
        </p:nvSpPr>
        <p:spPr>
          <a:xfrm>
            <a:off x="211138" y="1875572"/>
            <a:ext cx="11650895" cy="4038600"/>
          </a:xfrm>
          <a:prstGeom prst="rect">
            <a:avLst/>
          </a:prstGeom>
        </p:spPr>
        <p:txBody>
          <a:bodyPr/>
          <a:lst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a:lnSpc>
                <a:spcPct val="150000"/>
              </a:lnSpc>
            </a:pPr>
            <a:r>
              <a:rPr lang="zh-CN" altLang="en-US" sz="2800" dirty="0"/>
              <a:t>数据库设计步骤（以</a:t>
            </a:r>
            <a:r>
              <a:rPr lang="zh-CN" altLang="en-US" sz="2800" b="1" dirty="0">
                <a:solidFill>
                  <a:srgbClr val="FF0000"/>
                </a:solidFill>
              </a:rPr>
              <a:t>传统数据库设计</a:t>
            </a:r>
            <a:r>
              <a:rPr lang="en-US" altLang="zh-CN" sz="2800" b="1" dirty="0">
                <a:solidFill>
                  <a:srgbClr val="FF0000"/>
                </a:solidFill>
              </a:rPr>
              <a:t>ER</a:t>
            </a:r>
            <a:r>
              <a:rPr lang="zh-CN" altLang="en-US" sz="2800" b="1" dirty="0">
                <a:solidFill>
                  <a:srgbClr val="FF0000"/>
                </a:solidFill>
              </a:rPr>
              <a:t>方法</a:t>
            </a:r>
            <a:r>
              <a:rPr lang="zh-CN" altLang="en-US" sz="2800" dirty="0"/>
              <a:t>为例）</a:t>
            </a:r>
            <a:endParaRPr lang="en-US" altLang="zh-CN" sz="2800" dirty="0"/>
          </a:p>
          <a:p>
            <a:pPr lvl="1">
              <a:lnSpc>
                <a:spcPct val="150000"/>
              </a:lnSpc>
            </a:pPr>
            <a:r>
              <a:rPr lang="zh-CN" altLang="en-US" sz="2400" dirty="0"/>
              <a:t>概念模型</a:t>
            </a:r>
            <a:endParaRPr lang="en-US" altLang="zh-CN" sz="2400" dirty="0"/>
          </a:p>
          <a:p>
            <a:pPr lvl="1">
              <a:lnSpc>
                <a:spcPct val="150000"/>
              </a:lnSpc>
            </a:pPr>
            <a:r>
              <a:rPr lang="zh-CN" altLang="en-US" sz="2400" dirty="0"/>
              <a:t>逻辑模型</a:t>
            </a:r>
            <a:endParaRPr lang="en-US" altLang="zh-CN" sz="2400" dirty="0"/>
          </a:p>
          <a:p>
            <a:pPr lvl="1">
              <a:lnSpc>
                <a:spcPct val="150000"/>
              </a:lnSpc>
            </a:pPr>
            <a:r>
              <a:rPr lang="zh-CN" altLang="en-US" sz="2400" dirty="0"/>
              <a:t>数据库表设计</a:t>
            </a:r>
            <a:endParaRPr lang="zh-CN" alt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03</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毕业设计论文撰写方法与要求</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4" name="文本框 3"/>
          <p:cNvSpPr txBox="1"/>
          <p:nvPr/>
        </p:nvSpPr>
        <p:spPr>
          <a:xfrm>
            <a:off x="438785" y="1384300"/>
            <a:ext cx="8334375" cy="499624"/>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（四）软件设计</a:t>
            </a:r>
            <a:r>
              <a:rPr lang="en-US" altLang="zh-CN" sz="2000" dirty="0">
                <a:solidFill>
                  <a:srgbClr val="0070C0"/>
                </a:solidFill>
                <a:latin typeface="微软雅黑" panose="020B0503020204020204" charset="-122"/>
                <a:ea typeface="微软雅黑" panose="020B0503020204020204" charset="-122"/>
              </a:rPr>
              <a:t>——</a:t>
            </a:r>
            <a:r>
              <a:rPr lang="zh-CN" altLang="en-US" sz="2000" dirty="0">
                <a:solidFill>
                  <a:srgbClr val="0070C0"/>
                </a:solidFill>
                <a:latin typeface="微软雅黑" panose="020B0503020204020204" charset="-122"/>
                <a:ea typeface="微软雅黑" panose="020B0503020204020204" charset="-122"/>
              </a:rPr>
              <a:t>数据库设计</a:t>
            </a:r>
            <a:endParaRPr lang="zh-CN" altLang="en-US" sz="2000" dirty="0">
              <a:solidFill>
                <a:srgbClr val="0070C0"/>
              </a:solidFill>
              <a:latin typeface="微软雅黑" panose="020B0503020204020204" charset="-122"/>
              <a:ea typeface="微软雅黑" panose="020B0503020204020204" charset="-122"/>
            </a:endParaRPr>
          </a:p>
        </p:txBody>
      </p:sp>
      <p:sp>
        <p:nvSpPr>
          <p:cNvPr id="5" name="内容占位符 2"/>
          <p:cNvSpPr txBox="1"/>
          <p:nvPr/>
        </p:nvSpPr>
        <p:spPr>
          <a:xfrm>
            <a:off x="0" y="1870684"/>
            <a:ext cx="9872871" cy="4038600"/>
          </a:xfrm>
          <a:prstGeom prst="rect">
            <a:avLst/>
          </a:prstGeom>
        </p:spPr>
        <p:txBody>
          <a:bodyPr/>
          <a:lst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lvl="1">
              <a:lnSpc>
                <a:spcPct val="150000"/>
              </a:lnSpc>
            </a:pPr>
            <a:r>
              <a:rPr lang="zh-CN" altLang="en-US" dirty="0"/>
              <a:t>概念模型</a:t>
            </a:r>
            <a:endParaRPr lang="en-US" altLang="zh-CN" dirty="0"/>
          </a:p>
          <a:p>
            <a:pPr lvl="2">
              <a:lnSpc>
                <a:spcPct val="150000"/>
              </a:lnSpc>
            </a:pPr>
            <a:r>
              <a:rPr lang="zh-CN" altLang="en-US" dirty="0"/>
              <a:t>工具：</a:t>
            </a:r>
            <a:r>
              <a:rPr lang="en-US" altLang="zh-CN" dirty="0"/>
              <a:t>E-R</a:t>
            </a:r>
            <a:r>
              <a:rPr lang="zh-CN" altLang="en-US" dirty="0"/>
              <a:t>图</a:t>
            </a:r>
            <a:endParaRPr lang="en-US" altLang="zh-CN" dirty="0"/>
          </a:p>
          <a:p>
            <a:pPr lvl="2">
              <a:lnSpc>
                <a:spcPct val="150000"/>
              </a:lnSpc>
            </a:pPr>
            <a:r>
              <a:rPr lang="zh-CN" altLang="en-US" dirty="0"/>
              <a:t>对每个实体描述</a:t>
            </a:r>
            <a:endParaRPr lang="en-US" altLang="zh-CN" dirty="0"/>
          </a:p>
          <a:p>
            <a:pPr lvl="2">
              <a:lnSpc>
                <a:spcPct val="150000"/>
              </a:lnSpc>
            </a:pPr>
            <a:r>
              <a:rPr lang="zh-CN" altLang="en-US" dirty="0"/>
              <a:t>对整个系统使用</a:t>
            </a:r>
            <a:r>
              <a:rPr lang="en-US" altLang="zh-CN" dirty="0"/>
              <a:t>E-R</a:t>
            </a:r>
            <a:r>
              <a:rPr lang="zh-CN" altLang="en-US" dirty="0"/>
              <a:t>图进行建模</a:t>
            </a:r>
            <a:endParaRPr lang="en-US" altLang="zh-CN" dirty="0"/>
          </a:p>
          <a:p>
            <a:pPr lvl="2">
              <a:lnSpc>
                <a:spcPct val="150000"/>
              </a:lnSpc>
            </a:pPr>
            <a:endParaRPr lang="en-US" altLang="zh-CN" dirty="0"/>
          </a:p>
        </p:txBody>
      </p:sp>
      <p:pic>
        <p:nvPicPr>
          <p:cNvPr id="6" name="图片 5"/>
          <p:cNvPicPr>
            <a:picLocks noChangeAspect="1"/>
          </p:cNvPicPr>
          <p:nvPr/>
        </p:nvPicPr>
        <p:blipFill>
          <a:blip r:embed="rId2"/>
          <a:stretch>
            <a:fillRect/>
          </a:stretch>
        </p:blipFill>
        <p:spPr>
          <a:xfrm>
            <a:off x="7884353" y="1503976"/>
            <a:ext cx="3323809" cy="2066617"/>
          </a:xfrm>
          <a:prstGeom prst="rect">
            <a:avLst/>
          </a:prstGeom>
        </p:spPr>
      </p:pic>
      <p:pic>
        <p:nvPicPr>
          <p:cNvPr id="7" name="图片 6"/>
          <p:cNvPicPr>
            <a:picLocks noChangeAspect="1"/>
          </p:cNvPicPr>
          <p:nvPr/>
        </p:nvPicPr>
        <p:blipFill>
          <a:blip r:embed="rId3"/>
          <a:stretch>
            <a:fillRect/>
          </a:stretch>
        </p:blipFill>
        <p:spPr>
          <a:xfrm>
            <a:off x="7854691" y="4226690"/>
            <a:ext cx="3323809" cy="1866667"/>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03</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毕业设计论文撰写方法与要求</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4" name="文本框 3"/>
          <p:cNvSpPr txBox="1"/>
          <p:nvPr/>
        </p:nvSpPr>
        <p:spPr>
          <a:xfrm>
            <a:off x="438785" y="1384300"/>
            <a:ext cx="8334375" cy="499624"/>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（四）软件设计</a:t>
            </a:r>
            <a:r>
              <a:rPr lang="en-US" altLang="zh-CN" sz="2000" dirty="0">
                <a:solidFill>
                  <a:srgbClr val="0070C0"/>
                </a:solidFill>
                <a:latin typeface="微软雅黑" panose="020B0503020204020204" charset="-122"/>
                <a:ea typeface="微软雅黑" panose="020B0503020204020204" charset="-122"/>
              </a:rPr>
              <a:t>——</a:t>
            </a:r>
            <a:r>
              <a:rPr lang="zh-CN" altLang="en-US" sz="2000" dirty="0">
                <a:solidFill>
                  <a:srgbClr val="0070C0"/>
                </a:solidFill>
                <a:latin typeface="微软雅黑" panose="020B0503020204020204" charset="-122"/>
                <a:ea typeface="微软雅黑" panose="020B0503020204020204" charset="-122"/>
              </a:rPr>
              <a:t>数据库设计</a:t>
            </a:r>
            <a:endParaRPr lang="zh-CN" altLang="en-US" sz="2000" dirty="0">
              <a:solidFill>
                <a:srgbClr val="0070C0"/>
              </a:solidFill>
              <a:latin typeface="微软雅黑" panose="020B0503020204020204" charset="-122"/>
              <a:ea typeface="微软雅黑" panose="020B0503020204020204" charset="-122"/>
            </a:endParaRPr>
          </a:p>
        </p:txBody>
      </p:sp>
      <p:sp>
        <p:nvSpPr>
          <p:cNvPr id="3" name="内容占位符 2"/>
          <p:cNvSpPr txBox="1"/>
          <p:nvPr/>
        </p:nvSpPr>
        <p:spPr>
          <a:xfrm>
            <a:off x="546699" y="1923772"/>
            <a:ext cx="8693554" cy="4038600"/>
          </a:xfrm>
          <a:prstGeom prst="rect">
            <a:avLst/>
          </a:prstGeom>
        </p:spPr>
        <p:txBody>
          <a:bodyPr/>
          <a:lst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r>
              <a:rPr lang="zh-CN" altLang="en-US" sz="2800" dirty="0"/>
              <a:t>逻辑模型</a:t>
            </a:r>
            <a:endParaRPr lang="en-US" altLang="zh-CN" sz="2800" dirty="0"/>
          </a:p>
          <a:p>
            <a:pPr lvl="1"/>
            <a:r>
              <a:rPr lang="zh-CN" altLang="en-US" sz="2400" dirty="0"/>
              <a:t>一般对数据库中的表的逻辑结构描述</a:t>
            </a:r>
            <a:endParaRPr lang="en-US" altLang="zh-CN" sz="2400" dirty="0"/>
          </a:p>
        </p:txBody>
      </p:sp>
      <p:pic>
        <p:nvPicPr>
          <p:cNvPr id="8" name="图片 7"/>
          <p:cNvPicPr>
            <a:picLocks noChangeAspect="1"/>
          </p:cNvPicPr>
          <p:nvPr/>
        </p:nvPicPr>
        <p:blipFill>
          <a:blip r:embed="rId2"/>
          <a:stretch>
            <a:fillRect/>
          </a:stretch>
        </p:blipFill>
        <p:spPr>
          <a:xfrm>
            <a:off x="659675" y="3507532"/>
            <a:ext cx="8773471" cy="709613"/>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03</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毕业设计论文撰写方法与要求</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4" name="文本框 3"/>
          <p:cNvSpPr txBox="1"/>
          <p:nvPr/>
        </p:nvSpPr>
        <p:spPr>
          <a:xfrm>
            <a:off x="438785" y="1384300"/>
            <a:ext cx="8334375" cy="499624"/>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（四）软件设计</a:t>
            </a:r>
            <a:r>
              <a:rPr lang="en-US" altLang="zh-CN" sz="2000" dirty="0">
                <a:solidFill>
                  <a:srgbClr val="0070C0"/>
                </a:solidFill>
                <a:latin typeface="微软雅黑" panose="020B0503020204020204" charset="-122"/>
                <a:ea typeface="微软雅黑" panose="020B0503020204020204" charset="-122"/>
              </a:rPr>
              <a:t>——</a:t>
            </a:r>
            <a:r>
              <a:rPr lang="zh-CN" altLang="en-US" sz="2000" dirty="0">
                <a:solidFill>
                  <a:srgbClr val="0070C0"/>
                </a:solidFill>
                <a:latin typeface="微软雅黑" panose="020B0503020204020204" charset="-122"/>
                <a:ea typeface="微软雅黑" panose="020B0503020204020204" charset="-122"/>
              </a:rPr>
              <a:t>数据库设计</a:t>
            </a:r>
            <a:endParaRPr lang="zh-CN" altLang="en-US" sz="2000" dirty="0">
              <a:solidFill>
                <a:srgbClr val="0070C0"/>
              </a:solidFill>
              <a:latin typeface="微软雅黑" panose="020B0503020204020204" charset="-122"/>
              <a:ea typeface="微软雅黑" panose="020B0503020204020204" charset="-122"/>
            </a:endParaRPr>
          </a:p>
        </p:txBody>
      </p:sp>
      <p:sp>
        <p:nvSpPr>
          <p:cNvPr id="5" name="内容占位符 2"/>
          <p:cNvSpPr txBox="1"/>
          <p:nvPr/>
        </p:nvSpPr>
        <p:spPr>
          <a:xfrm>
            <a:off x="570452" y="1997242"/>
            <a:ext cx="8862695" cy="4038600"/>
          </a:xfrm>
          <a:prstGeom prst="rect">
            <a:avLst/>
          </a:prstGeom>
        </p:spPr>
        <p:txBody>
          <a:bodyPr/>
          <a:lst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lvl="1"/>
            <a:r>
              <a:rPr lang="zh-CN" altLang="en-US" sz="2400" dirty="0"/>
              <a:t>数据库表设计</a:t>
            </a:r>
            <a:endParaRPr lang="en-US" altLang="zh-CN" sz="2400" dirty="0"/>
          </a:p>
          <a:p>
            <a:pPr lvl="2"/>
            <a:r>
              <a:rPr lang="zh-CN" altLang="en-US" sz="2000" dirty="0"/>
              <a:t>选择一个数据库（</a:t>
            </a:r>
            <a:r>
              <a:rPr lang="en-US" altLang="zh-CN" sz="2000" dirty="0"/>
              <a:t>MySQL</a:t>
            </a:r>
            <a:r>
              <a:rPr lang="zh-CN" altLang="en-US" sz="2000" dirty="0"/>
              <a:t>、</a:t>
            </a:r>
            <a:r>
              <a:rPr lang="en-US" altLang="zh-CN" sz="2000" dirty="0" err="1"/>
              <a:t>SQLServer</a:t>
            </a:r>
            <a:r>
              <a:rPr lang="zh-CN" altLang="en-US" sz="2000" dirty="0"/>
              <a:t>或</a:t>
            </a:r>
            <a:r>
              <a:rPr lang="en-US" altLang="zh-CN" sz="2000" dirty="0"/>
              <a:t>Oracle</a:t>
            </a:r>
            <a:r>
              <a:rPr lang="zh-CN" altLang="en-US" sz="2000" dirty="0"/>
              <a:t>）创建数据库表</a:t>
            </a:r>
            <a:endParaRPr lang="zh-CN" altLang="en-US" sz="2000" dirty="0"/>
          </a:p>
        </p:txBody>
      </p:sp>
      <p:pic>
        <p:nvPicPr>
          <p:cNvPr id="9" name="图片 8"/>
          <p:cNvPicPr>
            <a:picLocks noChangeAspect="1"/>
          </p:cNvPicPr>
          <p:nvPr/>
        </p:nvPicPr>
        <p:blipFill>
          <a:blip r:embed="rId2"/>
          <a:stretch>
            <a:fillRect/>
          </a:stretch>
        </p:blipFill>
        <p:spPr>
          <a:xfrm>
            <a:off x="2530260" y="2990487"/>
            <a:ext cx="5912677" cy="315867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03</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毕业设计论文撰写方法与要求</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4" name="文本框 3"/>
          <p:cNvSpPr txBox="1"/>
          <p:nvPr/>
        </p:nvSpPr>
        <p:spPr>
          <a:xfrm>
            <a:off x="438785" y="1384300"/>
            <a:ext cx="8334375" cy="499624"/>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（四）软件设计</a:t>
            </a:r>
            <a:r>
              <a:rPr lang="en-US" altLang="zh-CN" sz="2000" dirty="0">
                <a:solidFill>
                  <a:srgbClr val="0070C0"/>
                </a:solidFill>
                <a:latin typeface="微软雅黑" panose="020B0503020204020204" charset="-122"/>
                <a:ea typeface="微软雅黑" panose="020B0503020204020204" charset="-122"/>
              </a:rPr>
              <a:t>——</a:t>
            </a:r>
            <a:r>
              <a:rPr lang="zh-CN" altLang="en-US" sz="2000" dirty="0">
                <a:solidFill>
                  <a:srgbClr val="0070C0"/>
                </a:solidFill>
                <a:latin typeface="微软雅黑" panose="020B0503020204020204" charset="-122"/>
                <a:ea typeface="微软雅黑" panose="020B0503020204020204" charset="-122"/>
              </a:rPr>
              <a:t>数据库设计</a:t>
            </a:r>
            <a:endParaRPr lang="zh-CN" altLang="en-US" sz="2000" dirty="0">
              <a:solidFill>
                <a:srgbClr val="0070C0"/>
              </a:solidFill>
              <a:latin typeface="微软雅黑" panose="020B0503020204020204" charset="-122"/>
              <a:ea typeface="微软雅黑" panose="020B0503020204020204" charset="-122"/>
            </a:endParaRPr>
          </a:p>
        </p:txBody>
      </p:sp>
      <p:sp>
        <p:nvSpPr>
          <p:cNvPr id="3" name="内容占位符 2"/>
          <p:cNvSpPr txBox="1"/>
          <p:nvPr/>
        </p:nvSpPr>
        <p:spPr>
          <a:xfrm>
            <a:off x="211138" y="1875572"/>
            <a:ext cx="11650895" cy="4038600"/>
          </a:xfrm>
          <a:prstGeom prst="rect">
            <a:avLst/>
          </a:prstGeom>
        </p:spPr>
        <p:txBody>
          <a:bodyPr/>
          <a:lst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a:lnSpc>
                <a:spcPct val="150000"/>
              </a:lnSpc>
            </a:pPr>
            <a:r>
              <a:rPr lang="zh-CN" altLang="en-US" sz="2800" dirty="0"/>
              <a:t>数据库设计步骤（以</a:t>
            </a:r>
            <a:r>
              <a:rPr lang="zh-CN" altLang="en-US" sz="2800" b="1" dirty="0">
                <a:solidFill>
                  <a:srgbClr val="FF0000"/>
                </a:solidFill>
              </a:rPr>
              <a:t>面向对象方法的实体类关系分析</a:t>
            </a:r>
            <a:r>
              <a:rPr lang="zh-CN" altLang="en-US" sz="2800" dirty="0"/>
              <a:t>为例）</a:t>
            </a:r>
            <a:endParaRPr lang="en-US" altLang="zh-CN" sz="2800" dirty="0"/>
          </a:p>
          <a:p>
            <a:pPr lvl="1">
              <a:lnSpc>
                <a:spcPct val="150000"/>
              </a:lnSpc>
            </a:pPr>
            <a:r>
              <a:rPr lang="zh-CN" altLang="en-US" sz="2400" dirty="0"/>
              <a:t>实体类关系分析</a:t>
            </a:r>
            <a:endParaRPr lang="zh-CN" altLang="en-US" sz="2400" dirty="0"/>
          </a:p>
          <a:p>
            <a:pPr lvl="1">
              <a:lnSpc>
                <a:spcPct val="150000"/>
              </a:lnSpc>
            </a:pPr>
            <a:r>
              <a:rPr lang="zh-CN" altLang="en-US" sz="2400" dirty="0"/>
              <a:t>数据库表设计</a:t>
            </a:r>
            <a:endParaRPr lang="zh-CN" alt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03</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毕业设计论文撰写方法与要求</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4" name="文本框 3"/>
          <p:cNvSpPr txBox="1"/>
          <p:nvPr/>
        </p:nvSpPr>
        <p:spPr>
          <a:xfrm>
            <a:off x="438785" y="1384300"/>
            <a:ext cx="8334375" cy="499624"/>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（四）软件设计</a:t>
            </a:r>
            <a:r>
              <a:rPr lang="en-US" altLang="zh-CN" sz="2000" dirty="0">
                <a:solidFill>
                  <a:srgbClr val="0070C0"/>
                </a:solidFill>
                <a:latin typeface="微软雅黑" panose="020B0503020204020204" charset="-122"/>
                <a:ea typeface="微软雅黑" panose="020B0503020204020204" charset="-122"/>
              </a:rPr>
              <a:t>——</a:t>
            </a:r>
            <a:r>
              <a:rPr lang="zh-CN" altLang="en-US" sz="2000" dirty="0">
                <a:solidFill>
                  <a:srgbClr val="0070C0"/>
                </a:solidFill>
                <a:latin typeface="微软雅黑" panose="020B0503020204020204" charset="-122"/>
                <a:ea typeface="微软雅黑" panose="020B0503020204020204" charset="-122"/>
              </a:rPr>
              <a:t>数据库设计</a:t>
            </a:r>
            <a:endParaRPr lang="zh-CN" altLang="en-US" sz="2000" dirty="0">
              <a:solidFill>
                <a:srgbClr val="0070C0"/>
              </a:solidFill>
              <a:latin typeface="微软雅黑" panose="020B0503020204020204" charset="-122"/>
              <a:ea typeface="微软雅黑" panose="020B0503020204020204" charset="-122"/>
            </a:endParaRPr>
          </a:p>
        </p:txBody>
      </p:sp>
      <p:sp>
        <p:nvSpPr>
          <p:cNvPr id="3" name="内容占位符 2"/>
          <p:cNvSpPr txBox="1"/>
          <p:nvPr/>
        </p:nvSpPr>
        <p:spPr>
          <a:xfrm>
            <a:off x="211138" y="1875572"/>
            <a:ext cx="11650895" cy="4038600"/>
          </a:xfrm>
          <a:prstGeom prst="rect">
            <a:avLst/>
          </a:prstGeom>
        </p:spPr>
        <p:txBody>
          <a:bodyPr/>
          <a:lst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a:lnSpc>
                <a:spcPct val="150000"/>
              </a:lnSpc>
            </a:pPr>
            <a:r>
              <a:rPr lang="zh-CN" altLang="en-US" sz="2800" dirty="0"/>
              <a:t>数据库设计步骤（以</a:t>
            </a:r>
            <a:r>
              <a:rPr lang="zh-CN" altLang="en-US" sz="2800" b="1" dirty="0">
                <a:solidFill>
                  <a:srgbClr val="FF0000"/>
                </a:solidFill>
              </a:rPr>
              <a:t>面向对象方法的实体类关系分析</a:t>
            </a:r>
            <a:r>
              <a:rPr lang="zh-CN" altLang="en-US" sz="2800" dirty="0"/>
              <a:t>为例）</a:t>
            </a:r>
            <a:endParaRPr lang="en-US" altLang="zh-CN" sz="2800" dirty="0"/>
          </a:p>
          <a:p>
            <a:pPr lvl="1">
              <a:lnSpc>
                <a:spcPct val="150000"/>
              </a:lnSpc>
            </a:pPr>
            <a:r>
              <a:rPr lang="zh-CN" altLang="en-US" sz="2400" dirty="0"/>
              <a:t>实体类关系分析</a:t>
            </a:r>
            <a:endParaRPr lang="zh-CN" altLang="en-US" sz="2400" dirty="0"/>
          </a:p>
        </p:txBody>
      </p:sp>
      <p:pic>
        <p:nvPicPr>
          <p:cNvPr id="5" name="图片 4"/>
          <p:cNvPicPr>
            <a:picLocks noChangeAspect="1"/>
          </p:cNvPicPr>
          <p:nvPr/>
        </p:nvPicPr>
        <p:blipFill>
          <a:blip r:embed="rId2"/>
          <a:stretch>
            <a:fillRect/>
          </a:stretch>
        </p:blipFill>
        <p:spPr>
          <a:xfrm>
            <a:off x="2288254" y="3195529"/>
            <a:ext cx="6154683" cy="320991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03</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毕业设计论文撰写方法与要求</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4" name="文本框 3"/>
          <p:cNvSpPr txBox="1"/>
          <p:nvPr/>
        </p:nvSpPr>
        <p:spPr>
          <a:xfrm>
            <a:off x="438785" y="1384300"/>
            <a:ext cx="8334375" cy="499624"/>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（四）软件设计</a:t>
            </a:r>
            <a:r>
              <a:rPr lang="en-US" altLang="zh-CN" sz="2000" dirty="0">
                <a:solidFill>
                  <a:srgbClr val="0070C0"/>
                </a:solidFill>
                <a:latin typeface="微软雅黑" panose="020B0503020204020204" charset="-122"/>
                <a:ea typeface="微软雅黑" panose="020B0503020204020204" charset="-122"/>
              </a:rPr>
              <a:t>——</a:t>
            </a:r>
            <a:r>
              <a:rPr lang="zh-CN" altLang="en-US" sz="2000" dirty="0">
                <a:solidFill>
                  <a:srgbClr val="0070C0"/>
                </a:solidFill>
                <a:latin typeface="微软雅黑" panose="020B0503020204020204" charset="-122"/>
                <a:ea typeface="微软雅黑" panose="020B0503020204020204" charset="-122"/>
              </a:rPr>
              <a:t>数据库设计</a:t>
            </a:r>
            <a:endParaRPr lang="zh-CN" altLang="en-US" sz="2000" dirty="0">
              <a:solidFill>
                <a:srgbClr val="0070C0"/>
              </a:solidFill>
              <a:latin typeface="微软雅黑" panose="020B0503020204020204" charset="-122"/>
              <a:ea typeface="微软雅黑" panose="020B0503020204020204" charset="-122"/>
            </a:endParaRPr>
          </a:p>
        </p:txBody>
      </p:sp>
      <p:sp>
        <p:nvSpPr>
          <p:cNvPr id="3" name="内容占位符 2"/>
          <p:cNvSpPr txBox="1"/>
          <p:nvPr/>
        </p:nvSpPr>
        <p:spPr>
          <a:xfrm>
            <a:off x="211138" y="1875572"/>
            <a:ext cx="11650895" cy="4038600"/>
          </a:xfrm>
          <a:prstGeom prst="rect">
            <a:avLst/>
          </a:prstGeom>
        </p:spPr>
        <p:txBody>
          <a:bodyPr/>
          <a:lst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a:lnSpc>
                <a:spcPct val="150000"/>
              </a:lnSpc>
            </a:pPr>
            <a:r>
              <a:rPr lang="zh-CN" altLang="en-US" sz="2800" dirty="0"/>
              <a:t>数据库设计步骤（以</a:t>
            </a:r>
            <a:r>
              <a:rPr lang="zh-CN" altLang="en-US" sz="2800" b="1" dirty="0">
                <a:solidFill>
                  <a:srgbClr val="FF0000"/>
                </a:solidFill>
              </a:rPr>
              <a:t>面向对象方法的实体类关系分析</a:t>
            </a:r>
            <a:r>
              <a:rPr lang="zh-CN" altLang="en-US" sz="2800" dirty="0"/>
              <a:t>为例）</a:t>
            </a:r>
            <a:endParaRPr lang="en-US" altLang="zh-CN" sz="2800" dirty="0"/>
          </a:p>
          <a:p>
            <a:pPr lvl="1">
              <a:lnSpc>
                <a:spcPct val="150000"/>
              </a:lnSpc>
            </a:pPr>
            <a:r>
              <a:rPr lang="zh-CN" altLang="en-US" sz="2400" dirty="0"/>
              <a:t>将实体类直接映射为数据库表结构</a:t>
            </a:r>
            <a:endParaRPr lang="zh-CN" altLang="en-US" sz="2400" dirty="0"/>
          </a:p>
        </p:txBody>
      </p:sp>
      <p:pic>
        <p:nvPicPr>
          <p:cNvPr id="8" name="图片 7"/>
          <p:cNvPicPr>
            <a:picLocks noChangeAspect="1"/>
          </p:cNvPicPr>
          <p:nvPr/>
        </p:nvPicPr>
        <p:blipFill>
          <a:blip r:embed="rId2"/>
          <a:stretch>
            <a:fillRect/>
          </a:stretch>
        </p:blipFill>
        <p:spPr>
          <a:xfrm>
            <a:off x="3305320" y="3237982"/>
            <a:ext cx="5009524" cy="267619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03</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毕业设计论文撰写方法与要求</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4" name="文本框 3"/>
          <p:cNvSpPr txBox="1"/>
          <p:nvPr/>
        </p:nvSpPr>
        <p:spPr>
          <a:xfrm>
            <a:off x="438785" y="1384300"/>
            <a:ext cx="8334375" cy="499624"/>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（四）软件设计</a:t>
            </a:r>
            <a:r>
              <a:rPr lang="en-US" altLang="zh-CN" sz="2000" dirty="0">
                <a:solidFill>
                  <a:srgbClr val="0070C0"/>
                </a:solidFill>
                <a:latin typeface="微软雅黑" panose="020B0503020204020204" charset="-122"/>
                <a:ea typeface="微软雅黑" panose="020B0503020204020204" charset="-122"/>
              </a:rPr>
              <a:t>——</a:t>
            </a:r>
            <a:r>
              <a:rPr lang="zh-CN" altLang="en-US" sz="2000" dirty="0">
                <a:solidFill>
                  <a:srgbClr val="0070C0"/>
                </a:solidFill>
                <a:latin typeface="微软雅黑" panose="020B0503020204020204" charset="-122"/>
                <a:ea typeface="微软雅黑" panose="020B0503020204020204" charset="-122"/>
              </a:rPr>
              <a:t>数据库设计</a:t>
            </a:r>
            <a:endParaRPr lang="zh-CN" altLang="en-US" sz="2000" dirty="0">
              <a:solidFill>
                <a:srgbClr val="0070C0"/>
              </a:solidFill>
              <a:latin typeface="微软雅黑" panose="020B0503020204020204" charset="-122"/>
              <a:ea typeface="微软雅黑" panose="020B0503020204020204" charset="-122"/>
            </a:endParaRPr>
          </a:p>
        </p:txBody>
      </p:sp>
      <p:sp>
        <p:nvSpPr>
          <p:cNvPr id="5" name="内容占位符 2"/>
          <p:cNvSpPr txBox="1"/>
          <p:nvPr/>
        </p:nvSpPr>
        <p:spPr>
          <a:xfrm>
            <a:off x="211139" y="1875572"/>
            <a:ext cx="6223218" cy="4038600"/>
          </a:xfrm>
          <a:prstGeom prst="rect">
            <a:avLst/>
          </a:prstGeom>
        </p:spPr>
        <p:txBody>
          <a:bodyPr/>
          <a:lst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a:lnSpc>
                <a:spcPct val="150000"/>
              </a:lnSpc>
            </a:pPr>
            <a:r>
              <a:rPr lang="zh-CN" altLang="en-US" sz="2800" b="1" dirty="0">
                <a:solidFill>
                  <a:srgbClr val="FF0000"/>
                </a:solidFill>
              </a:rPr>
              <a:t>规范</a:t>
            </a:r>
            <a:r>
              <a:rPr lang="zh-CN" altLang="en-US" sz="2800" dirty="0"/>
              <a:t>表结构和字段名称</a:t>
            </a:r>
            <a:r>
              <a:rPr lang="zh-CN" altLang="en-US" sz="2800" b="1" dirty="0">
                <a:solidFill>
                  <a:srgbClr val="FF0000"/>
                </a:solidFill>
              </a:rPr>
              <a:t>命名规则</a:t>
            </a:r>
            <a:endParaRPr lang="en-US" altLang="zh-CN" sz="2800" b="1" dirty="0">
              <a:solidFill>
                <a:srgbClr val="FF0000"/>
              </a:solidFill>
            </a:endParaRPr>
          </a:p>
          <a:p>
            <a:pPr lvl="1">
              <a:lnSpc>
                <a:spcPct val="150000"/>
              </a:lnSpc>
            </a:pPr>
            <a:r>
              <a:rPr lang="zh-CN" altLang="en-US" sz="2400" dirty="0"/>
              <a:t>表名：</a:t>
            </a:r>
            <a:r>
              <a:rPr lang="en-US" altLang="zh-CN" sz="2400" dirty="0"/>
              <a:t>tb_</a:t>
            </a:r>
            <a:r>
              <a:rPr lang="zh-CN" altLang="en-US" sz="2400" dirty="0"/>
              <a:t>前缀</a:t>
            </a:r>
            <a:r>
              <a:rPr lang="en-US" altLang="zh-CN" sz="2400" dirty="0"/>
              <a:t>_</a:t>
            </a:r>
            <a:r>
              <a:rPr lang="zh-CN" altLang="en-US" sz="2400" dirty="0"/>
              <a:t>表名</a:t>
            </a:r>
            <a:endParaRPr lang="zh-CN" altLang="en-US" sz="2400" dirty="0"/>
          </a:p>
          <a:p>
            <a:pPr lvl="1">
              <a:lnSpc>
                <a:spcPct val="150000"/>
              </a:lnSpc>
            </a:pPr>
            <a:r>
              <a:rPr lang="zh-CN" altLang="en-US" sz="2400" dirty="0"/>
              <a:t>字段名：前缀</a:t>
            </a:r>
            <a:r>
              <a:rPr lang="en-US" altLang="zh-CN" sz="2400" dirty="0"/>
              <a:t>_</a:t>
            </a:r>
            <a:r>
              <a:rPr lang="zh-CN" altLang="en-US" sz="2400" dirty="0"/>
              <a:t>字段名</a:t>
            </a:r>
            <a:endParaRPr lang="zh-CN" altLang="en-US" sz="2400" dirty="0"/>
          </a:p>
          <a:p>
            <a:pPr lvl="1">
              <a:lnSpc>
                <a:spcPct val="150000"/>
              </a:lnSpc>
            </a:pPr>
            <a:r>
              <a:rPr lang="zh-CN" altLang="en-US" sz="2400" dirty="0"/>
              <a:t>如学生考勤管理系统中的用户表按规范可以命名为</a:t>
            </a:r>
            <a:r>
              <a:rPr lang="en-US" altLang="zh-CN" sz="2400" dirty="0"/>
              <a:t>:</a:t>
            </a:r>
            <a:r>
              <a:rPr lang="en-US" altLang="zh-CN" sz="2400" dirty="0" err="1"/>
              <a:t>tb_xskq_users</a:t>
            </a:r>
            <a:endParaRPr lang="en-US" altLang="zh-CN" sz="2400" dirty="0"/>
          </a:p>
          <a:p>
            <a:pPr lvl="1">
              <a:lnSpc>
                <a:spcPct val="150000"/>
              </a:lnSpc>
            </a:pPr>
            <a:r>
              <a:rPr lang="zh-CN" altLang="en-US" sz="2400" dirty="0"/>
              <a:t>如课程</a:t>
            </a:r>
            <a:r>
              <a:rPr lang="en-US" altLang="zh-CN" sz="2400" dirty="0"/>
              <a:t>ID</a:t>
            </a:r>
            <a:r>
              <a:rPr lang="zh-CN" altLang="en-US" sz="2400" dirty="0"/>
              <a:t>命名为：</a:t>
            </a:r>
            <a:r>
              <a:rPr lang="en-US" altLang="zh-CN" sz="2400" dirty="0" err="1"/>
              <a:t>xskq_course_id</a:t>
            </a:r>
            <a:endParaRPr lang="zh-CN" altLang="en-US" sz="2400" dirty="0"/>
          </a:p>
        </p:txBody>
      </p:sp>
      <p:pic>
        <p:nvPicPr>
          <p:cNvPr id="9" name="图片 8"/>
          <p:cNvPicPr>
            <a:picLocks noChangeAspect="1"/>
          </p:cNvPicPr>
          <p:nvPr/>
        </p:nvPicPr>
        <p:blipFill>
          <a:blip r:embed="rId2"/>
          <a:stretch>
            <a:fillRect/>
          </a:stretch>
        </p:blipFill>
        <p:spPr>
          <a:xfrm>
            <a:off x="6369600" y="1906018"/>
            <a:ext cx="5514320" cy="297815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03</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毕业设计论文撰写方法与要求</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4" name="文本框 3"/>
          <p:cNvSpPr txBox="1"/>
          <p:nvPr/>
        </p:nvSpPr>
        <p:spPr>
          <a:xfrm>
            <a:off x="438785" y="1384300"/>
            <a:ext cx="8334375" cy="499624"/>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（四）软件设计</a:t>
            </a:r>
            <a:r>
              <a:rPr lang="en-US" altLang="zh-CN" sz="2000" dirty="0">
                <a:solidFill>
                  <a:srgbClr val="0070C0"/>
                </a:solidFill>
                <a:latin typeface="微软雅黑" panose="020B0503020204020204" charset="-122"/>
                <a:ea typeface="微软雅黑" panose="020B0503020204020204" charset="-122"/>
              </a:rPr>
              <a:t>——</a:t>
            </a:r>
            <a:r>
              <a:rPr lang="zh-CN" altLang="en-US" sz="2000" dirty="0">
                <a:solidFill>
                  <a:srgbClr val="0070C0"/>
                </a:solidFill>
                <a:latin typeface="微软雅黑" panose="020B0503020204020204" charset="-122"/>
                <a:ea typeface="微软雅黑" panose="020B0503020204020204" charset="-122"/>
              </a:rPr>
              <a:t>数据库设计</a:t>
            </a:r>
            <a:endParaRPr lang="zh-CN" altLang="en-US" sz="2000" dirty="0">
              <a:solidFill>
                <a:srgbClr val="0070C0"/>
              </a:solidFill>
              <a:latin typeface="微软雅黑" panose="020B0503020204020204" charset="-122"/>
              <a:ea typeface="微软雅黑" panose="020B0503020204020204" charset="-122"/>
            </a:endParaRPr>
          </a:p>
        </p:txBody>
      </p:sp>
      <p:sp>
        <p:nvSpPr>
          <p:cNvPr id="3" name="文本框 2"/>
          <p:cNvSpPr txBox="1"/>
          <p:nvPr/>
        </p:nvSpPr>
        <p:spPr>
          <a:xfrm>
            <a:off x="438785" y="1384300"/>
            <a:ext cx="8334375" cy="499111"/>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（四）软件设计</a:t>
            </a:r>
            <a:r>
              <a:rPr lang="en-US" altLang="zh-CN" sz="2000" dirty="0">
                <a:solidFill>
                  <a:srgbClr val="0070C0"/>
                </a:solidFill>
                <a:latin typeface="微软雅黑" panose="020B0503020204020204" charset="-122"/>
                <a:ea typeface="微软雅黑" panose="020B0503020204020204" charset="-122"/>
              </a:rPr>
              <a:t>——</a:t>
            </a:r>
            <a:r>
              <a:rPr lang="zh-CN" altLang="en-US" sz="2000" dirty="0">
                <a:solidFill>
                  <a:srgbClr val="0070C0"/>
                </a:solidFill>
                <a:latin typeface="微软雅黑" panose="020B0503020204020204" charset="-122"/>
                <a:ea typeface="微软雅黑" panose="020B0503020204020204" charset="-122"/>
              </a:rPr>
              <a:t>数据库设计</a:t>
            </a:r>
            <a:endParaRPr lang="zh-CN" altLang="en-US" sz="2000" dirty="0">
              <a:solidFill>
                <a:srgbClr val="0070C0"/>
              </a:solidFill>
              <a:latin typeface="微软雅黑" panose="020B0503020204020204" charset="-122"/>
              <a:ea typeface="微软雅黑" panose="020B0503020204020204" charset="-122"/>
            </a:endParaRPr>
          </a:p>
        </p:txBody>
      </p:sp>
      <p:sp>
        <p:nvSpPr>
          <p:cNvPr id="6" name="内容占位符 2"/>
          <p:cNvSpPr txBox="1"/>
          <p:nvPr/>
        </p:nvSpPr>
        <p:spPr>
          <a:xfrm>
            <a:off x="438785" y="2075561"/>
            <a:ext cx="11354411" cy="4038600"/>
          </a:xfrm>
          <a:prstGeom prst="rect">
            <a:avLst/>
          </a:prstGeom>
        </p:spPr>
        <p:txBody>
          <a:bodyPr/>
          <a:lst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a:lnSpc>
                <a:spcPct val="150000"/>
              </a:lnSpc>
            </a:pPr>
            <a:r>
              <a:rPr lang="zh-CN" altLang="en-US" sz="2800" dirty="0"/>
              <a:t>常见问题</a:t>
            </a:r>
            <a:endParaRPr lang="en-US" altLang="zh-CN" sz="2800" dirty="0"/>
          </a:p>
          <a:p>
            <a:pPr lvl="1">
              <a:lnSpc>
                <a:spcPct val="150000"/>
              </a:lnSpc>
            </a:pPr>
            <a:r>
              <a:rPr lang="zh-CN" altLang="en-US" sz="2400" dirty="0"/>
              <a:t>遗漏实体或表</a:t>
            </a:r>
            <a:endParaRPr lang="en-US" altLang="zh-CN" sz="2400" dirty="0"/>
          </a:p>
          <a:p>
            <a:pPr lvl="1">
              <a:lnSpc>
                <a:spcPct val="150000"/>
              </a:lnSpc>
            </a:pPr>
            <a:r>
              <a:rPr lang="zh-CN" altLang="en-US" sz="2400" dirty="0"/>
              <a:t>前后不一致</a:t>
            </a:r>
            <a:endParaRPr lang="en-US" altLang="zh-CN" sz="2400" dirty="0"/>
          </a:p>
          <a:p>
            <a:pPr lvl="2">
              <a:lnSpc>
                <a:spcPct val="150000"/>
              </a:lnSpc>
            </a:pPr>
            <a:r>
              <a:rPr lang="zh-CN" altLang="en-US" sz="2000" dirty="0"/>
              <a:t>前面有很多实体，后面只有几张表</a:t>
            </a:r>
            <a:endParaRPr lang="zh-CN" altLang="en-US" sz="2000" dirty="0"/>
          </a:p>
        </p:txBody>
      </p:sp>
      <p:pic>
        <p:nvPicPr>
          <p:cNvPr id="7" name="图片 6"/>
          <p:cNvPicPr>
            <a:picLocks noChangeAspect="1"/>
          </p:cNvPicPr>
          <p:nvPr/>
        </p:nvPicPr>
        <p:blipFill>
          <a:blip r:embed="rId2"/>
          <a:stretch>
            <a:fillRect/>
          </a:stretch>
        </p:blipFill>
        <p:spPr>
          <a:xfrm>
            <a:off x="6811047" y="2527401"/>
            <a:ext cx="4214792" cy="1803198"/>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03</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毕业设计论文撰写方法与要求</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5" name="文本框 4"/>
          <p:cNvSpPr txBox="1"/>
          <p:nvPr/>
        </p:nvSpPr>
        <p:spPr>
          <a:xfrm>
            <a:off x="438785" y="1384300"/>
            <a:ext cx="8334375" cy="958660"/>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（五）系统实现</a:t>
            </a:r>
            <a:endParaRPr lang="zh-CN" altLang="en-US" sz="2000" dirty="0">
              <a:solidFill>
                <a:srgbClr val="0070C0"/>
              </a:solidFill>
              <a:latin typeface="微软雅黑" panose="020B0503020204020204" charset="-122"/>
              <a:ea typeface="微软雅黑" panose="020B0503020204020204" charset="-122"/>
            </a:endParaRPr>
          </a:p>
          <a:p>
            <a:pPr algn="just">
              <a:lnSpc>
                <a:spcPct val="150000"/>
              </a:lnSpc>
              <a:buClrTx/>
              <a:buSzTx/>
              <a:buFont typeface="Wingdings" panose="05000000000000000000" charset="0"/>
            </a:pPr>
            <a:endParaRPr lang="zh-CN" altLang="en-US" sz="2000" dirty="0"/>
          </a:p>
        </p:txBody>
      </p:sp>
      <p:sp>
        <p:nvSpPr>
          <p:cNvPr id="8" name="内容占位符 2"/>
          <p:cNvSpPr txBox="1"/>
          <p:nvPr/>
        </p:nvSpPr>
        <p:spPr>
          <a:xfrm>
            <a:off x="211138" y="2133079"/>
            <a:ext cx="10300268" cy="4038600"/>
          </a:xfrm>
          <a:prstGeom prst="rect">
            <a:avLst/>
          </a:prstGeom>
        </p:spPr>
        <p:txBody>
          <a:bodyPr/>
          <a:lst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lvl="1"/>
            <a:r>
              <a:rPr lang="zh-CN" altLang="en-US" dirty="0"/>
              <a:t>系统的每一项需求都要有对应的实现，前后要保持一致</a:t>
            </a:r>
            <a:endParaRPr lang="en-US" altLang="zh-CN" dirty="0"/>
          </a:p>
          <a:p>
            <a:pPr lvl="1"/>
            <a:r>
              <a:rPr lang="zh-CN" altLang="en-US" dirty="0"/>
              <a:t>对于每一项功能实现，在毕业论文（设计）文档中，要附上核心代码实现</a:t>
            </a:r>
            <a:endParaRPr lang="en-US" altLang="zh-CN" dirty="0"/>
          </a:p>
          <a:p>
            <a:pPr lvl="1"/>
            <a:r>
              <a:rPr lang="zh-CN" altLang="en-US" b="1" dirty="0">
                <a:solidFill>
                  <a:srgbClr val="FF0000"/>
                </a:solidFill>
              </a:rPr>
              <a:t>注意：核心代码不要贴图</a:t>
            </a:r>
            <a:endParaRPr lang="zh-CN" altLang="en-US" b="1" dirty="0">
              <a:solidFill>
                <a:srgbClr val="FF0000"/>
              </a:solidFill>
            </a:endParaRPr>
          </a:p>
          <a:p>
            <a:pPr lvl="1"/>
            <a:endParaRPr lang="zh-CN" altLang="en-US" dirty="0"/>
          </a:p>
        </p:txBody>
      </p:sp>
      <p:sp>
        <p:nvSpPr>
          <p:cNvPr id="9" name="文本框 8"/>
          <p:cNvSpPr txBox="1"/>
          <p:nvPr/>
        </p:nvSpPr>
        <p:spPr>
          <a:xfrm>
            <a:off x="2012748" y="4352624"/>
            <a:ext cx="6760411" cy="1121076"/>
          </a:xfrm>
          <a:prstGeom prst="rect">
            <a:avLst/>
          </a:prstGeom>
          <a:noFill/>
        </p:spPr>
        <p:txBody>
          <a:bodyPr wrap="square">
            <a:spAutoFit/>
          </a:bodyPr>
          <a:lstStyle/>
          <a:p>
            <a:pPr algn="just">
              <a:lnSpc>
                <a:spcPts val="1600"/>
              </a:lnSpc>
            </a:pPr>
            <a:r>
              <a:rPr lang="en-US" altLang="zh-CN" sz="1800" kern="100" dirty="0">
                <a:solidFill>
                  <a:srgbClr val="FF0000"/>
                </a:solidFill>
                <a:effectLst/>
                <a:latin typeface="Times New Roman" panose="02020603050405020304" pitchFamily="18" charset="0"/>
                <a:ea typeface="宋体" panose="02010600030101010101" pitchFamily="2" charset="-122"/>
              </a:rPr>
              <a:t>&lt;</a:t>
            </a:r>
            <a:r>
              <a:rPr lang="zh-CN" altLang="zh-CN" sz="1800" kern="100" dirty="0">
                <a:solidFill>
                  <a:srgbClr val="FF0000"/>
                </a:solidFill>
                <a:effectLst/>
                <a:latin typeface="Times New Roman" panose="02020603050405020304" pitchFamily="18" charset="0"/>
                <a:ea typeface="宋体" panose="02010600030101010101" pitchFamily="2" charset="-122"/>
              </a:rPr>
              <a:t>参照</a:t>
            </a:r>
            <a:r>
              <a:rPr lang="en-US" altLang="zh-CN" sz="1800" kern="100" dirty="0">
                <a:solidFill>
                  <a:srgbClr val="FF0000"/>
                </a:solidFill>
                <a:effectLst/>
                <a:latin typeface="Times New Roman" panose="02020603050405020304" pitchFamily="18" charset="0"/>
                <a:ea typeface="宋体" panose="02010600030101010101" pitchFamily="2" charset="-122"/>
              </a:rPr>
              <a:t>4.1</a:t>
            </a:r>
            <a:r>
              <a:rPr lang="zh-CN" altLang="zh-CN" sz="1800" kern="100" dirty="0">
                <a:solidFill>
                  <a:srgbClr val="FF0000"/>
                </a:solidFill>
                <a:effectLst/>
                <a:latin typeface="Times New Roman" panose="02020603050405020304" pitchFamily="18" charset="0"/>
                <a:ea typeface="宋体" panose="02010600030101010101" pitchFamily="2" charset="-122"/>
              </a:rPr>
              <a:t>的描述，完成其他功能模块实现的描述</a:t>
            </a:r>
            <a:r>
              <a:rPr lang="en-US" altLang="zh-CN" sz="1800" kern="100" dirty="0">
                <a:solidFill>
                  <a:srgbClr val="FF0000"/>
                </a:solidFill>
                <a:effectLst/>
                <a:latin typeface="Times New Roman" panose="02020603050405020304" pitchFamily="18" charset="0"/>
                <a:ea typeface="宋体" panose="02010600030101010101" pitchFamily="2" charset="-122"/>
              </a:rPr>
              <a:t>&gt;</a:t>
            </a:r>
            <a:endParaRPr lang="zh-CN" altLang="zh-CN" sz="1800" kern="100" dirty="0">
              <a:effectLst/>
              <a:latin typeface="Times New Roman" panose="02020603050405020304" pitchFamily="18" charset="0"/>
              <a:ea typeface="宋体" panose="02010600030101010101" pitchFamily="2" charset="-122"/>
            </a:endParaRPr>
          </a:p>
          <a:p>
            <a:pPr indent="266700" algn="just">
              <a:lnSpc>
                <a:spcPts val="1600"/>
              </a:lnSpc>
            </a:pPr>
            <a:r>
              <a:rPr lang="zh-CN" altLang="zh-CN" sz="1800" kern="100" dirty="0">
                <a:effectLst/>
                <a:latin typeface="Times New Roman" panose="02020603050405020304" pitchFamily="18" charset="0"/>
                <a:ea typeface="宋体" panose="02010600030101010101" pitchFamily="2" charset="-122"/>
              </a:rPr>
              <a:t>核心代码：</a:t>
            </a:r>
            <a:endParaRPr lang="zh-CN" altLang="zh-CN" sz="1800" kern="100" dirty="0">
              <a:effectLst/>
              <a:latin typeface="Times New Roman" panose="02020603050405020304" pitchFamily="18" charset="0"/>
              <a:ea typeface="宋体" panose="02010600030101010101" pitchFamily="2" charset="-122"/>
            </a:endParaRPr>
          </a:p>
          <a:p>
            <a:pPr indent="266700" algn="just">
              <a:lnSpc>
                <a:spcPts val="1600"/>
              </a:lnSpc>
            </a:pPr>
            <a:r>
              <a:rPr lang="zh-CN" altLang="zh-CN" sz="1800" kern="100" dirty="0">
                <a:effectLst/>
                <a:latin typeface="Times New Roman" panose="02020603050405020304" pitchFamily="18" charset="0"/>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a:p>
            <a:pPr indent="266700" algn="just">
              <a:lnSpc>
                <a:spcPts val="1600"/>
              </a:lnSpc>
            </a:pPr>
            <a:r>
              <a:rPr lang="zh-CN" altLang="zh-CN" sz="1800" kern="100" dirty="0">
                <a:effectLst/>
                <a:latin typeface="Times New Roman" panose="02020603050405020304" pitchFamily="18" charset="0"/>
                <a:ea typeface="宋体" panose="02010600030101010101" pitchFamily="2" charset="-122"/>
              </a:rPr>
              <a:t>代码………………</a:t>
            </a:r>
            <a:endParaRPr lang="zh-CN" altLang="zh-CN" sz="1800" kern="100" dirty="0">
              <a:effectLst/>
              <a:latin typeface="Times New Roman" panose="02020603050405020304" pitchFamily="18" charset="0"/>
              <a:ea typeface="宋体" panose="02010600030101010101" pitchFamily="2" charset="-122"/>
            </a:endParaRPr>
          </a:p>
          <a:p>
            <a:pPr indent="266700" algn="just">
              <a:lnSpc>
                <a:spcPts val="1600"/>
              </a:lnSpc>
            </a:pPr>
            <a:r>
              <a:rPr lang="zh-CN" altLang="zh-CN" sz="1800" kern="100" dirty="0">
                <a:effectLst/>
                <a:latin typeface="Times New Roman" panose="02020603050405020304" pitchFamily="18" charset="0"/>
                <a:ea typeface="宋体" panose="02010600030101010101" pitchFamily="2" charset="-122"/>
              </a:rPr>
              <a:t>……</a:t>
            </a:r>
            <a:endParaRPr lang="zh-CN" altLang="zh-CN" sz="1800" kern="100" dirty="0">
              <a:effectLst/>
              <a:latin typeface="Times New Roman" panose="02020603050405020304" pitchFamily="18" charset="0"/>
              <a:ea typeface="宋体" panose="02010600030101010101"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03</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毕业设计论文撰写方法与要求</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5" name="文本框 4"/>
          <p:cNvSpPr txBox="1"/>
          <p:nvPr/>
        </p:nvSpPr>
        <p:spPr>
          <a:xfrm>
            <a:off x="438785" y="1384300"/>
            <a:ext cx="8334375" cy="968791"/>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（六）常见问题</a:t>
            </a:r>
            <a:endParaRPr lang="zh-CN" altLang="en-US" sz="2000" dirty="0">
              <a:solidFill>
                <a:srgbClr val="0070C0"/>
              </a:solidFill>
              <a:latin typeface="微软雅黑" panose="020B0503020204020204" charset="-122"/>
              <a:ea typeface="微软雅黑" panose="020B0503020204020204" charset="-122"/>
            </a:endParaRPr>
          </a:p>
          <a:p>
            <a:pPr algn="just">
              <a:lnSpc>
                <a:spcPct val="150000"/>
              </a:lnSpc>
              <a:buClrTx/>
              <a:buSzTx/>
              <a:buFont typeface="Wingdings" panose="05000000000000000000" charset="0"/>
            </a:pPr>
            <a:endParaRPr lang="zh-CN" altLang="en-US" sz="2000" dirty="0"/>
          </a:p>
        </p:txBody>
      </p:sp>
      <p:sp>
        <p:nvSpPr>
          <p:cNvPr id="6" name="内容占位符 2"/>
          <p:cNvSpPr txBox="1"/>
          <p:nvPr/>
        </p:nvSpPr>
        <p:spPr>
          <a:xfrm>
            <a:off x="211138" y="2114766"/>
            <a:ext cx="8824277" cy="4038600"/>
          </a:xfrm>
          <a:prstGeom prst="rect">
            <a:avLst/>
          </a:prstGeom>
        </p:spPr>
        <p:txBody>
          <a:bodyPr/>
          <a:lst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r>
              <a:rPr lang="en-US" altLang="zh-CN" sz="2800" dirty="0"/>
              <a:t>1.</a:t>
            </a:r>
            <a:r>
              <a:rPr lang="zh-CN" altLang="en-US" sz="2800" dirty="0"/>
              <a:t> 论文格式问题</a:t>
            </a:r>
            <a:endParaRPr lang="en-US" altLang="zh-CN" sz="2800" dirty="0"/>
          </a:p>
          <a:p>
            <a:r>
              <a:rPr lang="en-US" altLang="zh-CN" sz="2800" dirty="0"/>
              <a:t>2. </a:t>
            </a:r>
            <a:r>
              <a:rPr lang="zh-CN" altLang="en-US" sz="2800" dirty="0"/>
              <a:t>虎头蛇尾（论文前后不一致）</a:t>
            </a:r>
            <a:endParaRPr lang="en-US" altLang="zh-CN" sz="2800" dirty="0"/>
          </a:p>
          <a:p>
            <a:r>
              <a:rPr lang="en-US" altLang="zh-CN" sz="2800" dirty="0"/>
              <a:t>3. </a:t>
            </a:r>
            <a:r>
              <a:rPr lang="zh-CN" altLang="en-US" sz="2800" dirty="0"/>
              <a:t>论文结构问题</a:t>
            </a:r>
            <a:endParaRPr lang="en-US" altLang="zh-CN" sz="2800" dirty="0"/>
          </a:p>
          <a:p>
            <a:r>
              <a:rPr lang="en-US" altLang="zh-CN" sz="2800" dirty="0"/>
              <a:t>4. </a:t>
            </a:r>
            <a:r>
              <a:rPr lang="zh-CN" altLang="en-US" sz="2800" dirty="0"/>
              <a:t>表格和代码用图片</a:t>
            </a:r>
            <a:endParaRPr lang="en-US" altLang="zh-CN" sz="2800" dirty="0"/>
          </a:p>
          <a:p>
            <a:r>
              <a:rPr lang="en-US" altLang="zh-CN" sz="2800" dirty="0"/>
              <a:t>5.</a:t>
            </a:r>
            <a:r>
              <a:rPr lang="zh-CN" altLang="en-US" sz="2800" dirty="0"/>
              <a:t>参考文献在正文中无引用</a:t>
            </a:r>
            <a:endParaRPr lang="zh-CN" altLang="en-US" sz="2800" dirty="0"/>
          </a:p>
        </p:txBody>
      </p:sp>
      <p:pic>
        <p:nvPicPr>
          <p:cNvPr id="7" name="图片 6"/>
          <p:cNvPicPr>
            <a:picLocks noChangeAspect="1"/>
          </p:cNvPicPr>
          <p:nvPr/>
        </p:nvPicPr>
        <p:blipFill>
          <a:blip r:embed="rId2"/>
          <a:stretch>
            <a:fillRect/>
          </a:stretch>
        </p:blipFill>
        <p:spPr>
          <a:xfrm>
            <a:off x="5471888" y="1840730"/>
            <a:ext cx="3613484" cy="40386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03</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毕业设计论文撰写方法与要求</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3" name="文本框 2"/>
          <p:cNvSpPr txBox="1"/>
          <p:nvPr/>
        </p:nvSpPr>
        <p:spPr>
          <a:xfrm>
            <a:off x="438785" y="1384300"/>
            <a:ext cx="8334375" cy="505523"/>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（七）毕业设计论文撰写要求</a:t>
            </a:r>
            <a:endParaRPr lang="zh-CN" altLang="en-US" sz="2000" dirty="0"/>
          </a:p>
        </p:txBody>
      </p:sp>
      <p:sp>
        <p:nvSpPr>
          <p:cNvPr id="4" name="内容占位符 2"/>
          <p:cNvSpPr txBox="1"/>
          <p:nvPr/>
        </p:nvSpPr>
        <p:spPr>
          <a:xfrm>
            <a:off x="597031" y="2081210"/>
            <a:ext cx="10275101" cy="4038600"/>
          </a:xfrm>
          <a:prstGeom prst="rect">
            <a:avLst/>
          </a:prstGeom>
        </p:spPr>
        <p:txBody>
          <a:bodyPr/>
          <a:lst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a:lnSpc>
                <a:spcPct val="150000"/>
              </a:lnSpc>
            </a:pPr>
            <a:r>
              <a:rPr lang="zh-CN" altLang="en-US" sz="2800" b="1" dirty="0"/>
              <a:t>毕业设计文档中图形</a:t>
            </a:r>
            <a:r>
              <a:rPr lang="zh-CN" altLang="en-US" b="1" dirty="0">
                <a:solidFill>
                  <a:srgbClr val="FF0000"/>
                </a:solidFill>
              </a:rPr>
              <a:t>画图工具限定</a:t>
            </a:r>
            <a:r>
              <a:rPr lang="zh-CN" altLang="en-US" sz="2800" b="1" dirty="0"/>
              <a:t>为：</a:t>
            </a:r>
            <a:endParaRPr lang="en-US" altLang="zh-CN" sz="2800" b="1" dirty="0"/>
          </a:p>
          <a:p>
            <a:pPr lvl="1">
              <a:lnSpc>
                <a:spcPct val="150000"/>
              </a:lnSpc>
            </a:pPr>
            <a:r>
              <a:rPr lang="en-US" altLang="zh-CN" sz="2400" b="1" dirty="0" err="1"/>
              <a:t>StarUML</a:t>
            </a:r>
            <a:r>
              <a:rPr lang="zh-CN" altLang="en-US" sz="2400" b="1" dirty="0"/>
              <a:t>和</a:t>
            </a:r>
            <a:r>
              <a:rPr lang="en-US" altLang="zh-CN" sz="2400" b="1" dirty="0"/>
              <a:t>Microsoft Visio</a:t>
            </a:r>
            <a:endParaRPr lang="en-US" altLang="zh-CN" sz="2400" b="1" dirty="0"/>
          </a:p>
          <a:p>
            <a:pPr>
              <a:lnSpc>
                <a:spcPct val="150000"/>
              </a:lnSpc>
            </a:pPr>
            <a:r>
              <a:rPr lang="zh-CN" altLang="en-US" sz="2800" b="1" dirty="0"/>
              <a:t>毕业设计文档撰写完成要提交</a:t>
            </a:r>
            <a:r>
              <a:rPr lang="en-US" altLang="zh-CN" sz="2800" b="1" dirty="0"/>
              <a:t>:</a:t>
            </a:r>
            <a:r>
              <a:rPr lang="zh-CN" altLang="en-US" b="1" dirty="0">
                <a:solidFill>
                  <a:srgbClr val="FF0000"/>
                </a:solidFill>
              </a:rPr>
              <a:t>使用图形工具画图的源文件</a:t>
            </a:r>
            <a:endParaRPr lang="en-US" altLang="zh-CN" sz="2800" b="1" dirty="0">
              <a:solidFill>
                <a:srgbClr val="FF0000"/>
              </a:solidFill>
            </a:endParaRPr>
          </a:p>
          <a:p>
            <a:pPr>
              <a:lnSpc>
                <a:spcPct val="150000"/>
              </a:lnSpc>
            </a:pPr>
            <a:r>
              <a:rPr lang="zh-CN" altLang="en-US" sz="2800" b="1" dirty="0"/>
              <a:t>提交</a:t>
            </a:r>
            <a:r>
              <a:rPr lang="zh-CN" altLang="en-US" b="1" dirty="0">
                <a:solidFill>
                  <a:srgbClr val="FF0000"/>
                </a:solidFill>
              </a:rPr>
              <a:t>毕业设计源代码文件</a:t>
            </a:r>
            <a:endParaRPr lang="en-US" altLang="zh-CN" sz="2800" b="1" dirty="0">
              <a:solidFill>
                <a:srgbClr val="FF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03</a:t>
            </a:r>
            <a:r>
              <a:rPr lang="zh-CN" altLang="en-US" sz="2700" b="1" spc="300" dirty="0">
                <a:ln w="3175">
                  <a:noFill/>
                  <a:prstDash val="dash"/>
                </a:ln>
                <a:solidFill>
                  <a:schemeClr val="tx1"/>
                </a:solidFill>
                <a:latin typeface="Arial" panose="020B0604020202020204" pitchFamily="34" charset="0"/>
                <a:ea typeface="微软雅黑" panose="020B0503020204020204" charset="-122"/>
                <a:cs typeface="微软雅黑" panose="020B0503020204020204" charset="-122"/>
              </a:rPr>
              <a:t>、</a:t>
            </a:r>
            <a:r>
              <a:rPr lang="zh-CN" altLang="en-US" sz="2700" b="1" kern="100" dirty="0">
                <a:solidFill>
                  <a:schemeClr val="tx1"/>
                </a:solidFill>
                <a:latin typeface="微软雅黑" panose="020B0503020204020204" charset="-122"/>
                <a:cs typeface="Times New Roman" panose="02020603050405020304" pitchFamily="18" charset="0"/>
                <a:sym typeface="+mn-ea"/>
              </a:rPr>
              <a:t>毕业设计论文撰写方法与要求</a:t>
            </a:r>
            <a:endParaRPr lang="zh-CN" altLang="en-US" sz="2700" b="1" kern="100" dirty="0">
              <a:solidFill>
                <a:schemeClr val="tx1"/>
              </a:solidFill>
              <a:latin typeface="微软雅黑" panose="020B0503020204020204" charset="-122"/>
              <a:cs typeface="Times New Roman" panose="02020603050405020304" pitchFamily="18" charset="0"/>
              <a:sym typeface="+mn-ea"/>
            </a:endParaRPr>
          </a:p>
        </p:txBody>
      </p:sp>
      <p:sp>
        <p:nvSpPr>
          <p:cNvPr id="3" name="文本框 2"/>
          <p:cNvSpPr txBox="1"/>
          <p:nvPr/>
        </p:nvSpPr>
        <p:spPr>
          <a:xfrm>
            <a:off x="438785" y="1384300"/>
            <a:ext cx="8334375" cy="505523"/>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0070C0"/>
                </a:solidFill>
                <a:latin typeface="微软雅黑" panose="020B0503020204020204" charset="-122"/>
                <a:ea typeface="微软雅黑" panose="020B0503020204020204" charset="-122"/>
              </a:rPr>
              <a:t>（七）毕业设计论文撰写要求</a:t>
            </a:r>
            <a:endParaRPr lang="zh-CN" altLang="en-US" sz="2000" dirty="0"/>
          </a:p>
        </p:txBody>
      </p:sp>
      <p:sp>
        <p:nvSpPr>
          <p:cNvPr id="4" name="内容占位符 2"/>
          <p:cNvSpPr txBox="1"/>
          <p:nvPr/>
        </p:nvSpPr>
        <p:spPr>
          <a:xfrm>
            <a:off x="597031" y="2081210"/>
            <a:ext cx="10275101" cy="4038600"/>
          </a:xfrm>
          <a:prstGeom prst="rect">
            <a:avLst/>
          </a:prstGeom>
        </p:spPr>
        <p:txBody>
          <a:bodyPr/>
          <a:lst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a:lnSpc>
                <a:spcPct val="150000"/>
              </a:lnSpc>
            </a:pPr>
            <a:r>
              <a:rPr lang="zh-CN" altLang="en-US" sz="2800" b="1" dirty="0"/>
              <a:t>毕业设计文档</a:t>
            </a:r>
            <a:r>
              <a:rPr lang="zh-CN" altLang="en-US" sz="2800" b="1" dirty="0">
                <a:solidFill>
                  <a:srgbClr val="FF0000"/>
                </a:solidFill>
              </a:rPr>
              <a:t>结构和书写规范要求</a:t>
            </a:r>
            <a:r>
              <a:rPr lang="zh-CN" altLang="en-US" sz="2800" b="1" dirty="0"/>
              <a:t>严格按照模板撰写，模板内容</a:t>
            </a:r>
            <a:r>
              <a:rPr lang="zh-CN" altLang="en-US" sz="2800" b="1" dirty="0">
                <a:solidFill>
                  <a:srgbClr val="FF0000"/>
                </a:solidFill>
              </a:rPr>
              <a:t>仅作为参考，不要完全照搬</a:t>
            </a:r>
            <a:endParaRPr lang="en-US" altLang="zh-CN" sz="2800" b="1" dirty="0">
              <a:solidFill>
                <a:srgbClr val="FF0000"/>
              </a:solidFill>
            </a:endParaRPr>
          </a:p>
          <a:p>
            <a:pPr>
              <a:lnSpc>
                <a:spcPct val="150000"/>
              </a:lnSpc>
            </a:pPr>
            <a:r>
              <a:rPr lang="zh-CN" altLang="en-US" sz="2800" b="1" dirty="0"/>
              <a:t>在撰写毕业设计文档之前</a:t>
            </a:r>
            <a:r>
              <a:rPr lang="zh-CN" altLang="en-US" sz="2800" b="1" dirty="0">
                <a:solidFill>
                  <a:srgbClr val="FF0000"/>
                </a:solidFill>
              </a:rPr>
              <a:t>先仔细阅读模板的书写规范</a:t>
            </a:r>
            <a:r>
              <a:rPr lang="zh-CN" altLang="en-US" sz="2800" b="1" dirty="0"/>
              <a:t>和要求</a:t>
            </a:r>
            <a:endParaRPr lang="en-US" altLang="zh-CN" sz="2800" b="1" dirty="0"/>
          </a:p>
          <a:p>
            <a:pPr>
              <a:lnSpc>
                <a:spcPct val="150000"/>
              </a:lnSpc>
            </a:pPr>
            <a:r>
              <a:rPr lang="zh-CN" altLang="en-US" sz="2800" b="1" dirty="0"/>
              <a:t>具体要求</a:t>
            </a:r>
            <a:r>
              <a:rPr lang="zh-CN" altLang="en-US" sz="2800" b="1" dirty="0">
                <a:solidFill>
                  <a:srgbClr val="FF0000"/>
                </a:solidFill>
              </a:rPr>
              <a:t>阅读</a:t>
            </a:r>
            <a:r>
              <a:rPr lang="zh-CN" altLang="en-US" sz="2800" b="1" dirty="0"/>
              <a:t>毕业设计文档模板</a:t>
            </a:r>
            <a:endParaRPr lang="en-US" altLang="zh-CN" sz="2800" b="1" dirty="0"/>
          </a:p>
          <a:p>
            <a:pPr>
              <a:lnSpc>
                <a:spcPct val="150000"/>
              </a:lnSpc>
            </a:pPr>
            <a:endParaRPr lang="en-US" altLang="zh-CN" sz="2800" b="1"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校训"/>
          <p:cNvPicPr>
            <a:picLocks noChangeAspect="1"/>
          </p:cNvPicPr>
          <p:nvPr/>
        </p:nvPicPr>
        <p:blipFill>
          <a:blip r:embed="rId1"/>
          <a:stretch>
            <a:fillRect/>
          </a:stretch>
        </p:blipFill>
        <p:spPr>
          <a:xfrm>
            <a:off x="9098420" y="320358"/>
            <a:ext cx="2956560" cy="400050"/>
          </a:xfrm>
          <a:prstGeom prst="rect">
            <a:avLst/>
          </a:prstGeom>
        </p:spPr>
      </p:pic>
      <p:sp>
        <p:nvSpPr>
          <p:cNvPr id="5" name="Text Placeholder 4"/>
          <p:cNvSpPr txBox="1"/>
          <p:nvPr/>
        </p:nvSpPr>
        <p:spPr>
          <a:xfrm>
            <a:off x="260508" y="334169"/>
            <a:ext cx="2422208" cy="372428"/>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sz="3000" b="1" dirty="0">
                <a:solidFill>
                  <a:srgbClr val="C00000"/>
                </a:solidFill>
                <a:latin typeface="微软雅黑" panose="020B0503020204020204" charset="-122"/>
                <a:ea typeface="微软雅黑" panose="020B0503020204020204" charset="-122"/>
              </a:rPr>
              <a:t>目录</a:t>
            </a:r>
            <a:r>
              <a:rPr lang="en-US" altLang="zh-CN" sz="3000" b="1" dirty="0">
                <a:solidFill>
                  <a:srgbClr val="C00000"/>
                </a:solidFill>
                <a:latin typeface="微软雅黑" panose="020B0503020204020204" charset="-122"/>
                <a:ea typeface="微软雅黑" panose="020B0503020204020204" charset="-122"/>
              </a:rPr>
              <a:t>/</a:t>
            </a:r>
            <a:r>
              <a:rPr lang="en-US" altLang="zh-CN" sz="1800" b="1" dirty="0">
                <a:solidFill>
                  <a:srgbClr val="C00000"/>
                </a:solidFill>
                <a:latin typeface="微软雅黑" panose="020B0503020204020204" charset="-122"/>
                <a:ea typeface="微软雅黑" panose="020B0503020204020204" charset="-122"/>
              </a:rPr>
              <a:t>Contents</a:t>
            </a:r>
            <a:endParaRPr lang="en-US" altLang="zh-CN" sz="1800" b="1" dirty="0">
              <a:solidFill>
                <a:srgbClr val="C00000"/>
              </a:solidFill>
              <a:latin typeface="微软雅黑" panose="020B0503020204020204" charset="-122"/>
              <a:ea typeface="微软雅黑" panose="020B0503020204020204" charset="-122"/>
            </a:endParaRPr>
          </a:p>
        </p:txBody>
      </p:sp>
      <p:cxnSp>
        <p:nvCxnSpPr>
          <p:cNvPr id="6" name="直接连接符 5"/>
          <p:cNvCxnSpPr/>
          <p:nvPr/>
        </p:nvCxnSpPr>
        <p:spPr>
          <a:xfrm>
            <a:off x="125835" y="820722"/>
            <a:ext cx="11929145" cy="0"/>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pic>
        <p:nvPicPr>
          <p:cNvPr id="9" name="图片 8" descr="ycu"/>
          <p:cNvPicPr>
            <a:picLocks noChangeAspect="1"/>
          </p:cNvPicPr>
          <p:nvPr/>
        </p:nvPicPr>
        <p:blipFill>
          <a:blip r:embed="rId2"/>
          <a:stretch>
            <a:fillRect/>
          </a:stretch>
        </p:blipFill>
        <p:spPr>
          <a:xfrm>
            <a:off x="0" y="4552950"/>
            <a:ext cx="2943225" cy="2305050"/>
          </a:xfrm>
          <a:prstGeom prst="rect">
            <a:avLst/>
          </a:prstGeom>
          <a:noFill/>
          <a:ln w="9525">
            <a:noFill/>
          </a:ln>
        </p:spPr>
      </p:pic>
      <p:grpSp>
        <p:nvGrpSpPr>
          <p:cNvPr id="10" name="组合 40"/>
          <p:cNvGrpSpPr/>
          <p:nvPr/>
        </p:nvGrpSpPr>
        <p:grpSpPr bwMode="auto">
          <a:xfrm>
            <a:off x="5417344" y="4607719"/>
            <a:ext cx="506730" cy="431006"/>
            <a:chOff x="3050167" y="1844084"/>
            <a:chExt cx="834144" cy="678092"/>
          </a:xfrm>
          <a:gradFill>
            <a:gsLst>
              <a:gs pos="0">
                <a:srgbClr val="FD4343"/>
              </a:gs>
              <a:gs pos="0">
                <a:srgbClr val="E30000"/>
              </a:gs>
              <a:gs pos="100000">
                <a:srgbClr val="C00000"/>
              </a:gs>
            </a:gsLst>
            <a:lin ang="5400000" scaled="0"/>
          </a:gradFill>
        </p:grpSpPr>
        <p:sp>
          <p:nvSpPr>
            <p:cNvPr id="11" name="任意多边形 17"/>
            <p:cNvSpPr/>
            <p:nvPr/>
          </p:nvSpPr>
          <p:spPr>
            <a:xfrm rot="8100000" flipV="1">
              <a:off x="3050167" y="1844084"/>
              <a:ext cx="834144" cy="678092"/>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gr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825"/>
            </a:p>
          </p:txBody>
        </p:sp>
        <p:sp>
          <p:nvSpPr>
            <p:cNvPr id="12" name="文本框 42"/>
            <p:cNvSpPr txBox="1">
              <a:spLocks noChangeArrowheads="1"/>
            </p:cNvSpPr>
            <p:nvPr/>
          </p:nvSpPr>
          <p:spPr bwMode="auto">
            <a:xfrm>
              <a:off x="3123828" y="1901391"/>
              <a:ext cx="726001" cy="579438"/>
            </a:xfrm>
            <a:prstGeom prst="rect">
              <a:avLst/>
            </a:prstGeom>
            <a:noFill/>
            <a:ln w="9525">
              <a:noFill/>
              <a:miter lim="800000"/>
            </a:ln>
          </p:spPr>
          <p:txBody>
            <a:bodyPr>
              <a:spAutoFit/>
            </a:bodyPr>
            <a:lstStyle/>
            <a:p>
              <a:r>
                <a:rPr lang="en-US" altLang="zh-CN" sz="1800">
                  <a:solidFill>
                    <a:schemeClr val="bg1"/>
                  </a:solidFill>
                  <a:latin typeface="Impact" panose="020B0806030902050204" pitchFamily="34" charset="0"/>
                </a:rPr>
                <a:t>04</a:t>
              </a:r>
              <a:endParaRPr lang="zh-CN" altLang="en-US" sz="1800">
                <a:solidFill>
                  <a:schemeClr val="bg1"/>
                </a:solidFill>
                <a:latin typeface="Impact" panose="020B0806030902050204" pitchFamily="34" charset="0"/>
              </a:endParaRPr>
            </a:p>
          </p:txBody>
        </p:sp>
      </p:grpSp>
      <p:grpSp>
        <p:nvGrpSpPr>
          <p:cNvPr id="13" name="组合 43"/>
          <p:cNvGrpSpPr/>
          <p:nvPr/>
        </p:nvGrpSpPr>
        <p:grpSpPr bwMode="auto">
          <a:xfrm>
            <a:off x="5417344" y="3778091"/>
            <a:ext cx="506730" cy="441484"/>
            <a:chOff x="3050167" y="1844084"/>
            <a:chExt cx="834142" cy="678092"/>
          </a:xfrm>
          <a:solidFill>
            <a:schemeClr val="bg1">
              <a:lumMod val="50000"/>
            </a:schemeClr>
          </a:solidFill>
        </p:grpSpPr>
        <p:sp>
          <p:nvSpPr>
            <p:cNvPr id="14" name="任意多边形 20"/>
            <p:cNvSpPr/>
            <p:nvPr/>
          </p:nvSpPr>
          <p:spPr>
            <a:xfrm rot="8100000" flipV="1">
              <a:off x="3050167" y="1844084"/>
              <a:ext cx="834142" cy="678092"/>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gr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825"/>
            </a:p>
          </p:txBody>
        </p:sp>
        <p:sp>
          <p:nvSpPr>
            <p:cNvPr id="15" name="文本框 45"/>
            <p:cNvSpPr txBox="1">
              <a:spLocks noChangeArrowheads="1"/>
            </p:cNvSpPr>
            <p:nvPr/>
          </p:nvSpPr>
          <p:spPr bwMode="auto">
            <a:xfrm>
              <a:off x="3123828" y="1885458"/>
              <a:ext cx="726001" cy="565686"/>
            </a:xfrm>
            <a:prstGeom prst="rect">
              <a:avLst/>
            </a:prstGeom>
            <a:grpFill/>
            <a:ln w="9525">
              <a:noFill/>
              <a:miter lim="800000"/>
            </a:ln>
          </p:spPr>
          <p:txBody>
            <a:bodyPr>
              <a:spAutoFit/>
            </a:bodyPr>
            <a:lstStyle/>
            <a:p>
              <a:r>
                <a:rPr lang="en-US" altLang="zh-CN" sz="1800" dirty="0">
                  <a:solidFill>
                    <a:schemeClr val="bg1"/>
                  </a:solidFill>
                  <a:latin typeface="Impact" panose="020B0806030902050204" pitchFamily="34" charset="0"/>
                </a:rPr>
                <a:t>03</a:t>
              </a:r>
              <a:endParaRPr lang="zh-CN" altLang="en-US" sz="1800" dirty="0">
                <a:solidFill>
                  <a:schemeClr val="bg1"/>
                </a:solidFill>
                <a:latin typeface="Impact" panose="020B0806030902050204" pitchFamily="34" charset="0"/>
              </a:endParaRPr>
            </a:p>
          </p:txBody>
        </p:sp>
      </p:grpSp>
      <p:grpSp>
        <p:nvGrpSpPr>
          <p:cNvPr id="16" name="组合 46"/>
          <p:cNvGrpSpPr/>
          <p:nvPr/>
        </p:nvGrpSpPr>
        <p:grpSpPr bwMode="auto">
          <a:xfrm>
            <a:off x="5417344" y="2986087"/>
            <a:ext cx="506730" cy="403860"/>
            <a:chOff x="3050349" y="1844085"/>
            <a:chExt cx="833779" cy="678092"/>
          </a:xfrm>
          <a:solidFill>
            <a:schemeClr val="bg1">
              <a:lumMod val="50000"/>
            </a:schemeClr>
          </a:solidFill>
        </p:grpSpPr>
        <p:sp>
          <p:nvSpPr>
            <p:cNvPr id="17" name="任意多边形 29"/>
            <p:cNvSpPr/>
            <p:nvPr/>
          </p:nvSpPr>
          <p:spPr>
            <a:xfrm rot="8100000" flipV="1">
              <a:off x="3050349" y="1844085"/>
              <a:ext cx="833779" cy="678092"/>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gr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825"/>
            </a:p>
          </p:txBody>
        </p:sp>
        <p:sp>
          <p:nvSpPr>
            <p:cNvPr id="18" name="文本框 48"/>
            <p:cNvSpPr txBox="1">
              <a:spLocks noChangeArrowheads="1"/>
            </p:cNvSpPr>
            <p:nvPr/>
          </p:nvSpPr>
          <p:spPr bwMode="auto">
            <a:xfrm>
              <a:off x="3123827" y="1885460"/>
              <a:ext cx="726001" cy="618386"/>
            </a:xfrm>
            <a:prstGeom prst="rect">
              <a:avLst/>
            </a:prstGeom>
            <a:grpFill/>
            <a:ln w="9525">
              <a:noFill/>
              <a:miter lim="800000"/>
            </a:ln>
          </p:spPr>
          <p:txBody>
            <a:bodyPr>
              <a:spAutoFit/>
            </a:bodyPr>
            <a:lstStyle/>
            <a:p>
              <a:r>
                <a:rPr lang="en-US" altLang="zh-CN" sz="1800" dirty="0">
                  <a:solidFill>
                    <a:schemeClr val="bg1"/>
                  </a:solidFill>
                  <a:latin typeface="Impact" panose="020B0806030902050204" pitchFamily="34" charset="0"/>
                </a:rPr>
                <a:t>02</a:t>
              </a:r>
              <a:endParaRPr lang="zh-CN" altLang="en-US" sz="1800" dirty="0">
                <a:solidFill>
                  <a:schemeClr val="bg1"/>
                </a:solidFill>
                <a:latin typeface="Impact" panose="020B0806030902050204" pitchFamily="34" charset="0"/>
              </a:endParaRPr>
            </a:p>
          </p:txBody>
        </p:sp>
      </p:grpSp>
      <p:grpSp>
        <p:nvGrpSpPr>
          <p:cNvPr id="19" name="组合 18"/>
          <p:cNvGrpSpPr/>
          <p:nvPr/>
        </p:nvGrpSpPr>
        <p:grpSpPr>
          <a:xfrm>
            <a:off x="6096000" y="2943225"/>
            <a:ext cx="3843338" cy="477679"/>
            <a:chOff x="6315199" y="2410178"/>
            <a:chExt cx="3744416" cy="511504"/>
          </a:xfrm>
          <a:solidFill>
            <a:schemeClr val="bg1">
              <a:lumMod val="50000"/>
            </a:schemeClr>
          </a:solidFill>
        </p:grpSpPr>
        <p:sp>
          <p:nvSpPr>
            <p:cNvPr id="20" name="圆角矩形 35"/>
            <p:cNvSpPr/>
            <p:nvPr/>
          </p:nvSpPr>
          <p:spPr>
            <a:xfrm>
              <a:off x="6315199" y="2410178"/>
              <a:ext cx="3744416" cy="511504"/>
            </a:xfrm>
            <a:prstGeom prst="roundRect">
              <a:avLst/>
            </a:prstGeom>
            <a:grpFill/>
            <a:ln>
              <a:solidFill>
                <a:srgbClr val="C000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70" tIns="45735" rIns="91470" bIns="45735" anchor="ctr"/>
            <a:lstStyle/>
            <a:p>
              <a:pPr algn="ctr">
                <a:defRPr/>
              </a:pPr>
              <a:endParaRPr lang="zh-CN" altLang="en-US" sz="2025" dirty="0">
                <a:solidFill>
                  <a:schemeClr val="bg1"/>
                </a:solidFill>
                <a:latin typeface="+mj-lt"/>
                <a:ea typeface="Arial Unicode MS" panose="020B0604020202020204" charset="-122"/>
                <a:cs typeface="Arial Unicode MS" panose="020B0604020202020204" charset="-122"/>
              </a:endParaRPr>
            </a:p>
          </p:txBody>
        </p:sp>
        <p:sp>
          <p:nvSpPr>
            <p:cNvPr id="21" name="矩形 20"/>
            <p:cNvSpPr/>
            <p:nvPr/>
          </p:nvSpPr>
          <p:spPr>
            <a:xfrm>
              <a:off x="6452744" y="2450573"/>
              <a:ext cx="2978431" cy="394380"/>
            </a:xfrm>
            <a:prstGeom prst="rect">
              <a:avLst/>
            </a:prstGeom>
            <a:grpFill/>
            <a:ln>
              <a:noFill/>
            </a:ln>
          </p:spPr>
          <p:txBody>
            <a:bodyPr wrap="square" lIns="91470" tIns="45735" rIns="91470" bIns="45735">
              <a:spAutoFit/>
            </a:bodyPr>
            <a:lstStyle/>
            <a:p>
              <a:pPr algn="l">
                <a:defRPr/>
              </a:pPr>
              <a:r>
                <a:rPr lang="zh-CN" altLang="en-US" sz="1800" b="1" kern="100" dirty="0">
                  <a:solidFill>
                    <a:schemeClr val="bg1"/>
                  </a:solidFill>
                  <a:latin typeface="微软雅黑" panose="020B0503020204020204" charset="-122"/>
                  <a:ea typeface="微软雅黑" panose="020B0503020204020204" charset="-122"/>
                  <a:cs typeface="Times New Roman" panose="02020603050405020304" pitchFamily="18" charset="0"/>
                </a:rPr>
                <a:t>毕业设计步骤与方法目标</a:t>
              </a:r>
              <a:endParaRPr lang="zh-CN" altLang="en-US" sz="1800" b="1" kern="100" dirty="0">
                <a:solidFill>
                  <a:schemeClr val="bg1"/>
                </a:solidFill>
                <a:latin typeface="微软雅黑" panose="020B0503020204020204" charset="-122"/>
                <a:ea typeface="微软雅黑" panose="020B0503020204020204" charset="-122"/>
                <a:cs typeface="Times New Roman" panose="02020603050405020304" pitchFamily="18" charset="0"/>
              </a:endParaRPr>
            </a:p>
          </p:txBody>
        </p:sp>
      </p:grpSp>
      <p:grpSp>
        <p:nvGrpSpPr>
          <p:cNvPr id="22" name="组合 21"/>
          <p:cNvGrpSpPr/>
          <p:nvPr/>
        </p:nvGrpSpPr>
        <p:grpSpPr>
          <a:xfrm>
            <a:off x="6096678" y="3748087"/>
            <a:ext cx="3876953" cy="477679"/>
            <a:chOff x="6339097" y="3296031"/>
            <a:chExt cx="3766169" cy="511504"/>
          </a:xfrm>
          <a:solidFill>
            <a:schemeClr val="bg1">
              <a:lumMod val="50000"/>
            </a:schemeClr>
          </a:solidFill>
        </p:grpSpPr>
        <p:sp>
          <p:nvSpPr>
            <p:cNvPr id="23" name="圆角矩形 38"/>
            <p:cNvSpPr/>
            <p:nvPr/>
          </p:nvSpPr>
          <p:spPr>
            <a:xfrm>
              <a:off x="6339097" y="3296031"/>
              <a:ext cx="3744416" cy="511504"/>
            </a:xfrm>
            <a:prstGeom prst="roundRect">
              <a:avLst/>
            </a:prstGeom>
            <a:grpFill/>
            <a:ln>
              <a:solidFill>
                <a:srgbClr val="C000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70" tIns="45735" rIns="91470" bIns="45735" anchor="ctr"/>
            <a:lstStyle/>
            <a:p>
              <a:pPr algn="ctr">
                <a:defRPr/>
              </a:pPr>
              <a:endParaRPr lang="zh-CN" altLang="en-US" sz="2025" dirty="0">
                <a:solidFill>
                  <a:schemeClr val="bg1"/>
                </a:solidFill>
                <a:latin typeface="+mj-lt"/>
                <a:ea typeface="Arial Unicode MS" panose="020B0604020202020204" charset="-122"/>
                <a:cs typeface="Arial Unicode MS" panose="020B0604020202020204" charset="-122"/>
              </a:endParaRPr>
            </a:p>
          </p:txBody>
        </p:sp>
        <p:sp>
          <p:nvSpPr>
            <p:cNvPr id="24" name="矩形 23"/>
            <p:cNvSpPr/>
            <p:nvPr/>
          </p:nvSpPr>
          <p:spPr>
            <a:xfrm>
              <a:off x="6485700" y="3336612"/>
              <a:ext cx="3619566" cy="394380"/>
            </a:xfrm>
            <a:prstGeom prst="rect">
              <a:avLst/>
            </a:prstGeom>
            <a:grpFill/>
            <a:ln>
              <a:noFill/>
            </a:ln>
          </p:spPr>
          <p:txBody>
            <a:bodyPr wrap="square" lIns="91470" tIns="45735" rIns="91470" bIns="45735">
              <a:spAutoFit/>
            </a:bodyPr>
            <a:lstStyle/>
            <a:p>
              <a:pPr algn="l">
                <a:defRPr/>
              </a:pPr>
              <a:endParaRPr lang="zh-CN" altLang="en-US" sz="1800" b="1" kern="100" dirty="0">
                <a:solidFill>
                  <a:schemeClr val="bg1"/>
                </a:solidFill>
                <a:latin typeface="微软雅黑" panose="020B0503020204020204" charset="-122"/>
                <a:ea typeface="微软雅黑" panose="020B0503020204020204" charset="-122"/>
                <a:cs typeface="Times New Roman" panose="02020603050405020304" pitchFamily="18" charset="0"/>
              </a:endParaRPr>
            </a:p>
          </p:txBody>
        </p:sp>
      </p:grpSp>
      <p:grpSp>
        <p:nvGrpSpPr>
          <p:cNvPr id="25" name="组合 24"/>
          <p:cNvGrpSpPr/>
          <p:nvPr/>
        </p:nvGrpSpPr>
        <p:grpSpPr>
          <a:xfrm>
            <a:off x="6096000" y="3802775"/>
            <a:ext cx="3843338" cy="1227853"/>
            <a:chOff x="6339097" y="3377608"/>
            <a:chExt cx="3744416" cy="1314799"/>
          </a:xfrm>
          <a:gradFill>
            <a:gsLst>
              <a:gs pos="0">
                <a:srgbClr val="E30000"/>
              </a:gs>
              <a:gs pos="100000">
                <a:srgbClr val="760303"/>
              </a:gs>
            </a:gsLst>
            <a:lin ang="5400000" scaled="0"/>
          </a:gradFill>
        </p:grpSpPr>
        <p:sp>
          <p:nvSpPr>
            <p:cNvPr id="26" name="圆角矩形 41"/>
            <p:cNvSpPr/>
            <p:nvPr/>
          </p:nvSpPr>
          <p:spPr>
            <a:xfrm>
              <a:off x="6339097" y="4180903"/>
              <a:ext cx="3744416" cy="511504"/>
            </a:xfrm>
            <a:prstGeom prst="roundRect">
              <a:avLst/>
            </a:prstGeom>
            <a:noFill/>
            <a:ln>
              <a:solidFill>
                <a:srgbClr val="C000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70" tIns="45735" rIns="91470" bIns="45735" anchor="ctr"/>
            <a:lstStyle/>
            <a:p>
              <a:pPr algn="ctr">
                <a:defRPr/>
              </a:pPr>
              <a:endParaRPr lang="zh-CN" altLang="en-US" sz="2025" dirty="0">
                <a:latin typeface="+mj-lt"/>
                <a:ea typeface="Arial Unicode MS" panose="020B0604020202020204" charset="-122"/>
                <a:cs typeface="Arial Unicode MS" panose="020B0604020202020204" charset="-122"/>
              </a:endParaRPr>
            </a:p>
          </p:txBody>
        </p:sp>
        <p:sp>
          <p:nvSpPr>
            <p:cNvPr id="27" name="矩形 26"/>
            <p:cNvSpPr/>
            <p:nvPr/>
          </p:nvSpPr>
          <p:spPr>
            <a:xfrm>
              <a:off x="6451252" y="3377608"/>
              <a:ext cx="3554179" cy="394380"/>
            </a:xfrm>
            <a:prstGeom prst="rect">
              <a:avLst/>
            </a:prstGeom>
            <a:noFill/>
          </p:spPr>
          <p:txBody>
            <a:bodyPr wrap="square" lIns="91470" tIns="45735" rIns="91470" bIns="45735">
              <a:spAutoFit/>
            </a:bodyPr>
            <a:lstStyle/>
            <a:p>
              <a:pPr algn="l">
                <a:defRPr/>
              </a:pPr>
              <a:r>
                <a:rPr lang="zh-CN" altLang="en-US" sz="1800" b="1" kern="100" dirty="0">
                  <a:solidFill>
                    <a:schemeClr val="bg1"/>
                  </a:solidFill>
                  <a:latin typeface="微软雅黑" panose="020B0503020204020204" charset="-122"/>
                  <a:ea typeface="微软雅黑" panose="020B0503020204020204" charset="-122"/>
                  <a:cs typeface="Times New Roman" panose="02020603050405020304" pitchFamily="18" charset="0"/>
                </a:rPr>
                <a:t>毕业设计论文撰写方法与要求</a:t>
              </a:r>
              <a:endParaRPr lang="zh-CN" altLang="en-US" sz="1800" b="1" kern="100" dirty="0">
                <a:solidFill>
                  <a:schemeClr val="bg1"/>
                </a:solidFill>
                <a:latin typeface="微软雅黑" panose="020B0503020204020204" charset="-122"/>
                <a:ea typeface="微软雅黑" panose="020B0503020204020204" charset="-122"/>
                <a:cs typeface="Times New Roman" panose="02020603050405020304" pitchFamily="18" charset="0"/>
              </a:endParaRPr>
            </a:p>
          </p:txBody>
        </p:sp>
      </p:grpSp>
      <p:grpSp>
        <p:nvGrpSpPr>
          <p:cNvPr id="28" name="组合 9"/>
          <p:cNvGrpSpPr/>
          <p:nvPr/>
        </p:nvGrpSpPr>
        <p:grpSpPr bwMode="auto">
          <a:xfrm>
            <a:off x="5386388" y="2189797"/>
            <a:ext cx="559118" cy="408146"/>
            <a:chOff x="3050349" y="1844085"/>
            <a:chExt cx="833779" cy="678092"/>
          </a:xfrm>
          <a:solidFill>
            <a:schemeClr val="bg1">
              <a:lumMod val="50000"/>
            </a:schemeClr>
          </a:solidFill>
        </p:grpSpPr>
        <p:sp>
          <p:nvSpPr>
            <p:cNvPr id="29" name="任意多边形 105"/>
            <p:cNvSpPr/>
            <p:nvPr/>
          </p:nvSpPr>
          <p:spPr>
            <a:xfrm rot="8100000" flipV="1">
              <a:off x="3050349" y="1844085"/>
              <a:ext cx="833779" cy="678092"/>
            </a:xfrm>
            <a:custGeom>
              <a:avLst/>
              <a:gdLst>
                <a:gd name="connsiteX0" fmla="*/ 122096 w 833718"/>
                <a:gd name="connsiteY0" fmla="*/ 556342 h 678436"/>
                <a:gd name="connsiteX1" fmla="*/ 68679 w 833718"/>
                <a:gd name="connsiteY1" fmla="*/ 32208 h 678436"/>
                <a:gd name="connsiteX2" fmla="*/ 94988 w 833718"/>
                <a:gd name="connsiteY2" fmla="*/ 0 h 678436"/>
                <a:gd name="connsiteX3" fmla="*/ 738731 w 833718"/>
                <a:gd name="connsiteY3" fmla="*/ 0 h 678436"/>
                <a:gd name="connsiteX4" fmla="*/ 765040 w 833718"/>
                <a:gd name="connsiteY4" fmla="*/ 32208 h 678436"/>
                <a:gd name="connsiteX5" fmla="*/ 711623 w 833718"/>
                <a:gd name="connsiteY5" fmla="*/ 556342 h 678436"/>
                <a:gd name="connsiteX6" fmla="*/ 122096 w 833718"/>
                <a:gd name="connsiteY6" fmla="*/ 556342 h 67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718" h="678436">
                  <a:moveTo>
                    <a:pt x="122096" y="556342"/>
                  </a:moveTo>
                  <a:cubicBezTo>
                    <a:pt x="-20349" y="413897"/>
                    <a:pt x="-38155" y="194012"/>
                    <a:pt x="68679" y="32208"/>
                  </a:cubicBezTo>
                  <a:lnTo>
                    <a:pt x="94988" y="0"/>
                  </a:lnTo>
                  <a:lnTo>
                    <a:pt x="738731" y="0"/>
                  </a:lnTo>
                  <a:lnTo>
                    <a:pt x="765040" y="32208"/>
                  </a:lnTo>
                  <a:cubicBezTo>
                    <a:pt x="871873" y="194012"/>
                    <a:pt x="854068" y="413897"/>
                    <a:pt x="711623" y="556342"/>
                  </a:cubicBezTo>
                  <a:cubicBezTo>
                    <a:pt x="548830" y="719135"/>
                    <a:pt x="284889" y="719135"/>
                    <a:pt x="122096" y="556342"/>
                  </a:cubicBezTo>
                  <a:close/>
                </a:path>
              </a:pathLst>
            </a:custGeom>
            <a:grp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825"/>
            </a:p>
          </p:txBody>
        </p:sp>
        <p:sp>
          <p:nvSpPr>
            <p:cNvPr id="30" name="文本框 6"/>
            <p:cNvSpPr txBox="1">
              <a:spLocks noChangeArrowheads="1"/>
            </p:cNvSpPr>
            <p:nvPr/>
          </p:nvSpPr>
          <p:spPr bwMode="auto">
            <a:xfrm>
              <a:off x="3146443" y="1890742"/>
              <a:ext cx="611465" cy="611892"/>
            </a:xfrm>
            <a:prstGeom prst="rect">
              <a:avLst/>
            </a:prstGeom>
            <a:grpFill/>
            <a:ln w="9525">
              <a:noFill/>
              <a:miter lim="800000"/>
            </a:ln>
          </p:spPr>
          <p:txBody>
            <a:bodyPr>
              <a:spAutoFit/>
            </a:bodyPr>
            <a:lstStyle/>
            <a:p>
              <a:r>
                <a:rPr lang="en-US" altLang="zh-CN" sz="1800" dirty="0">
                  <a:solidFill>
                    <a:schemeClr val="bg1"/>
                  </a:solidFill>
                  <a:latin typeface="Impact" panose="020B0806030902050204" pitchFamily="34" charset="0"/>
                </a:rPr>
                <a:t>01</a:t>
              </a:r>
              <a:endParaRPr lang="zh-CN" altLang="en-US" sz="1800" dirty="0">
                <a:solidFill>
                  <a:schemeClr val="bg1"/>
                </a:solidFill>
                <a:latin typeface="Impact" panose="020B0806030902050204" pitchFamily="34" charset="0"/>
              </a:endParaRPr>
            </a:p>
          </p:txBody>
        </p:sp>
      </p:grpSp>
      <p:grpSp>
        <p:nvGrpSpPr>
          <p:cNvPr id="31" name="组合 30"/>
          <p:cNvGrpSpPr/>
          <p:nvPr/>
        </p:nvGrpSpPr>
        <p:grpSpPr>
          <a:xfrm>
            <a:off x="6065044" y="2138362"/>
            <a:ext cx="3843338" cy="477679"/>
            <a:chOff x="6339097" y="1573726"/>
            <a:chExt cx="3744416" cy="511504"/>
          </a:xfrm>
          <a:solidFill>
            <a:schemeClr val="bg1">
              <a:lumMod val="50000"/>
            </a:schemeClr>
          </a:solidFill>
        </p:grpSpPr>
        <p:sp>
          <p:nvSpPr>
            <p:cNvPr id="32" name="圆角矩形 108"/>
            <p:cNvSpPr/>
            <p:nvPr/>
          </p:nvSpPr>
          <p:spPr>
            <a:xfrm>
              <a:off x="6339097" y="1573726"/>
              <a:ext cx="3744416" cy="511504"/>
            </a:xfrm>
            <a:prstGeom prst="roundRect">
              <a:avLst/>
            </a:prstGeom>
            <a:grpFill/>
            <a:ln>
              <a:solidFill>
                <a:srgbClr val="C000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70" tIns="45735" rIns="91470" bIns="45735" anchor="ctr"/>
            <a:lstStyle/>
            <a:p>
              <a:pPr algn="ctr">
                <a:defRPr/>
              </a:pPr>
              <a:endParaRPr lang="zh-CN" altLang="en-US" sz="2025" dirty="0">
                <a:solidFill>
                  <a:schemeClr val="bg1"/>
                </a:solidFill>
                <a:latin typeface="+mj-lt"/>
                <a:ea typeface="Arial Unicode MS" panose="020B0604020202020204" charset="-122"/>
                <a:cs typeface="Arial Unicode MS" panose="020B0604020202020204" charset="-122"/>
              </a:endParaRPr>
            </a:p>
          </p:txBody>
        </p:sp>
        <p:sp>
          <p:nvSpPr>
            <p:cNvPr id="33" name="矩形 32"/>
            <p:cNvSpPr/>
            <p:nvPr/>
          </p:nvSpPr>
          <p:spPr>
            <a:xfrm>
              <a:off x="6481411" y="1614121"/>
              <a:ext cx="3601902" cy="394380"/>
            </a:xfrm>
            <a:prstGeom prst="rect">
              <a:avLst/>
            </a:prstGeom>
            <a:grpFill/>
            <a:ln>
              <a:noFill/>
            </a:ln>
          </p:spPr>
          <p:txBody>
            <a:bodyPr wrap="square" lIns="91470" tIns="45735" rIns="91470" bIns="45735">
              <a:spAutoFit/>
            </a:bodyPr>
            <a:lstStyle/>
            <a:p>
              <a:pPr algn="l">
                <a:buClrTx/>
                <a:buSzTx/>
                <a:buFontTx/>
                <a:defRPr/>
              </a:pPr>
              <a:r>
                <a:rPr lang="zh-CN" altLang="en-US" sz="1800" b="1" kern="100" dirty="0">
                  <a:solidFill>
                    <a:schemeClr val="bg1"/>
                  </a:solidFill>
                  <a:latin typeface="微软雅黑" panose="020B0503020204020204" charset="-122"/>
                  <a:ea typeface="微软雅黑" panose="020B0503020204020204" charset="-122"/>
                  <a:cs typeface="Times New Roman" panose="02020603050405020304" pitchFamily="18" charset="0"/>
                  <a:sym typeface="+mn-ea"/>
                </a:rPr>
                <a:t>毕业设计的目的与要求</a:t>
              </a:r>
              <a:endParaRPr lang="zh-CN" altLang="en-US" sz="1800" b="1" kern="100" dirty="0">
                <a:solidFill>
                  <a:schemeClr val="bg1"/>
                </a:solidFill>
                <a:latin typeface="微软雅黑" panose="020B0503020204020204" charset="-122"/>
                <a:ea typeface="微软雅黑" panose="020B0503020204020204" charset="-122"/>
                <a:cs typeface="Times New Roman" panose="02020603050405020304" pitchFamily="18" charset="0"/>
              </a:endParaRPr>
            </a:p>
          </p:txBody>
        </p:sp>
      </p:grpSp>
      <p:cxnSp>
        <p:nvCxnSpPr>
          <p:cNvPr id="34" name="形状 10"/>
          <p:cNvCxnSpPr/>
          <p:nvPr/>
        </p:nvCxnSpPr>
        <p:spPr>
          <a:xfrm rot="10800000" flipH="1">
            <a:off x="2428524" y="3320304"/>
            <a:ext cx="1957718" cy="9525"/>
          </a:xfrm>
          <a:prstGeom prst="bentConnector5">
            <a:avLst>
              <a:gd name="adj1" fmla="val -8758"/>
              <a:gd name="adj2" fmla="val -10160767"/>
              <a:gd name="adj3" fmla="val 108758"/>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a:off x="2400808" y="3646277"/>
            <a:ext cx="1880420" cy="530942"/>
          </a:xfrm>
          <a:prstGeom prst="rect">
            <a:avLst/>
          </a:prstGeom>
          <a:gradFill>
            <a:gsLst>
              <a:gs pos="0">
                <a:srgbClr val="E30000"/>
              </a:gs>
              <a:gs pos="100000">
                <a:srgbClr val="760303"/>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00"/>
          </a:p>
        </p:txBody>
      </p:sp>
      <p:pic>
        <p:nvPicPr>
          <p:cNvPr id="36" name="Picture 1" descr="G:\PPT制作素材\学校照片\IMG_0516.JPG"/>
          <p:cNvPicPr>
            <a:picLocks noChangeAspect="1" noChangeArrowheads="1"/>
          </p:cNvPicPr>
          <p:nvPr/>
        </p:nvPicPr>
        <p:blipFill>
          <a:blip r:embed="rId3"/>
          <a:srcRect/>
          <a:stretch>
            <a:fillRect/>
          </a:stretch>
        </p:blipFill>
        <p:spPr bwMode="auto">
          <a:xfrm>
            <a:off x="2520023" y="2735412"/>
            <a:ext cx="1993490" cy="1330032"/>
          </a:xfrm>
          <a:prstGeom prst="rect">
            <a:avLst/>
          </a:prstGeom>
          <a:noFill/>
        </p:spPr>
      </p:pic>
      <p:cxnSp>
        <p:nvCxnSpPr>
          <p:cNvPr id="37" name="直接连接符 36"/>
          <p:cNvCxnSpPr/>
          <p:nvPr/>
        </p:nvCxnSpPr>
        <p:spPr>
          <a:xfrm flipV="1">
            <a:off x="4974431" y="2175986"/>
            <a:ext cx="1429" cy="2782729"/>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38" name="矩形 37"/>
          <p:cNvSpPr/>
          <p:nvPr/>
        </p:nvSpPr>
        <p:spPr>
          <a:xfrm>
            <a:off x="6237178" y="4607638"/>
            <a:ext cx="3217215" cy="369362"/>
          </a:xfrm>
          <a:prstGeom prst="rect">
            <a:avLst/>
          </a:prstGeom>
          <a:noFill/>
          <a:ln>
            <a:noFill/>
          </a:ln>
        </p:spPr>
        <p:txBody>
          <a:bodyPr wrap="square" lIns="91470" tIns="45735" rIns="91470" bIns="45735">
            <a:spAutoFit/>
          </a:bodyPr>
          <a:lstStyle/>
          <a:p>
            <a:pPr algn="l">
              <a:defRPr/>
            </a:pPr>
            <a:r>
              <a:rPr lang="zh-CN" altLang="en-US" sz="1800" b="1" kern="100" dirty="0">
                <a:solidFill>
                  <a:srgbClr val="C00000"/>
                </a:solidFill>
                <a:latin typeface="微软雅黑" panose="020B0503020204020204" charset="-122"/>
                <a:ea typeface="微软雅黑" panose="020B0503020204020204" charset="-122"/>
                <a:cs typeface="Times New Roman" panose="02020603050405020304" pitchFamily="18" charset="0"/>
              </a:rPr>
              <a:t>毕业论文抽检方法和实施细则</a:t>
            </a:r>
            <a:endParaRPr lang="zh-CN" altLang="en-US" sz="1800" b="1" kern="100" dirty="0">
              <a:solidFill>
                <a:srgbClr val="C00000"/>
              </a:solidFill>
              <a:latin typeface="微软雅黑" panose="020B0503020204020204" charset="-122"/>
              <a:ea typeface="微软雅黑" panose="020B050302020402020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ssolve">
                                      <p:cBhvr>
                                        <p:cTn id="7" dur="500"/>
                                        <p:tgtEl>
                                          <p:spTgt spid="5">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500"/>
                                        <p:tgtEl>
                                          <p:spTgt spid="28"/>
                                        </p:tgtEl>
                                      </p:cBhvr>
                                    </p:animEffect>
                                  </p:childTnLst>
                                </p:cTn>
                              </p:par>
                              <p:par>
                                <p:cTn id="15" presetID="10" presetClass="entr" presetSubtype="0" fill="hold" nodeType="withEffect">
                                  <p:stCondLst>
                                    <p:cond delay="30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par>
                                <p:cTn id="18" presetID="22" presetClass="entr" presetSubtype="8" fill="hold" nodeType="withEffect">
                                  <p:stCondLst>
                                    <p:cond delay="600"/>
                                  </p:stCondLst>
                                  <p:childTnLst>
                                    <p:set>
                                      <p:cBhvr>
                                        <p:cTn id="19" dur="1" fill="hold">
                                          <p:stCondLst>
                                            <p:cond delay="0"/>
                                          </p:stCondLst>
                                        </p:cTn>
                                        <p:tgtEl>
                                          <p:spTgt spid="19"/>
                                        </p:tgtEl>
                                        <p:attrNameLst>
                                          <p:attrName>style.visibility</p:attrName>
                                        </p:attrNameLst>
                                      </p:cBhvr>
                                      <p:to>
                                        <p:strVal val="visible"/>
                                      </p:to>
                                    </p:set>
                                    <p:animEffect transition="in" filter="wipe(left)">
                                      <p:cBhvr>
                                        <p:cTn id="20" dur="500"/>
                                        <p:tgtEl>
                                          <p:spTgt spid="19"/>
                                        </p:tgtEl>
                                      </p:cBhvr>
                                    </p:animEffect>
                                  </p:childTnLst>
                                </p:cTn>
                              </p:par>
                              <p:par>
                                <p:cTn id="21" presetID="10" presetClass="entr" presetSubtype="0" fill="hold" nodeType="withEffect">
                                  <p:stCondLst>
                                    <p:cond delay="60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22" presetClass="entr" presetSubtype="8" fill="hold" nodeType="withEffect">
                                  <p:stCondLst>
                                    <p:cond delay="900"/>
                                  </p:stCondLst>
                                  <p:childTnLst>
                                    <p:set>
                                      <p:cBhvr>
                                        <p:cTn id="25" dur="1" fill="hold">
                                          <p:stCondLst>
                                            <p:cond delay="0"/>
                                          </p:stCondLst>
                                        </p:cTn>
                                        <p:tgtEl>
                                          <p:spTgt spid="22"/>
                                        </p:tgtEl>
                                        <p:attrNameLst>
                                          <p:attrName>style.visibility</p:attrName>
                                        </p:attrNameLst>
                                      </p:cBhvr>
                                      <p:to>
                                        <p:strVal val="visible"/>
                                      </p:to>
                                    </p:set>
                                    <p:animEffect transition="in" filter="wipe(left)">
                                      <p:cBhvr>
                                        <p:cTn id="26" dur="500"/>
                                        <p:tgtEl>
                                          <p:spTgt spid="22"/>
                                        </p:tgtEl>
                                      </p:cBhvr>
                                    </p:animEffect>
                                  </p:childTnLst>
                                </p:cTn>
                              </p:par>
                              <p:par>
                                <p:cTn id="27" presetID="10" presetClass="entr" presetSubtype="0" fill="hold" nodeType="withEffect">
                                  <p:stCondLst>
                                    <p:cond delay="90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22" presetClass="entr" presetSubtype="8" fill="hold" nodeType="withEffect">
                                  <p:stCondLst>
                                    <p:cond delay="1200"/>
                                  </p:stCondLst>
                                  <p:childTnLst>
                                    <p:set>
                                      <p:cBhvr>
                                        <p:cTn id="31" dur="1" fill="hold">
                                          <p:stCondLst>
                                            <p:cond delay="0"/>
                                          </p:stCondLst>
                                        </p:cTn>
                                        <p:tgtEl>
                                          <p:spTgt spid="25"/>
                                        </p:tgtEl>
                                        <p:attrNameLst>
                                          <p:attrName>style.visibility</p:attrName>
                                        </p:attrNameLst>
                                      </p:cBhvr>
                                      <p:to>
                                        <p:strVal val="visible"/>
                                      </p:to>
                                    </p:set>
                                    <p:animEffect transition="in" filter="wipe(left)">
                                      <p:cBhvr>
                                        <p:cTn id="32" dur="500"/>
                                        <p:tgtEl>
                                          <p:spTgt spid="25"/>
                                        </p:tgtEl>
                                      </p:cBhvr>
                                    </p:animEffect>
                                  </p:childTnLst>
                                </p:cTn>
                              </p:par>
                              <p:par>
                                <p:cTn id="33" presetID="22" presetClass="entr" presetSubtype="8" fill="hold" nodeType="withEffect">
                                  <p:stCondLst>
                                    <p:cond delay="300"/>
                                  </p:stCondLst>
                                  <p:childTnLst>
                                    <p:set>
                                      <p:cBhvr>
                                        <p:cTn id="34" dur="1" fill="hold">
                                          <p:stCondLst>
                                            <p:cond delay="0"/>
                                          </p:stCondLst>
                                        </p:cTn>
                                        <p:tgtEl>
                                          <p:spTgt spid="31"/>
                                        </p:tgtEl>
                                        <p:attrNameLst>
                                          <p:attrName>style.visibility</p:attrName>
                                        </p:attrNameLst>
                                      </p:cBhvr>
                                      <p:to>
                                        <p:strVal val="visible"/>
                                      </p:to>
                                    </p:set>
                                    <p:animEffect transition="in" filter="wipe(left)">
                                      <p:cBhvr>
                                        <p:cTn id="35" dur="500"/>
                                        <p:tgtEl>
                                          <p:spTgt spid="31"/>
                                        </p:tgtEl>
                                      </p:cBhvr>
                                    </p:animEffect>
                                  </p:childTnLst>
                                </p:cTn>
                              </p:par>
                            </p:childTnLst>
                          </p:cTn>
                        </p:par>
                        <p:par>
                          <p:cTn id="36" fill="hold">
                            <p:stCondLst>
                              <p:cond delay="1000"/>
                            </p:stCondLst>
                            <p:childTnLst>
                              <p:par>
                                <p:cTn id="37" presetID="26" presetClass="emph" presetSubtype="0" fill="hold" nodeType="afterEffect">
                                  <p:stCondLst>
                                    <p:cond delay="0"/>
                                  </p:stCondLst>
                                  <p:childTnLst>
                                    <p:animEffect transition="out" filter="fade">
                                      <p:cBhvr>
                                        <p:cTn id="38" dur="500" tmFilter="0, 0; .2, .5; .8, .5; 1, 0"/>
                                        <p:tgtEl>
                                          <p:spTgt spid="28"/>
                                        </p:tgtEl>
                                      </p:cBhvr>
                                    </p:animEffect>
                                    <p:animScale>
                                      <p:cBhvr>
                                        <p:cTn id="39" dur="250" autoRev="1" fill="hold"/>
                                        <p:tgtEl>
                                          <p:spTgt spid="28"/>
                                        </p:tgtEl>
                                      </p:cBhvr>
                                      <p:by x="105000" y="105000"/>
                                    </p:animScale>
                                  </p:childTnLst>
                                </p:cTn>
                              </p:par>
                              <p:par>
                                <p:cTn id="40" presetID="26" presetClass="emph" presetSubtype="0" fill="hold" nodeType="withEffect">
                                  <p:stCondLst>
                                    <p:cond delay="0"/>
                                  </p:stCondLst>
                                  <p:childTnLst>
                                    <p:animEffect transition="out" filter="fade">
                                      <p:cBhvr>
                                        <p:cTn id="41" dur="500" tmFilter="0, 0; .2, .5; .8, .5; 1, 0"/>
                                        <p:tgtEl>
                                          <p:spTgt spid="31"/>
                                        </p:tgtEl>
                                      </p:cBhvr>
                                    </p:animEffect>
                                    <p:animScale>
                                      <p:cBhvr>
                                        <p:cTn id="42" dur="250" autoRev="1" fill="hold"/>
                                        <p:tgtEl>
                                          <p:spTgt spid="31"/>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04</a:t>
            </a:r>
            <a:r>
              <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、毕业论文抽检方法和实施细则</a:t>
            </a:r>
            <a:endPar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endParaRPr>
          </a:p>
        </p:txBody>
      </p:sp>
      <p:sp>
        <p:nvSpPr>
          <p:cNvPr id="3" name="文本框 2"/>
          <p:cNvSpPr txBox="1"/>
          <p:nvPr/>
        </p:nvSpPr>
        <p:spPr>
          <a:xfrm>
            <a:off x="438785" y="1384300"/>
            <a:ext cx="8334375" cy="505523"/>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963248"/>
                </a:solidFill>
                <a:latin typeface="微软雅黑" panose="020B0503020204020204" charset="-122"/>
                <a:ea typeface="微软雅黑" panose="020B0503020204020204" charset="-122"/>
              </a:rPr>
              <a:t>一   教育部关于论文抽检通知</a:t>
            </a:r>
            <a:endParaRPr lang="zh-CN" altLang="en-US" sz="2000" dirty="0">
              <a:solidFill>
                <a:srgbClr val="963248"/>
              </a:solidFill>
              <a:latin typeface="微软雅黑" panose="020B0503020204020204" charset="-122"/>
              <a:ea typeface="微软雅黑" panose="020B0503020204020204" charset="-122"/>
            </a:endParaRPr>
          </a:p>
        </p:txBody>
      </p:sp>
      <p:sp>
        <p:nvSpPr>
          <p:cNvPr id="5" name="Text Box 2"/>
          <p:cNvSpPr txBox="1">
            <a:spLocks noChangeArrowheads="1"/>
          </p:cNvSpPr>
          <p:nvPr/>
        </p:nvSpPr>
        <p:spPr bwMode="auto">
          <a:xfrm>
            <a:off x="1258571" y="2866096"/>
            <a:ext cx="437769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chemeClr val="tx1"/>
                </a:solidFill>
                <a:latin typeface="Times New Roman" panose="02020603050405020304" pitchFamily="18" charset="0"/>
                <a:ea typeface="宋体" panose="02010600030101010101" pitchFamily="2" charset="-122"/>
              </a:defRPr>
            </a:lvl1pPr>
            <a:lvl2pPr>
              <a:defRPr sz="2800" b="1">
                <a:solidFill>
                  <a:schemeClr val="tx1"/>
                </a:solidFill>
                <a:latin typeface="Times New Roman" panose="02020603050405020304" pitchFamily="18" charset="0"/>
                <a:ea typeface="宋体" panose="02010600030101010101" pitchFamily="2" charset="-122"/>
              </a:defRPr>
            </a:lvl2pPr>
            <a:lvl3pPr>
              <a:defRPr sz="2800" b="1">
                <a:solidFill>
                  <a:schemeClr val="tx1"/>
                </a:solidFill>
                <a:latin typeface="Times New Roman" panose="02020603050405020304" pitchFamily="18" charset="0"/>
                <a:ea typeface="宋体" panose="02010600030101010101" pitchFamily="2" charset="-122"/>
              </a:defRPr>
            </a:lvl3pPr>
            <a:lvl4pPr>
              <a:defRPr sz="2800" b="1">
                <a:solidFill>
                  <a:schemeClr val="tx1"/>
                </a:solidFill>
                <a:latin typeface="Times New Roman" panose="02020603050405020304" pitchFamily="18" charset="0"/>
                <a:ea typeface="宋体" panose="02010600030101010101" pitchFamily="2" charset="-122"/>
              </a:defRPr>
            </a:lvl4pPr>
            <a:lvl5pPr>
              <a:defRPr sz="28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dirty="0">
                <a:latin typeface="微软雅黑" panose="020B0503020204020204" charset="-122"/>
                <a:ea typeface="微软雅黑" panose="020B0503020204020204" charset="-122"/>
              </a:rPr>
              <a:t>2020年12月24日</a:t>
            </a:r>
            <a:endParaRPr lang="zh-CN" altLang="en-US" dirty="0">
              <a:latin typeface="微软雅黑" panose="020B0503020204020204" charset="-122"/>
              <a:ea typeface="微软雅黑" panose="020B0503020204020204" charset="-122"/>
            </a:endParaRPr>
          </a:p>
        </p:txBody>
      </p:sp>
      <p:sp>
        <p:nvSpPr>
          <p:cNvPr id="6" name="Rectangle 13"/>
          <p:cNvSpPr txBox="1">
            <a:spLocks noChangeArrowheads="1"/>
          </p:cNvSpPr>
          <p:nvPr/>
        </p:nvSpPr>
        <p:spPr bwMode="auto">
          <a:xfrm>
            <a:off x="302004" y="2149032"/>
            <a:ext cx="4495800" cy="5222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a:solidFill>
                  <a:srgbClr val="34457A"/>
                </a:solidFill>
                <a:effectLst>
                  <a:outerShdw blurRad="38100" dist="38100" dir="2700000" algn="tl">
                    <a:srgbClr val="000000">
                      <a:alpha val="43137"/>
                    </a:srgbClr>
                  </a:outerShdw>
                </a:effectLst>
                <a:latin typeface="+mj-ea"/>
              </a:rPr>
              <a:t>1</a:t>
            </a:r>
            <a:r>
              <a:rPr lang="zh-CN" altLang="en-US" sz="2800">
                <a:solidFill>
                  <a:srgbClr val="34457A"/>
                </a:solidFill>
                <a:effectLst>
                  <a:outerShdw blurRad="38100" dist="38100" dir="2700000" algn="tl">
                    <a:srgbClr val="000000">
                      <a:alpha val="43137"/>
                    </a:srgbClr>
                  </a:outerShdw>
                </a:effectLst>
                <a:latin typeface="+mj-ea"/>
              </a:rPr>
              <a:t>、通知发出的时间</a:t>
            </a:r>
            <a:endParaRPr lang="zh-CN" altLang="en-US" sz="2800" dirty="0">
              <a:solidFill>
                <a:srgbClr val="34457A"/>
              </a:solidFill>
              <a:effectLst>
                <a:outerShdw blurRad="38100" dist="38100" dir="2700000" algn="tl">
                  <a:srgbClr val="000000">
                    <a:alpha val="43137"/>
                  </a:srgbClr>
                </a:outerShdw>
              </a:effectLst>
              <a:latin typeface="+mj-ea"/>
            </a:endParaRPr>
          </a:p>
        </p:txBody>
      </p:sp>
      <p:sp>
        <p:nvSpPr>
          <p:cNvPr id="7" name="Rectangle 13"/>
          <p:cNvSpPr>
            <a:spLocks noGrp="1" noChangeArrowheads="1"/>
          </p:cNvSpPr>
          <p:nvPr>
            <p:custDataLst>
              <p:tags r:id="rId2"/>
            </p:custDataLst>
          </p:nvPr>
        </p:nvSpPr>
        <p:spPr bwMode="auto">
          <a:xfrm>
            <a:off x="333145" y="3558764"/>
            <a:ext cx="4495800" cy="52197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2pPr>
            <a:lvl3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3pPr>
            <a:lvl4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4pPr>
            <a:lvl5pPr algn="l" rtl="0" eaLnBrk="0" fontAlgn="base" hangingPunct="0">
              <a:spcBef>
                <a:spcPct val="0"/>
              </a:spcBef>
              <a:spcAft>
                <a:spcPct val="0"/>
              </a:spcAft>
              <a:defRPr sz="4000" b="1">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5pPr>
            <a:lvl6pPr marL="457200" algn="l" rtl="0" fontAlgn="base">
              <a:spcBef>
                <a:spcPct val="0"/>
              </a:spcBef>
              <a:spcAft>
                <a:spcPct val="0"/>
              </a:spcAft>
              <a:defRPr kumimoji="1" sz="4000" b="1">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6pPr>
            <a:lvl7pPr marL="914400" algn="l" rtl="0" fontAlgn="base">
              <a:spcBef>
                <a:spcPct val="0"/>
              </a:spcBef>
              <a:spcAft>
                <a:spcPct val="0"/>
              </a:spcAft>
              <a:defRPr kumimoji="1" sz="4000" b="1">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7pPr>
            <a:lvl8pPr marL="1371600" algn="l" rtl="0" fontAlgn="base">
              <a:spcBef>
                <a:spcPct val="0"/>
              </a:spcBef>
              <a:spcAft>
                <a:spcPct val="0"/>
              </a:spcAft>
              <a:defRPr kumimoji="1" sz="4000" b="1">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8pPr>
            <a:lvl9pPr marL="1828800" algn="l" rtl="0" fontAlgn="base">
              <a:spcBef>
                <a:spcPct val="0"/>
              </a:spcBef>
              <a:spcAft>
                <a:spcPct val="0"/>
              </a:spcAft>
              <a:defRPr kumimoji="1" sz="4000" b="1">
                <a:solidFill>
                  <a:srgbClr val="0000FF"/>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9pPr>
          </a:lstStyle>
          <a:p>
            <a:pPr eaLnBrk="1" hangingPunct="1"/>
            <a:r>
              <a:rPr lang="en-US" altLang="zh-CN" sz="2800" dirty="0">
                <a:solidFill>
                  <a:srgbClr val="34457A"/>
                </a:solidFill>
                <a:effectLst>
                  <a:outerShdw blurRad="38100" dist="38100" dir="2700000" algn="tl">
                    <a:srgbClr val="000000">
                      <a:alpha val="43137"/>
                    </a:srgbClr>
                  </a:outerShdw>
                </a:effectLst>
                <a:latin typeface="+mj-ea"/>
              </a:rPr>
              <a:t>2</a:t>
            </a:r>
            <a:r>
              <a:rPr lang="zh-CN" altLang="en-US" sz="2800" dirty="0">
                <a:solidFill>
                  <a:srgbClr val="34457A"/>
                </a:solidFill>
                <a:effectLst>
                  <a:outerShdw blurRad="38100" dist="38100" dir="2700000" algn="tl">
                    <a:srgbClr val="000000">
                      <a:alpha val="43137"/>
                    </a:srgbClr>
                  </a:outerShdw>
                </a:effectLst>
                <a:latin typeface="+mj-ea"/>
              </a:rPr>
              <a:t>、抽检的负责单位</a:t>
            </a:r>
            <a:endParaRPr lang="zh-CN" altLang="en-US" sz="2800" dirty="0">
              <a:solidFill>
                <a:srgbClr val="34457A"/>
              </a:solidFill>
              <a:effectLst>
                <a:outerShdw blurRad="38100" dist="38100" dir="2700000" algn="tl">
                  <a:srgbClr val="000000">
                    <a:alpha val="43137"/>
                  </a:srgbClr>
                </a:outerShdw>
              </a:effectLst>
              <a:latin typeface="+mj-ea"/>
            </a:endParaRPr>
          </a:p>
        </p:txBody>
      </p:sp>
      <p:sp>
        <p:nvSpPr>
          <p:cNvPr id="8" name="Text Box 2"/>
          <p:cNvSpPr txBox="1">
            <a:spLocks noChangeArrowheads="1"/>
          </p:cNvSpPr>
          <p:nvPr>
            <p:custDataLst>
              <p:tags r:id="rId3"/>
            </p:custDataLst>
          </p:nvPr>
        </p:nvSpPr>
        <p:spPr bwMode="auto">
          <a:xfrm>
            <a:off x="1247610" y="4383978"/>
            <a:ext cx="7272655"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chemeClr val="tx1"/>
                </a:solidFill>
                <a:latin typeface="Times New Roman" panose="02020603050405020304" pitchFamily="18" charset="0"/>
                <a:ea typeface="宋体" panose="02010600030101010101" pitchFamily="2" charset="-122"/>
              </a:defRPr>
            </a:lvl1pPr>
            <a:lvl2pPr>
              <a:defRPr sz="2800" b="1">
                <a:solidFill>
                  <a:schemeClr val="tx1"/>
                </a:solidFill>
                <a:latin typeface="Times New Roman" panose="02020603050405020304" pitchFamily="18" charset="0"/>
                <a:ea typeface="宋体" panose="02010600030101010101" pitchFamily="2" charset="-122"/>
              </a:defRPr>
            </a:lvl2pPr>
            <a:lvl3pPr>
              <a:defRPr sz="2800" b="1">
                <a:solidFill>
                  <a:schemeClr val="tx1"/>
                </a:solidFill>
                <a:latin typeface="Times New Roman" panose="02020603050405020304" pitchFamily="18" charset="0"/>
                <a:ea typeface="宋体" panose="02010600030101010101" pitchFamily="2" charset="-122"/>
              </a:defRPr>
            </a:lvl3pPr>
            <a:lvl4pPr>
              <a:defRPr sz="2800" b="1">
                <a:solidFill>
                  <a:schemeClr val="tx1"/>
                </a:solidFill>
                <a:latin typeface="Times New Roman" panose="02020603050405020304" pitchFamily="18" charset="0"/>
                <a:ea typeface="宋体" panose="02010600030101010101" pitchFamily="2" charset="-122"/>
              </a:defRPr>
            </a:lvl4pPr>
            <a:lvl5pPr>
              <a:defRPr sz="28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dirty="0">
                <a:latin typeface="微软雅黑" panose="020B0503020204020204" charset="-122"/>
                <a:ea typeface="微软雅黑" panose="020B0503020204020204" charset="-122"/>
              </a:rPr>
              <a:t>教育部</a:t>
            </a:r>
            <a:r>
              <a:rPr lang="en-US" altLang="zh-CN" dirty="0">
                <a:latin typeface="微软雅黑" panose="020B0503020204020204" charset="-122"/>
                <a:ea typeface="微软雅黑" panose="020B0503020204020204" charset="-122"/>
              </a:rPr>
              <a:t>——</a:t>
            </a:r>
            <a:r>
              <a:rPr lang="zh-CN" altLang="en-US" dirty="0">
                <a:latin typeface="微软雅黑" panose="020B0503020204020204" charset="-122"/>
                <a:ea typeface="微软雅黑" panose="020B0503020204020204" charset="-122"/>
              </a:rPr>
              <a:t>统筹组织和监督</a:t>
            </a:r>
            <a:endParaRPr lang="zh-CN" altLang="en-US" dirty="0">
              <a:latin typeface="微软雅黑" panose="020B0503020204020204" charset="-122"/>
              <a:ea typeface="微软雅黑" panose="020B0503020204020204" charset="-122"/>
            </a:endParaRPr>
          </a:p>
          <a:p>
            <a:pPr>
              <a:spcBef>
                <a:spcPct val="50000"/>
              </a:spcBef>
            </a:pPr>
            <a:r>
              <a:rPr lang="zh-CN" altLang="en-US" dirty="0">
                <a:latin typeface="微软雅黑" panose="020B0503020204020204" charset="-122"/>
                <a:ea typeface="微软雅黑" panose="020B0503020204020204" charset="-122"/>
              </a:rPr>
              <a:t>省级教育行政部门</a:t>
            </a:r>
            <a:r>
              <a:rPr lang="en-US" altLang="zh-CN" dirty="0">
                <a:latin typeface="微软雅黑" panose="020B0503020204020204" charset="-122"/>
                <a:ea typeface="微软雅黑" panose="020B0503020204020204" charset="-122"/>
              </a:rPr>
              <a:t>——</a:t>
            </a:r>
            <a:r>
              <a:rPr lang="zh-CN" altLang="en-US" dirty="0">
                <a:latin typeface="微软雅黑" panose="020B0503020204020204" charset="-122"/>
                <a:ea typeface="微软雅黑" panose="020B0503020204020204" charset="-122"/>
              </a:rPr>
              <a:t>具体实施</a:t>
            </a:r>
            <a:endParaRPr lang="zh-CN" altLang="en-US"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04</a:t>
            </a:r>
            <a:r>
              <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、毕业论文抽检方法和实施细则</a:t>
            </a:r>
            <a:endPar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endParaRPr>
          </a:p>
        </p:txBody>
      </p:sp>
      <p:sp>
        <p:nvSpPr>
          <p:cNvPr id="3" name="文本框 2"/>
          <p:cNvSpPr txBox="1"/>
          <p:nvPr/>
        </p:nvSpPr>
        <p:spPr>
          <a:xfrm>
            <a:off x="438785" y="1384300"/>
            <a:ext cx="8334375" cy="505523"/>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963248"/>
                </a:solidFill>
                <a:latin typeface="微软雅黑" panose="020B0503020204020204" charset="-122"/>
                <a:ea typeface="微软雅黑" panose="020B0503020204020204" charset="-122"/>
              </a:rPr>
              <a:t>一   教育部关于论文抽检通知</a:t>
            </a:r>
            <a:endParaRPr lang="zh-CN" altLang="en-US" sz="2000" dirty="0">
              <a:solidFill>
                <a:srgbClr val="963248"/>
              </a:solidFill>
              <a:latin typeface="微软雅黑" panose="020B0503020204020204" charset="-122"/>
              <a:ea typeface="微软雅黑" panose="020B0503020204020204" charset="-122"/>
            </a:endParaRPr>
          </a:p>
        </p:txBody>
      </p:sp>
      <p:sp>
        <p:nvSpPr>
          <p:cNvPr id="4" name="Text Box 2"/>
          <p:cNvSpPr txBox="1">
            <a:spLocks noChangeArrowheads="1"/>
          </p:cNvSpPr>
          <p:nvPr/>
        </p:nvSpPr>
        <p:spPr bwMode="auto">
          <a:xfrm>
            <a:off x="1043624" y="3074512"/>
            <a:ext cx="7089775" cy="2150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sz="2800" b="1">
                <a:solidFill>
                  <a:schemeClr val="tx1"/>
                </a:solidFill>
                <a:latin typeface="Times New Roman" panose="02020603050405020304" pitchFamily="18" charset="0"/>
                <a:ea typeface="宋体" panose="02010600030101010101" pitchFamily="2" charset="-122"/>
              </a:defRPr>
            </a:lvl1pPr>
            <a:lvl2pPr>
              <a:defRPr sz="2800" b="1">
                <a:solidFill>
                  <a:schemeClr val="tx1"/>
                </a:solidFill>
                <a:latin typeface="Times New Roman" panose="02020603050405020304" pitchFamily="18" charset="0"/>
                <a:ea typeface="宋体" panose="02010600030101010101" pitchFamily="2" charset="-122"/>
              </a:defRPr>
            </a:lvl2pPr>
            <a:lvl3pPr>
              <a:defRPr sz="2800" b="1">
                <a:solidFill>
                  <a:schemeClr val="tx1"/>
                </a:solidFill>
                <a:latin typeface="Times New Roman" panose="02020603050405020304" pitchFamily="18" charset="0"/>
                <a:ea typeface="宋体" panose="02010600030101010101" pitchFamily="2" charset="-122"/>
              </a:defRPr>
            </a:lvl3pPr>
            <a:lvl4pPr>
              <a:defRPr sz="2800" b="1">
                <a:solidFill>
                  <a:schemeClr val="tx1"/>
                </a:solidFill>
                <a:latin typeface="Times New Roman" panose="02020603050405020304" pitchFamily="18" charset="0"/>
                <a:ea typeface="宋体" panose="02010600030101010101" pitchFamily="2" charset="-122"/>
              </a:defRPr>
            </a:lvl4pPr>
            <a:lvl5pPr>
              <a:defRPr sz="28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dirty="0">
                <a:latin typeface="微软雅黑" panose="020B0503020204020204" charset="-122"/>
                <a:ea typeface="微软雅黑" panose="020B0503020204020204" charset="-122"/>
              </a:rPr>
              <a:t>每年一次</a:t>
            </a:r>
            <a:endParaRPr lang="zh-CN" altLang="en-US" dirty="0">
              <a:latin typeface="微软雅黑" panose="020B0503020204020204" charset="-122"/>
              <a:ea typeface="微软雅黑" panose="020B0503020204020204" charset="-122"/>
            </a:endParaRPr>
          </a:p>
          <a:p>
            <a:pPr>
              <a:spcBef>
                <a:spcPct val="50000"/>
              </a:spcBef>
            </a:pPr>
            <a:r>
              <a:rPr lang="zh-CN" altLang="en-US" dirty="0">
                <a:latin typeface="微软雅黑" panose="020B0503020204020204" charset="-122"/>
                <a:ea typeface="微软雅黑" panose="020B0503020204020204" charset="-122"/>
              </a:rPr>
              <a:t>上一学年度授予学士学位的论文</a:t>
            </a:r>
            <a:endParaRPr lang="zh-CN" altLang="en-US" dirty="0">
              <a:latin typeface="微软雅黑" panose="020B0503020204020204" charset="-122"/>
              <a:ea typeface="微软雅黑" panose="020B0503020204020204" charset="-122"/>
            </a:endParaRPr>
          </a:p>
          <a:p>
            <a:pPr>
              <a:spcBef>
                <a:spcPct val="50000"/>
              </a:spcBef>
            </a:pPr>
            <a:r>
              <a:rPr lang="zh-CN" altLang="en-US" dirty="0">
                <a:latin typeface="微软雅黑" panose="020B0503020204020204" charset="-122"/>
                <a:ea typeface="微软雅黑" panose="020B0503020204020204" charset="-122"/>
              </a:rPr>
              <a:t>不低于2%</a:t>
            </a:r>
            <a:endParaRPr lang="zh-CN" altLang="en-US" dirty="0">
              <a:latin typeface="微软雅黑" panose="020B0503020204020204" charset="-122"/>
              <a:ea typeface="微软雅黑" panose="020B0503020204020204" charset="-122"/>
            </a:endParaRPr>
          </a:p>
        </p:txBody>
      </p:sp>
      <p:sp>
        <p:nvSpPr>
          <p:cNvPr id="9" name="Rectangle 13"/>
          <p:cNvSpPr txBox="1">
            <a:spLocks noChangeArrowheads="1"/>
          </p:cNvSpPr>
          <p:nvPr/>
        </p:nvSpPr>
        <p:spPr bwMode="auto">
          <a:xfrm>
            <a:off x="438785" y="2068905"/>
            <a:ext cx="4495800" cy="52228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a:solidFill>
                  <a:srgbClr val="34457A"/>
                </a:solidFill>
                <a:effectLst>
                  <a:outerShdw blurRad="38100" dist="38100" dir="2700000" algn="tl">
                    <a:srgbClr val="000000">
                      <a:alpha val="43137"/>
                    </a:srgbClr>
                  </a:outerShdw>
                </a:effectLst>
                <a:latin typeface="+mj-ea"/>
              </a:rPr>
              <a:t>3</a:t>
            </a:r>
            <a:r>
              <a:rPr lang="zh-CN" altLang="en-US" sz="2800">
                <a:solidFill>
                  <a:srgbClr val="34457A"/>
                </a:solidFill>
                <a:effectLst>
                  <a:outerShdw blurRad="38100" dist="38100" dir="2700000" algn="tl">
                    <a:srgbClr val="000000">
                      <a:alpha val="43137"/>
                    </a:srgbClr>
                  </a:outerShdw>
                </a:effectLst>
                <a:latin typeface="+mj-ea"/>
              </a:rPr>
              <a:t>、抽检周期、对象和比例</a:t>
            </a:r>
            <a:endParaRPr lang="zh-CN" altLang="en-US" sz="2800" dirty="0">
              <a:solidFill>
                <a:srgbClr val="34457A"/>
              </a:solidFill>
              <a:effectLst>
                <a:outerShdw blurRad="38100" dist="38100" dir="2700000" algn="tl">
                  <a:srgbClr val="000000">
                    <a:alpha val="43137"/>
                  </a:srgbClr>
                </a:outerShdw>
              </a:effectLst>
              <a:latin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04</a:t>
            </a:r>
            <a:r>
              <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、毕业论文抽检方法和实施细则</a:t>
            </a:r>
            <a:endPar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endParaRPr>
          </a:p>
        </p:txBody>
      </p:sp>
      <p:sp>
        <p:nvSpPr>
          <p:cNvPr id="3" name="文本框 2"/>
          <p:cNvSpPr txBox="1"/>
          <p:nvPr/>
        </p:nvSpPr>
        <p:spPr>
          <a:xfrm>
            <a:off x="438785" y="1384300"/>
            <a:ext cx="8334375" cy="505523"/>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963248"/>
                </a:solidFill>
                <a:latin typeface="微软雅黑" panose="020B0503020204020204" charset="-122"/>
                <a:ea typeface="微软雅黑" panose="020B0503020204020204" charset="-122"/>
              </a:rPr>
              <a:t>一   教育部关于论文抽检通知</a:t>
            </a:r>
            <a:endParaRPr lang="zh-CN" altLang="en-US" sz="2000" dirty="0">
              <a:solidFill>
                <a:srgbClr val="963248"/>
              </a:solidFill>
              <a:latin typeface="微软雅黑" panose="020B0503020204020204" charset="-122"/>
              <a:ea typeface="微软雅黑" panose="020B0503020204020204" charset="-122"/>
            </a:endParaRPr>
          </a:p>
        </p:txBody>
      </p:sp>
      <p:sp>
        <p:nvSpPr>
          <p:cNvPr id="5" name="Rectangle 13"/>
          <p:cNvSpPr txBox="1">
            <a:spLocks noChangeArrowheads="1"/>
          </p:cNvSpPr>
          <p:nvPr/>
        </p:nvSpPr>
        <p:spPr bwMode="auto">
          <a:xfrm>
            <a:off x="377505" y="2064817"/>
            <a:ext cx="4495800" cy="48013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dirty="0">
                <a:solidFill>
                  <a:srgbClr val="34457A"/>
                </a:solidFill>
                <a:effectLst>
                  <a:outerShdw blurRad="38100" dist="38100" dir="2700000" algn="tl">
                    <a:srgbClr val="000000">
                      <a:alpha val="43137"/>
                    </a:srgbClr>
                  </a:outerShdw>
                </a:effectLst>
                <a:latin typeface="+mj-ea"/>
              </a:rPr>
              <a:t>4</a:t>
            </a:r>
            <a:r>
              <a:rPr lang="zh-CN" altLang="en-US" sz="2800" dirty="0">
                <a:solidFill>
                  <a:srgbClr val="34457A"/>
                </a:solidFill>
                <a:effectLst>
                  <a:outerShdw blurRad="38100" dist="38100" dir="2700000" algn="tl">
                    <a:srgbClr val="000000">
                      <a:alpha val="43137"/>
                    </a:srgbClr>
                  </a:outerShdw>
                </a:effectLst>
                <a:latin typeface="+mj-ea"/>
              </a:rPr>
              <a:t>、抽检的形式与范围</a:t>
            </a:r>
            <a:endParaRPr lang="zh-CN" altLang="en-US" sz="2800" dirty="0">
              <a:solidFill>
                <a:srgbClr val="34457A"/>
              </a:solidFill>
              <a:effectLst>
                <a:outerShdw blurRad="38100" dist="38100" dir="2700000" algn="tl">
                  <a:srgbClr val="000000">
                    <a:alpha val="43137"/>
                  </a:srgbClr>
                </a:outerShdw>
              </a:effectLst>
              <a:latin typeface="+mj-ea"/>
            </a:endParaRPr>
          </a:p>
        </p:txBody>
      </p:sp>
      <p:sp>
        <p:nvSpPr>
          <p:cNvPr id="6" name="Text Box 2"/>
          <p:cNvSpPr txBox="1">
            <a:spLocks noChangeArrowheads="1"/>
          </p:cNvSpPr>
          <p:nvPr>
            <p:custDataLst>
              <p:tags r:id="rId2"/>
            </p:custDataLst>
          </p:nvPr>
        </p:nvSpPr>
        <p:spPr bwMode="auto">
          <a:xfrm>
            <a:off x="1138640" y="2746684"/>
            <a:ext cx="7200265" cy="181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chemeClr val="tx1"/>
                </a:solidFill>
                <a:latin typeface="Times New Roman" panose="02020603050405020304" pitchFamily="18" charset="0"/>
                <a:ea typeface="宋体" panose="02010600030101010101" pitchFamily="2" charset="-122"/>
              </a:defRPr>
            </a:lvl1pPr>
            <a:lvl2pPr>
              <a:defRPr sz="2800" b="1">
                <a:solidFill>
                  <a:schemeClr val="tx1"/>
                </a:solidFill>
                <a:latin typeface="Times New Roman" panose="02020603050405020304" pitchFamily="18" charset="0"/>
                <a:ea typeface="宋体" panose="02010600030101010101" pitchFamily="2" charset="-122"/>
              </a:defRPr>
            </a:lvl2pPr>
            <a:lvl3pPr>
              <a:defRPr sz="2800" b="1">
                <a:solidFill>
                  <a:schemeClr val="tx1"/>
                </a:solidFill>
                <a:latin typeface="Times New Roman" panose="02020603050405020304" pitchFamily="18" charset="0"/>
                <a:ea typeface="宋体" panose="02010600030101010101" pitchFamily="2" charset="-122"/>
              </a:defRPr>
            </a:lvl3pPr>
            <a:lvl4pPr>
              <a:defRPr sz="2800" b="1">
                <a:solidFill>
                  <a:schemeClr val="tx1"/>
                </a:solidFill>
                <a:latin typeface="Times New Roman" panose="02020603050405020304" pitchFamily="18" charset="0"/>
                <a:ea typeface="宋体" panose="02010600030101010101" pitchFamily="2" charset="-122"/>
              </a:defRPr>
            </a:lvl4pPr>
            <a:lvl5pPr>
              <a:defRPr sz="28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dirty="0">
                <a:latin typeface="微软雅黑" panose="020B0503020204020204" charset="-122"/>
                <a:ea typeface="微软雅黑" panose="020B0503020204020204" charset="-122"/>
              </a:rPr>
              <a:t>随机抽取确定抽检名单</a:t>
            </a:r>
            <a:endParaRPr lang="zh-CN" altLang="en-US" dirty="0">
              <a:latin typeface="微软雅黑" panose="020B0503020204020204" charset="-122"/>
              <a:ea typeface="微软雅黑" panose="020B0503020204020204" charset="-122"/>
            </a:endParaRPr>
          </a:p>
          <a:p>
            <a:pPr>
              <a:spcBef>
                <a:spcPct val="50000"/>
              </a:spcBef>
            </a:pPr>
            <a:r>
              <a:rPr lang="zh-CN" altLang="en-US" dirty="0">
                <a:latin typeface="微软雅黑" panose="020B0503020204020204" charset="-122"/>
                <a:ea typeface="微软雅黑" panose="020B0503020204020204" charset="-122"/>
              </a:rPr>
              <a:t>本地区所有本科层次普通高校</a:t>
            </a:r>
            <a:endParaRPr lang="zh-CN" altLang="en-US" dirty="0">
              <a:latin typeface="微软雅黑" panose="020B0503020204020204" charset="-122"/>
              <a:ea typeface="微软雅黑" panose="020B0503020204020204" charset="-122"/>
            </a:endParaRPr>
          </a:p>
          <a:p>
            <a:pPr>
              <a:spcBef>
                <a:spcPct val="50000"/>
              </a:spcBef>
            </a:pPr>
            <a:r>
              <a:rPr lang="zh-CN" altLang="en-US" dirty="0">
                <a:latin typeface="微软雅黑" panose="020B0503020204020204" charset="-122"/>
                <a:ea typeface="微软雅黑" panose="020B0503020204020204" charset="-122"/>
              </a:rPr>
              <a:t>全部本科专业</a:t>
            </a:r>
            <a:endParaRPr lang="zh-CN" altLang="en-US"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04</a:t>
            </a:r>
            <a:r>
              <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、毕业论文抽检方法和实施细则</a:t>
            </a:r>
            <a:endPar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endParaRPr>
          </a:p>
        </p:txBody>
      </p:sp>
      <p:sp>
        <p:nvSpPr>
          <p:cNvPr id="3" name="文本框 2"/>
          <p:cNvSpPr txBox="1"/>
          <p:nvPr/>
        </p:nvSpPr>
        <p:spPr>
          <a:xfrm>
            <a:off x="438785" y="1384300"/>
            <a:ext cx="8334375" cy="505523"/>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963248"/>
                </a:solidFill>
                <a:latin typeface="微软雅黑" panose="020B0503020204020204" charset="-122"/>
                <a:ea typeface="微软雅黑" panose="020B0503020204020204" charset="-122"/>
              </a:rPr>
              <a:t>一   教育部关于论文抽检通知</a:t>
            </a:r>
            <a:endParaRPr lang="zh-CN" altLang="en-US" sz="2000" dirty="0">
              <a:solidFill>
                <a:srgbClr val="963248"/>
              </a:solidFill>
              <a:latin typeface="微软雅黑" panose="020B0503020204020204" charset="-122"/>
              <a:ea typeface="微软雅黑" panose="020B0503020204020204" charset="-122"/>
            </a:endParaRPr>
          </a:p>
        </p:txBody>
      </p:sp>
      <p:sp>
        <p:nvSpPr>
          <p:cNvPr id="4" name="Rectangle 13"/>
          <p:cNvSpPr txBox="1">
            <a:spLocks noChangeArrowheads="1"/>
          </p:cNvSpPr>
          <p:nvPr/>
        </p:nvSpPr>
        <p:spPr bwMode="auto">
          <a:xfrm>
            <a:off x="318781" y="1910901"/>
            <a:ext cx="5562600" cy="48013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dirty="0">
                <a:solidFill>
                  <a:srgbClr val="34457A"/>
                </a:solidFill>
                <a:effectLst>
                  <a:outerShdw blurRad="38100" dist="38100" dir="2700000" algn="tl">
                    <a:srgbClr val="000000">
                      <a:alpha val="43137"/>
                    </a:srgbClr>
                  </a:outerShdw>
                </a:effectLst>
                <a:latin typeface="+mj-ea"/>
              </a:rPr>
              <a:t>5</a:t>
            </a:r>
            <a:r>
              <a:rPr lang="zh-CN" altLang="en-US" sz="2800" dirty="0">
                <a:solidFill>
                  <a:srgbClr val="34457A"/>
                </a:solidFill>
                <a:effectLst>
                  <a:outerShdw blurRad="38100" dist="38100" dir="2700000" algn="tl">
                    <a:srgbClr val="000000">
                      <a:alpha val="43137"/>
                    </a:srgbClr>
                  </a:outerShdw>
                </a:effectLst>
                <a:latin typeface="+mj-ea"/>
              </a:rPr>
              <a:t>、</a:t>
            </a:r>
            <a:r>
              <a:rPr lang="zh-CN" altLang="en-US" sz="2800" dirty="0">
                <a:solidFill>
                  <a:srgbClr val="34457A"/>
                </a:solidFill>
                <a:effectLst>
                  <a:outerShdw blurRad="38100" dist="38100" dir="2700000" algn="tl">
                    <a:srgbClr val="000000">
                      <a:alpha val="43137"/>
                    </a:srgbClr>
                  </a:outerShdw>
                </a:effectLst>
                <a:latin typeface="+mj-ea"/>
                <a:sym typeface="+mn-ea"/>
              </a:rPr>
              <a:t>抽检专家</a:t>
            </a:r>
            <a:r>
              <a:rPr lang="zh-CN" altLang="en-US" sz="2800" dirty="0">
                <a:solidFill>
                  <a:srgbClr val="34457A"/>
                </a:solidFill>
                <a:effectLst>
                  <a:outerShdw blurRad="38100" dist="38100" dir="2700000" algn="tl">
                    <a:srgbClr val="000000">
                      <a:alpha val="43137"/>
                    </a:srgbClr>
                  </a:outerShdw>
                </a:effectLst>
                <a:latin typeface="+mj-ea"/>
              </a:rPr>
              <a:t>及问题论文的确定</a:t>
            </a:r>
            <a:endParaRPr lang="zh-CN" altLang="en-US" sz="2800" dirty="0">
              <a:solidFill>
                <a:srgbClr val="34457A"/>
              </a:solidFill>
              <a:effectLst>
                <a:outerShdw blurRad="38100" dist="38100" dir="2700000" algn="tl">
                  <a:srgbClr val="000000">
                    <a:alpha val="43137"/>
                  </a:srgbClr>
                </a:outerShdw>
              </a:effectLst>
              <a:latin typeface="+mj-ea"/>
            </a:endParaRPr>
          </a:p>
        </p:txBody>
      </p:sp>
      <p:sp>
        <p:nvSpPr>
          <p:cNvPr id="7" name="Text Box 2"/>
          <p:cNvSpPr txBox="1">
            <a:spLocks noChangeArrowheads="1"/>
          </p:cNvSpPr>
          <p:nvPr>
            <p:custDataLst>
              <p:tags r:id="rId2"/>
            </p:custDataLst>
          </p:nvPr>
        </p:nvSpPr>
        <p:spPr bwMode="auto">
          <a:xfrm>
            <a:off x="318781" y="2455950"/>
            <a:ext cx="11377264"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chemeClr val="tx1"/>
                </a:solidFill>
                <a:latin typeface="Times New Roman" panose="02020603050405020304" pitchFamily="18" charset="0"/>
                <a:ea typeface="宋体" panose="02010600030101010101" pitchFamily="2" charset="-122"/>
              </a:defRPr>
            </a:lvl1pPr>
            <a:lvl2pPr>
              <a:defRPr sz="2800" b="1">
                <a:solidFill>
                  <a:schemeClr val="tx1"/>
                </a:solidFill>
                <a:latin typeface="Times New Roman" panose="02020603050405020304" pitchFamily="18" charset="0"/>
                <a:ea typeface="宋体" panose="02010600030101010101" pitchFamily="2" charset="-122"/>
              </a:defRPr>
            </a:lvl2pPr>
            <a:lvl3pPr>
              <a:defRPr sz="2800" b="1">
                <a:solidFill>
                  <a:schemeClr val="tx1"/>
                </a:solidFill>
                <a:latin typeface="Times New Roman" panose="02020603050405020304" pitchFamily="18" charset="0"/>
                <a:ea typeface="宋体" panose="02010600030101010101" pitchFamily="2" charset="-122"/>
              </a:defRPr>
            </a:lvl3pPr>
            <a:lvl4pPr>
              <a:defRPr sz="2800" b="1">
                <a:solidFill>
                  <a:schemeClr val="tx1"/>
                </a:solidFill>
                <a:latin typeface="Times New Roman" panose="02020603050405020304" pitchFamily="18" charset="0"/>
                <a:ea typeface="宋体" panose="02010600030101010101" pitchFamily="2" charset="-122"/>
              </a:defRPr>
            </a:lvl4pPr>
            <a:lvl5pPr>
              <a:defRPr sz="28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dirty="0">
                <a:latin typeface="微软雅黑" panose="020B0503020204020204" charset="-122"/>
                <a:ea typeface="微软雅黑" panose="020B0503020204020204" charset="-122"/>
              </a:rPr>
              <a:t>随机匹配方式组织同行专家对抽检论文进行评议，提出评议意见。</a:t>
            </a:r>
            <a:endParaRPr lang="zh-CN" altLang="en-US" dirty="0">
              <a:latin typeface="微软雅黑" panose="020B0503020204020204" charset="-122"/>
              <a:ea typeface="微软雅黑" panose="020B0503020204020204" charset="-122"/>
            </a:endParaRPr>
          </a:p>
          <a:p>
            <a:pPr>
              <a:spcBef>
                <a:spcPct val="50000"/>
              </a:spcBef>
            </a:pPr>
            <a:r>
              <a:rPr lang="zh-CN" altLang="en-US" dirty="0">
                <a:latin typeface="微软雅黑" panose="020B0503020204020204" charset="-122"/>
                <a:ea typeface="微软雅黑" panose="020B0503020204020204" charset="-122"/>
              </a:rPr>
              <a:t>每篇论文送3位同行专家，3位专家中有2位以上（含2位）专家评议意见为“不合格”的毕业论文，将认定为“存在问题毕业论文”。</a:t>
            </a:r>
            <a:endParaRPr lang="zh-CN" altLang="en-US" dirty="0">
              <a:latin typeface="微软雅黑" panose="020B0503020204020204" charset="-122"/>
              <a:ea typeface="微软雅黑" panose="020B0503020204020204" charset="-122"/>
            </a:endParaRPr>
          </a:p>
          <a:p>
            <a:pPr>
              <a:spcBef>
                <a:spcPct val="50000"/>
              </a:spcBef>
            </a:pPr>
            <a:r>
              <a:rPr lang="zh-CN" altLang="en-US" dirty="0">
                <a:latin typeface="微软雅黑" panose="020B0503020204020204" charset="-122"/>
                <a:ea typeface="微软雅黑" panose="020B0503020204020204" charset="-122"/>
              </a:rPr>
              <a:t>3位专家中有1位专家评议意见为“不合格”，将再送2位同行专家进行复评。2位复评专家中有1位以上（含1位）专家评议意见为“不合格”，将认定为“存在问题毕业论文”。</a:t>
            </a:r>
            <a:endParaRPr lang="zh-CN" altLang="en-US"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04</a:t>
            </a:r>
            <a:r>
              <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、毕业论文抽检方法和实施细则</a:t>
            </a:r>
            <a:endPar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endParaRPr>
          </a:p>
        </p:txBody>
      </p:sp>
      <p:sp>
        <p:nvSpPr>
          <p:cNvPr id="3" name="文本框 2"/>
          <p:cNvSpPr txBox="1"/>
          <p:nvPr/>
        </p:nvSpPr>
        <p:spPr>
          <a:xfrm>
            <a:off x="438785" y="1384300"/>
            <a:ext cx="8334375" cy="505523"/>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963248"/>
                </a:solidFill>
                <a:latin typeface="微软雅黑" panose="020B0503020204020204" charset="-122"/>
                <a:ea typeface="微软雅黑" panose="020B0503020204020204" charset="-122"/>
              </a:rPr>
              <a:t>一   教育部关于论文抽检通知</a:t>
            </a:r>
            <a:endParaRPr lang="zh-CN" altLang="en-US" sz="2000" dirty="0">
              <a:solidFill>
                <a:srgbClr val="963248"/>
              </a:solidFill>
              <a:latin typeface="微软雅黑" panose="020B0503020204020204" charset="-122"/>
              <a:ea typeface="微软雅黑" panose="020B0503020204020204" charset="-122"/>
            </a:endParaRPr>
          </a:p>
        </p:txBody>
      </p:sp>
      <p:sp>
        <p:nvSpPr>
          <p:cNvPr id="5" name="Rectangle 13"/>
          <p:cNvSpPr txBox="1">
            <a:spLocks noChangeArrowheads="1"/>
          </p:cNvSpPr>
          <p:nvPr/>
        </p:nvSpPr>
        <p:spPr bwMode="auto">
          <a:xfrm>
            <a:off x="438785" y="2091412"/>
            <a:ext cx="4495800" cy="48013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dirty="0">
                <a:solidFill>
                  <a:srgbClr val="34457A"/>
                </a:solidFill>
                <a:effectLst>
                  <a:outerShdw blurRad="38100" dist="38100" dir="2700000" algn="tl">
                    <a:srgbClr val="000000">
                      <a:alpha val="43137"/>
                    </a:srgbClr>
                  </a:outerShdw>
                </a:effectLst>
                <a:latin typeface="+mj-ea"/>
              </a:rPr>
              <a:t>6</a:t>
            </a:r>
            <a:r>
              <a:rPr lang="zh-CN" altLang="en-US" sz="2800" dirty="0">
                <a:solidFill>
                  <a:srgbClr val="34457A"/>
                </a:solidFill>
                <a:effectLst>
                  <a:outerShdw blurRad="38100" dist="38100" dir="2700000" algn="tl">
                    <a:srgbClr val="000000">
                      <a:alpha val="43137"/>
                    </a:srgbClr>
                  </a:outerShdw>
                </a:effectLst>
                <a:latin typeface="+mj-ea"/>
              </a:rPr>
              <a:t>、抽检的结果的使用</a:t>
            </a:r>
            <a:endParaRPr lang="zh-CN" altLang="en-US" sz="2800" dirty="0">
              <a:solidFill>
                <a:srgbClr val="34457A"/>
              </a:solidFill>
              <a:effectLst>
                <a:outerShdw blurRad="38100" dist="38100" dir="2700000" algn="tl">
                  <a:srgbClr val="000000">
                    <a:alpha val="43137"/>
                  </a:srgbClr>
                </a:outerShdw>
              </a:effectLst>
              <a:latin typeface="+mj-ea"/>
            </a:endParaRPr>
          </a:p>
        </p:txBody>
      </p:sp>
      <p:sp>
        <p:nvSpPr>
          <p:cNvPr id="6" name="Text Box 2"/>
          <p:cNvSpPr txBox="1">
            <a:spLocks noChangeArrowheads="1"/>
          </p:cNvSpPr>
          <p:nvPr>
            <p:custDataLst>
              <p:tags r:id="rId2"/>
            </p:custDataLst>
          </p:nvPr>
        </p:nvSpPr>
        <p:spPr bwMode="auto">
          <a:xfrm>
            <a:off x="519281" y="2773133"/>
            <a:ext cx="11459701" cy="334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sz="2800" b="1">
                <a:solidFill>
                  <a:schemeClr val="tx1"/>
                </a:solidFill>
                <a:latin typeface="Times New Roman" panose="02020603050405020304" pitchFamily="18" charset="0"/>
                <a:ea typeface="宋体" panose="02010600030101010101" pitchFamily="2" charset="-122"/>
              </a:defRPr>
            </a:lvl1pPr>
            <a:lvl2pPr>
              <a:defRPr sz="2800" b="1">
                <a:solidFill>
                  <a:schemeClr val="tx1"/>
                </a:solidFill>
                <a:latin typeface="Times New Roman" panose="02020603050405020304" pitchFamily="18" charset="0"/>
                <a:ea typeface="宋体" panose="02010600030101010101" pitchFamily="2" charset="-122"/>
              </a:defRPr>
            </a:lvl2pPr>
            <a:lvl3pPr>
              <a:defRPr sz="2800" b="1">
                <a:solidFill>
                  <a:schemeClr val="tx1"/>
                </a:solidFill>
                <a:latin typeface="Times New Roman" panose="02020603050405020304" pitchFamily="18" charset="0"/>
                <a:ea typeface="宋体" panose="02010600030101010101" pitchFamily="2" charset="-122"/>
              </a:defRPr>
            </a:lvl3pPr>
            <a:lvl4pPr>
              <a:defRPr sz="2800" b="1">
                <a:solidFill>
                  <a:schemeClr val="tx1"/>
                </a:solidFill>
                <a:latin typeface="Times New Roman" panose="02020603050405020304" pitchFamily="18" charset="0"/>
                <a:ea typeface="宋体" panose="02010600030101010101" pitchFamily="2" charset="-122"/>
              </a:defRPr>
            </a:lvl4pPr>
            <a:lvl5pPr>
              <a:defRPr sz="28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1</a:t>
            </a:r>
            <a:r>
              <a:rPr lang="zh-CN" altLang="en-US" dirty="0">
                <a:latin typeface="微软雅黑" panose="020B0503020204020204" charset="-122"/>
                <a:ea typeface="微软雅黑" panose="020B0503020204020204" charset="-122"/>
              </a:rPr>
              <a:t>）对连续2年均有“存在问题毕业论文”，且比例较高或篇数较多的高校，省级教育行政部门应在本省域内予以通报，减少其招生计划，并进行质量约谈，提出限期整改要求。高校应对有关部门、学院和个人的人才培养责任落实情况进行调查，依据有关规定予以追责。</a:t>
            </a:r>
            <a:endParaRPr lang="zh-CN" altLang="en-US" dirty="0">
              <a:latin typeface="微软雅黑" panose="020B0503020204020204" charset="-122"/>
              <a:ea typeface="微软雅黑" panose="020B0503020204020204" charset="-122"/>
            </a:endParaRPr>
          </a:p>
          <a:p>
            <a:pPr>
              <a:spcBef>
                <a:spcPct val="50000"/>
              </a:spcBef>
            </a:pPr>
            <a:r>
              <a:rPr lang="zh-CN" altLang="en-US"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2</a:t>
            </a:r>
            <a:r>
              <a:rPr lang="zh-CN" altLang="en-US" dirty="0">
                <a:latin typeface="微软雅黑" panose="020B0503020204020204" charset="-122"/>
                <a:ea typeface="微软雅黑" panose="020B0503020204020204" charset="-122"/>
              </a:rPr>
              <a:t>）对连续3年抽检存在问题较多的本科专业，经整改仍无法达到要求者，视为不能保证培养质量，省级教育行政部门应依据有关规定责令其暂停招生，或由省级学位委员会撤销其学士学位授权点。</a:t>
            </a:r>
            <a:endParaRPr lang="zh-CN" altLang="en-US" dirty="0">
              <a:latin typeface="微软雅黑" panose="020B0503020204020204" charset="-122"/>
              <a:ea typeface="微软雅黑" panose="020B0503020204020204" charset="-122"/>
            </a:endParaRPr>
          </a:p>
          <a:p>
            <a:pPr>
              <a:spcBef>
                <a:spcPct val="50000"/>
              </a:spcBef>
            </a:pPr>
            <a:r>
              <a:rPr lang="zh-CN" altLang="en-US" dirty="0">
                <a:latin typeface="微软雅黑" panose="020B0503020204020204" charset="-122"/>
                <a:ea typeface="微软雅黑" panose="020B0503020204020204" charset="-122"/>
              </a:rPr>
              <a:t>　</a:t>
            </a:r>
            <a:endParaRPr lang="zh-CN" altLang="en-US"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04</a:t>
            </a:r>
            <a:r>
              <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、毕业论文抽检方法和实施细则</a:t>
            </a:r>
            <a:endPar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endParaRPr>
          </a:p>
        </p:txBody>
      </p:sp>
      <p:sp>
        <p:nvSpPr>
          <p:cNvPr id="3" name="文本框 2"/>
          <p:cNvSpPr txBox="1"/>
          <p:nvPr/>
        </p:nvSpPr>
        <p:spPr>
          <a:xfrm>
            <a:off x="438785" y="1384300"/>
            <a:ext cx="8334375" cy="505523"/>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963248"/>
                </a:solidFill>
                <a:latin typeface="微软雅黑" panose="020B0503020204020204" charset="-122"/>
                <a:ea typeface="微软雅黑" panose="020B0503020204020204" charset="-122"/>
              </a:rPr>
              <a:t>一   教育部关于论文抽检通知</a:t>
            </a:r>
            <a:endParaRPr lang="zh-CN" altLang="en-US" sz="2000" dirty="0">
              <a:solidFill>
                <a:srgbClr val="963248"/>
              </a:solidFill>
              <a:latin typeface="微软雅黑" panose="020B0503020204020204" charset="-122"/>
              <a:ea typeface="微软雅黑" panose="020B0503020204020204" charset="-122"/>
            </a:endParaRPr>
          </a:p>
        </p:txBody>
      </p:sp>
      <p:sp>
        <p:nvSpPr>
          <p:cNvPr id="5" name="Rectangle 13"/>
          <p:cNvSpPr txBox="1">
            <a:spLocks noChangeArrowheads="1"/>
          </p:cNvSpPr>
          <p:nvPr/>
        </p:nvSpPr>
        <p:spPr bwMode="auto">
          <a:xfrm>
            <a:off x="438785" y="2091412"/>
            <a:ext cx="4495800" cy="48013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dirty="0">
                <a:solidFill>
                  <a:srgbClr val="34457A"/>
                </a:solidFill>
                <a:effectLst>
                  <a:outerShdw blurRad="38100" dist="38100" dir="2700000" algn="tl">
                    <a:srgbClr val="000000">
                      <a:alpha val="43137"/>
                    </a:srgbClr>
                  </a:outerShdw>
                </a:effectLst>
                <a:latin typeface="+mj-ea"/>
              </a:rPr>
              <a:t>6</a:t>
            </a:r>
            <a:r>
              <a:rPr lang="zh-CN" altLang="en-US" sz="2800" dirty="0">
                <a:solidFill>
                  <a:srgbClr val="34457A"/>
                </a:solidFill>
                <a:effectLst>
                  <a:outerShdw blurRad="38100" dist="38100" dir="2700000" algn="tl">
                    <a:srgbClr val="000000">
                      <a:alpha val="43137"/>
                    </a:srgbClr>
                  </a:outerShdw>
                </a:effectLst>
                <a:latin typeface="+mj-ea"/>
              </a:rPr>
              <a:t>、抽检的结果的使用</a:t>
            </a:r>
            <a:endParaRPr lang="zh-CN" altLang="en-US" sz="2800" dirty="0">
              <a:solidFill>
                <a:srgbClr val="34457A"/>
              </a:solidFill>
              <a:effectLst>
                <a:outerShdw blurRad="38100" dist="38100" dir="2700000" algn="tl">
                  <a:srgbClr val="000000">
                    <a:alpha val="43137"/>
                  </a:srgbClr>
                </a:outerShdw>
              </a:effectLst>
              <a:latin typeface="+mj-ea"/>
            </a:endParaRPr>
          </a:p>
        </p:txBody>
      </p:sp>
      <p:sp>
        <p:nvSpPr>
          <p:cNvPr id="4" name="Text Box 2"/>
          <p:cNvSpPr txBox="1">
            <a:spLocks noChangeArrowheads="1"/>
          </p:cNvSpPr>
          <p:nvPr>
            <p:custDataLst>
              <p:tags r:id="rId2"/>
            </p:custDataLst>
          </p:nvPr>
        </p:nvSpPr>
        <p:spPr bwMode="auto">
          <a:xfrm>
            <a:off x="299356" y="2874869"/>
            <a:ext cx="11593288"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chemeClr val="tx1"/>
                </a:solidFill>
                <a:latin typeface="Times New Roman" panose="02020603050405020304" pitchFamily="18" charset="0"/>
                <a:ea typeface="宋体" panose="02010600030101010101" pitchFamily="2" charset="-122"/>
              </a:defRPr>
            </a:lvl1pPr>
            <a:lvl2pPr>
              <a:defRPr sz="2800" b="1">
                <a:solidFill>
                  <a:schemeClr val="tx1"/>
                </a:solidFill>
                <a:latin typeface="Times New Roman" panose="02020603050405020304" pitchFamily="18" charset="0"/>
                <a:ea typeface="宋体" panose="02010600030101010101" pitchFamily="2" charset="-122"/>
              </a:defRPr>
            </a:lvl2pPr>
            <a:lvl3pPr>
              <a:defRPr sz="2800" b="1">
                <a:solidFill>
                  <a:schemeClr val="tx1"/>
                </a:solidFill>
                <a:latin typeface="Times New Roman" panose="02020603050405020304" pitchFamily="18" charset="0"/>
                <a:ea typeface="宋体" panose="02010600030101010101" pitchFamily="2" charset="-122"/>
              </a:defRPr>
            </a:lvl3pPr>
            <a:lvl4pPr>
              <a:defRPr sz="2800" b="1">
                <a:solidFill>
                  <a:schemeClr val="tx1"/>
                </a:solidFill>
                <a:latin typeface="Times New Roman" panose="02020603050405020304" pitchFamily="18" charset="0"/>
                <a:ea typeface="宋体" panose="02010600030101010101" pitchFamily="2" charset="-122"/>
              </a:defRPr>
            </a:lvl4pPr>
            <a:lvl5pPr>
              <a:defRPr sz="28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3</a:t>
            </a:r>
            <a:r>
              <a:rPr lang="zh-CN" altLang="en-US" dirty="0">
                <a:latin typeface="微软雅黑" panose="020B0503020204020204" charset="-122"/>
                <a:ea typeface="微软雅黑" panose="020B0503020204020204" charset="-122"/>
              </a:rPr>
              <a:t>）对涉嫌存在抄袭、剽窃、伪造、篡改、买卖、代写等学术不端行为的毕业论文，高校应按照相关程序进行调查核实，对查实的应依法撤销已授予学位，并注销学位证书。</a:t>
            </a:r>
            <a:endParaRPr lang="zh-CN" altLang="en-US" dirty="0">
              <a:latin typeface="微软雅黑" panose="020B0503020204020204" charset="-122"/>
              <a:ea typeface="微软雅黑" panose="020B0503020204020204" charset="-122"/>
            </a:endParaRPr>
          </a:p>
          <a:p>
            <a:pPr>
              <a:spcBef>
                <a:spcPct val="50000"/>
              </a:spcBef>
            </a:pPr>
            <a:r>
              <a:rPr lang="zh-CN" altLang="en-US"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4</a:t>
            </a:r>
            <a:r>
              <a:rPr lang="zh-CN" altLang="en-US" dirty="0">
                <a:latin typeface="微软雅黑" panose="020B0503020204020204" charset="-122"/>
                <a:ea typeface="微软雅黑" panose="020B0503020204020204" charset="-122"/>
              </a:rPr>
              <a:t>）抽检结果将作为本科教育教学评估、一流本科专业建设、本科专业认证以及专业建设经费投入等教育资源配置的重要参考依据。</a:t>
            </a:r>
            <a:endParaRPr lang="zh-CN" altLang="en-US"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04</a:t>
            </a:r>
            <a:r>
              <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、毕业论文抽检方法和实施细则</a:t>
            </a:r>
            <a:endPar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endParaRPr>
          </a:p>
        </p:txBody>
      </p:sp>
      <p:sp>
        <p:nvSpPr>
          <p:cNvPr id="3" name="文本框 2"/>
          <p:cNvSpPr txBox="1"/>
          <p:nvPr/>
        </p:nvSpPr>
        <p:spPr>
          <a:xfrm>
            <a:off x="438785" y="1384300"/>
            <a:ext cx="8334375" cy="505523"/>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963248"/>
                </a:solidFill>
                <a:latin typeface="微软雅黑" panose="020B0503020204020204" charset="-122"/>
                <a:ea typeface="微软雅黑" panose="020B0503020204020204" charset="-122"/>
              </a:rPr>
              <a:t>一   教育部关于论文抽检通知</a:t>
            </a:r>
            <a:endParaRPr lang="zh-CN" altLang="en-US" sz="2000" dirty="0">
              <a:solidFill>
                <a:srgbClr val="963248"/>
              </a:solidFill>
              <a:latin typeface="微软雅黑" panose="020B0503020204020204" charset="-122"/>
              <a:ea typeface="微软雅黑" panose="020B0503020204020204" charset="-122"/>
            </a:endParaRPr>
          </a:p>
        </p:txBody>
      </p:sp>
      <p:sp>
        <p:nvSpPr>
          <p:cNvPr id="5" name="Rectangle 13"/>
          <p:cNvSpPr txBox="1">
            <a:spLocks noChangeArrowheads="1"/>
          </p:cNvSpPr>
          <p:nvPr/>
        </p:nvSpPr>
        <p:spPr bwMode="auto">
          <a:xfrm>
            <a:off x="438785" y="2091412"/>
            <a:ext cx="4495800" cy="48013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dirty="0">
                <a:solidFill>
                  <a:srgbClr val="34457A"/>
                </a:solidFill>
                <a:effectLst>
                  <a:outerShdw blurRad="38100" dist="38100" dir="2700000" algn="tl">
                    <a:srgbClr val="000000">
                      <a:alpha val="43137"/>
                    </a:srgbClr>
                  </a:outerShdw>
                </a:effectLst>
                <a:latin typeface="+mj-ea"/>
              </a:rPr>
              <a:t>6</a:t>
            </a:r>
            <a:r>
              <a:rPr lang="zh-CN" altLang="en-US" sz="2800" dirty="0">
                <a:solidFill>
                  <a:srgbClr val="34457A"/>
                </a:solidFill>
                <a:effectLst>
                  <a:outerShdw blurRad="38100" dist="38100" dir="2700000" algn="tl">
                    <a:srgbClr val="000000">
                      <a:alpha val="43137"/>
                    </a:srgbClr>
                  </a:outerShdw>
                </a:effectLst>
                <a:latin typeface="+mj-ea"/>
              </a:rPr>
              <a:t>、抽检的结果的使用</a:t>
            </a:r>
            <a:endParaRPr lang="zh-CN" altLang="en-US" sz="2800" dirty="0">
              <a:solidFill>
                <a:srgbClr val="34457A"/>
              </a:solidFill>
              <a:effectLst>
                <a:outerShdw blurRad="38100" dist="38100" dir="2700000" algn="tl">
                  <a:srgbClr val="000000">
                    <a:alpha val="43137"/>
                  </a:srgbClr>
                </a:outerShdw>
              </a:effectLst>
              <a:latin typeface="+mj-ea"/>
            </a:endParaRPr>
          </a:p>
        </p:txBody>
      </p:sp>
      <p:sp>
        <p:nvSpPr>
          <p:cNvPr id="4" name="Text Box 2"/>
          <p:cNvSpPr txBox="1">
            <a:spLocks noChangeArrowheads="1"/>
          </p:cNvSpPr>
          <p:nvPr>
            <p:custDataLst>
              <p:tags r:id="rId2"/>
            </p:custDataLst>
          </p:nvPr>
        </p:nvSpPr>
        <p:spPr bwMode="auto">
          <a:xfrm>
            <a:off x="299356" y="2874869"/>
            <a:ext cx="11593288"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chemeClr val="tx1"/>
                </a:solidFill>
                <a:latin typeface="Times New Roman" panose="02020603050405020304" pitchFamily="18" charset="0"/>
                <a:ea typeface="宋体" panose="02010600030101010101" pitchFamily="2" charset="-122"/>
              </a:defRPr>
            </a:lvl1pPr>
            <a:lvl2pPr>
              <a:defRPr sz="2800" b="1">
                <a:solidFill>
                  <a:schemeClr val="tx1"/>
                </a:solidFill>
                <a:latin typeface="Times New Roman" panose="02020603050405020304" pitchFamily="18" charset="0"/>
                <a:ea typeface="宋体" panose="02010600030101010101" pitchFamily="2" charset="-122"/>
              </a:defRPr>
            </a:lvl2pPr>
            <a:lvl3pPr>
              <a:defRPr sz="2800" b="1">
                <a:solidFill>
                  <a:schemeClr val="tx1"/>
                </a:solidFill>
                <a:latin typeface="Times New Roman" panose="02020603050405020304" pitchFamily="18" charset="0"/>
                <a:ea typeface="宋体" panose="02010600030101010101" pitchFamily="2" charset="-122"/>
              </a:defRPr>
            </a:lvl3pPr>
            <a:lvl4pPr>
              <a:defRPr sz="2800" b="1">
                <a:solidFill>
                  <a:schemeClr val="tx1"/>
                </a:solidFill>
                <a:latin typeface="Times New Roman" panose="02020603050405020304" pitchFamily="18" charset="0"/>
                <a:ea typeface="宋体" panose="02010600030101010101" pitchFamily="2" charset="-122"/>
              </a:defRPr>
            </a:lvl4pPr>
            <a:lvl5pPr>
              <a:defRPr sz="2800" b="1">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8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3</a:t>
            </a:r>
            <a:r>
              <a:rPr lang="zh-CN" altLang="en-US" dirty="0">
                <a:latin typeface="微软雅黑" panose="020B0503020204020204" charset="-122"/>
                <a:ea typeface="微软雅黑" panose="020B0503020204020204" charset="-122"/>
              </a:rPr>
              <a:t>）对涉嫌存在抄袭、剽窃、伪造、篡改、买卖、代写等学术不端行为的毕业论文，高校应按照相关程序进行调查核实，对查实的应依法撤销已授予学位，并注销学位证书。</a:t>
            </a:r>
            <a:endParaRPr lang="zh-CN" altLang="en-US" dirty="0">
              <a:latin typeface="微软雅黑" panose="020B0503020204020204" charset="-122"/>
              <a:ea typeface="微软雅黑" panose="020B0503020204020204" charset="-122"/>
            </a:endParaRPr>
          </a:p>
          <a:p>
            <a:pPr>
              <a:spcBef>
                <a:spcPct val="50000"/>
              </a:spcBef>
            </a:pPr>
            <a:r>
              <a:rPr lang="zh-CN" altLang="en-US"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4</a:t>
            </a:r>
            <a:r>
              <a:rPr lang="zh-CN" altLang="en-US" dirty="0">
                <a:latin typeface="微软雅黑" panose="020B0503020204020204" charset="-122"/>
                <a:ea typeface="微软雅黑" panose="020B0503020204020204" charset="-122"/>
              </a:rPr>
              <a:t>）抽检结果将作为本科教育教学评估、一流本科专业建设、本科专业认证以及专业建设经费投入等教育资源配置的重要参考依据。</a:t>
            </a:r>
            <a:endParaRPr lang="zh-CN" altLang="en-US"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04</a:t>
            </a:r>
            <a:r>
              <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、毕业论文抽检方法和实施细则</a:t>
            </a:r>
            <a:endPar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endParaRPr>
          </a:p>
        </p:txBody>
      </p:sp>
      <p:sp>
        <p:nvSpPr>
          <p:cNvPr id="3" name="文本框 2"/>
          <p:cNvSpPr txBox="1"/>
          <p:nvPr/>
        </p:nvSpPr>
        <p:spPr>
          <a:xfrm>
            <a:off x="438785" y="1384300"/>
            <a:ext cx="8334375" cy="505523"/>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963248"/>
                </a:solidFill>
                <a:latin typeface="微软雅黑" panose="020B0503020204020204" charset="-122"/>
                <a:ea typeface="微软雅黑" panose="020B0503020204020204" charset="-122"/>
              </a:rPr>
              <a:t>二  江西省教育厅抽检实施细则</a:t>
            </a:r>
            <a:endParaRPr lang="zh-CN" altLang="en-US" sz="2000" dirty="0">
              <a:solidFill>
                <a:srgbClr val="963248"/>
              </a:solidFill>
              <a:latin typeface="微软雅黑" panose="020B0503020204020204" charset="-122"/>
              <a:ea typeface="微软雅黑" panose="020B0503020204020204" charset="-122"/>
            </a:endParaRPr>
          </a:p>
        </p:txBody>
      </p:sp>
      <p:pic>
        <p:nvPicPr>
          <p:cNvPr id="8" name="图片 7"/>
          <p:cNvPicPr>
            <a:picLocks noChangeAspect="1"/>
          </p:cNvPicPr>
          <p:nvPr/>
        </p:nvPicPr>
        <p:blipFill>
          <a:blip r:embed="rId2"/>
          <a:stretch>
            <a:fillRect/>
          </a:stretch>
        </p:blipFill>
        <p:spPr>
          <a:xfrm>
            <a:off x="1533786" y="1974531"/>
            <a:ext cx="8046442" cy="3968309"/>
          </a:xfrm>
          <a:prstGeom prst="rect">
            <a:avLst/>
          </a:prstGeom>
        </p:spPr>
      </p:pic>
      <p:graphicFrame>
        <p:nvGraphicFramePr>
          <p:cNvPr id="9" name="对象 8"/>
          <p:cNvGraphicFramePr>
            <a:graphicFrameLocks noChangeAspect="1"/>
          </p:cNvGraphicFramePr>
          <p:nvPr/>
        </p:nvGraphicFramePr>
        <p:xfrm>
          <a:off x="9875241" y="5001265"/>
          <a:ext cx="914400" cy="828675"/>
        </p:xfrm>
        <a:graphic>
          <a:graphicData uri="http://schemas.openxmlformats.org/presentationml/2006/ole">
            <mc:AlternateContent xmlns:mc="http://schemas.openxmlformats.org/markup-compatibility/2006">
              <mc:Choice xmlns:v="urn:schemas-microsoft-com:vml" Requires="v">
                <p:oleObj spid="_x0000_s4" name="Document" showAsIcon="1" r:id="rId3" imgW="914400" imgH="828675" progId="Word.Document.12">
                  <p:embed/>
                </p:oleObj>
              </mc:Choice>
              <mc:Fallback>
                <p:oleObj name="Document" showAsIcon="1" r:id="rId3" imgW="914400" imgH="828675" progId="Word.Document.12">
                  <p:embed/>
                  <p:pic>
                    <p:nvPicPr>
                      <p:cNvPr id="0" name="图片 3"/>
                      <p:cNvPicPr/>
                      <p:nvPr/>
                    </p:nvPicPr>
                    <p:blipFill>
                      <a:blip r:embed="rId4"/>
                      <a:stretch>
                        <a:fillRect/>
                      </a:stretch>
                    </p:blipFill>
                    <p:spPr>
                      <a:xfrm>
                        <a:off x="9875241" y="5001265"/>
                        <a:ext cx="914400" cy="828675"/>
                      </a:xfrm>
                      <a:prstGeom prst="rect">
                        <a:avLst/>
                      </a:prstGeom>
                    </p:spPr>
                  </p:pic>
                </p:oleObj>
              </mc:Fallback>
            </mc:AlternateContent>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04</a:t>
            </a:r>
            <a:r>
              <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、毕业论文抽检方法和实施细则</a:t>
            </a:r>
            <a:endPar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endParaRPr>
          </a:p>
        </p:txBody>
      </p:sp>
      <p:sp>
        <p:nvSpPr>
          <p:cNvPr id="3" name="文本框 2"/>
          <p:cNvSpPr txBox="1"/>
          <p:nvPr/>
        </p:nvSpPr>
        <p:spPr>
          <a:xfrm>
            <a:off x="438785" y="1384300"/>
            <a:ext cx="8334375" cy="505523"/>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963248"/>
                </a:solidFill>
                <a:latin typeface="微软雅黑" panose="020B0503020204020204" charset="-122"/>
                <a:ea typeface="微软雅黑" panose="020B0503020204020204" charset="-122"/>
              </a:rPr>
              <a:t>三  宜春学院本科毕业论文指导老师评阅要点</a:t>
            </a:r>
            <a:endParaRPr lang="zh-CN" altLang="en-US" sz="2000" dirty="0">
              <a:solidFill>
                <a:srgbClr val="963248"/>
              </a:solidFill>
              <a:latin typeface="微软雅黑" panose="020B0503020204020204" charset="-122"/>
              <a:ea typeface="微软雅黑" panose="020B0503020204020204" charset="-122"/>
            </a:endParaRPr>
          </a:p>
        </p:txBody>
      </p:sp>
      <p:graphicFrame>
        <p:nvGraphicFramePr>
          <p:cNvPr id="6" name="对象 5"/>
          <p:cNvGraphicFramePr/>
          <p:nvPr>
            <p:custDataLst>
              <p:tags r:id="rId2"/>
            </p:custDataLst>
          </p:nvPr>
        </p:nvGraphicFramePr>
        <p:xfrm>
          <a:off x="1184053" y="1956935"/>
          <a:ext cx="9058906" cy="4205386"/>
        </p:xfrm>
        <a:graphic>
          <a:graphicData uri="http://schemas.openxmlformats.org/presentationml/2006/ole">
            <mc:AlternateContent xmlns:mc="http://schemas.openxmlformats.org/markup-compatibility/2006">
              <mc:Choice xmlns:v="urn:schemas-microsoft-com:vml" Requires="v">
                <p:oleObj spid="_x0000_s4" name="" r:id="rId3" imgW="7962900" imgH="4716780" progId="Paint.Picture">
                  <p:embed/>
                </p:oleObj>
              </mc:Choice>
              <mc:Fallback>
                <p:oleObj name="" r:id="rId3" imgW="7962900" imgH="4716780" progId="Paint.Picture">
                  <p:embed/>
                  <p:pic>
                    <p:nvPicPr>
                      <p:cNvPr id="0" name="对象 2"/>
                      <p:cNvPicPr/>
                      <p:nvPr/>
                    </p:nvPicPr>
                    <p:blipFill>
                      <a:blip r:embed="rId4"/>
                      <a:stretch>
                        <a:fillRect/>
                      </a:stretch>
                    </p:blipFill>
                    <p:spPr>
                      <a:xfrm>
                        <a:off x="1184053" y="1956935"/>
                        <a:ext cx="9058906" cy="4205386"/>
                      </a:xfrm>
                      <a:prstGeom prst="rect">
                        <a:avLst/>
                      </a:prstGeom>
                    </p:spPr>
                  </p:pic>
                </p:oleObj>
              </mc:Fallback>
            </mc:AlternateContent>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04</a:t>
            </a:r>
            <a:r>
              <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、毕业论文抽检方法和实施细则</a:t>
            </a:r>
            <a:endPar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endParaRPr>
          </a:p>
        </p:txBody>
      </p:sp>
      <p:sp>
        <p:nvSpPr>
          <p:cNvPr id="3" name="文本框 2"/>
          <p:cNvSpPr txBox="1"/>
          <p:nvPr/>
        </p:nvSpPr>
        <p:spPr>
          <a:xfrm>
            <a:off x="438785" y="1384300"/>
            <a:ext cx="8334375" cy="505523"/>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963248"/>
                </a:solidFill>
                <a:latin typeface="微软雅黑" panose="020B0503020204020204" charset="-122"/>
                <a:ea typeface="微软雅黑" panose="020B0503020204020204" charset="-122"/>
              </a:rPr>
              <a:t>三  宜春学院本科毕业论文指导老师评阅要点</a:t>
            </a:r>
            <a:endParaRPr lang="zh-CN" altLang="en-US" sz="2000" dirty="0">
              <a:solidFill>
                <a:srgbClr val="963248"/>
              </a:solidFill>
              <a:latin typeface="微软雅黑" panose="020B0503020204020204" charset="-122"/>
              <a:ea typeface="微软雅黑" panose="020B0503020204020204" charset="-122"/>
            </a:endParaRPr>
          </a:p>
        </p:txBody>
      </p:sp>
      <p:graphicFrame>
        <p:nvGraphicFramePr>
          <p:cNvPr id="4" name="对象 3"/>
          <p:cNvGraphicFramePr/>
          <p:nvPr>
            <p:custDataLst>
              <p:tags r:id="rId2"/>
            </p:custDataLst>
          </p:nvPr>
        </p:nvGraphicFramePr>
        <p:xfrm>
          <a:off x="1179155" y="1889822"/>
          <a:ext cx="8409462" cy="4343197"/>
        </p:xfrm>
        <a:graphic>
          <a:graphicData uri="http://schemas.openxmlformats.org/presentationml/2006/ole">
            <mc:AlternateContent xmlns:mc="http://schemas.openxmlformats.org/markup-compatibility/2006">
              <mc:Choice xmlns:v="urn:schemas-microsoft-com:vml" Requires="v">
                <p:oleObj spid="_x0000_s5" name="" r:id="rId3" imgW="7909560" imgH="4328160" progId="Paint.Picture">
                  <p:embed/>
                </p:oleObj>
              </mc:Choice>
              <mc:Fallback>
                <p:oleObj name="" r:id="rId3" imgW="7909560" imgH="4328160" progId="Paint.Picture">
                  <p:embed/>
                  <p:pic>
                    <p:nvPicPr>
                      <p:cNvPr id="0" name="对象 4"/>
                      <p:cNvPicPr/>
                      <p:nvPr/>
                    </p:nvPicPr>
                    <p:blipFill>
                      <a:blip r:embed="rId4"/>
                      <a:stretch>
                        <a:fillRect/>
                      </a:stretch>
                    </p:blipFill>
                    <p:spPr>
                      <a:xfrm>
                        <a:off x="1179155" y="1889822"/>
                        <a:ext cx="8409462" cy="4343197"/>
                      </a:xfrm>
                      <a:prstGeom prst="rect">
                        <a:avLst/>
                      </a:prstGeom>
                    </p:spPr>
                  </p:pic>
                </p:oleObj>
              </mc:Fallback>
            </mc:AlternateContent>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04</a:t>
            </a:r>
            <a:r>
              <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、毕业论文抽检方法和实施细则</a:t>
            </a:r>
            <a:endPar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endParaRPr>
          </a:p>
        </p:txBody>
      </p:sp>
      <p:sp>
        <p:nvSpPr>
          <p:cNvPr id="3" name="文本框 2"/>
          <p:cNvSpPr txBox="1"/>
          <p:nvPr/>
        </p:nvSpPr>
        <p:spPr>
          <a:xfrm>
            <a:off x="438785" y="1384300"/>
            <a:ext cx="8334375" cy="505523"/>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963248"/>
                </a:solidFill>
                <a:latin typeface="微软雅黑" panose="020B0503020204020204" charset="-122"/>
                <a:ea typeface="微软雅黑" panose="020B0503020204020204" charset="-122"/>
              </a:rPr>
              <a:t>三  宜春学院本科毕业论文指导老师评阅要点</a:t>
            </a:r>
            <a:endParaRPr lang="zh-CN" altLang="en-US" sz="2000" dirty="0">
              <a:solidFill>
                <a:srgbClr val="963248"/>
              </a:solidFill>
              <a:latin typeface="微软雅黑" panose="020B0503020204020204" charset="-122"/>
              <a:ea typeface="微软雅黑" panose="020B0503020204020204" charset="-122"/>
            </a:endParaRPr>
          </a:p>
        </p:txBody>
      </p:sp>
      <p:graphicFrame>
        <p:nvGraphicFramePr>
          <p:cNvPr id="5" name="对象 4"/>
          <p:cNvGraphicFramePr/>
          <p:nvPr>
            <p:custDataLst>
              <p:tags r:id="rId2"/>
            </p:custDataLst>
          </p:nvPr>
        </p:nvGraphicFramePr>
        <p:xfrm>
          <a:off x="1312006" y="1889823"/>
          <a:ext cx="9249734" cy="4220392"/>
        </p:xfrm>
        <a:graphic>
          <a:graphicData uri="http://schemas.openxmlformats.org/presentationml/2006/ole">
            <mc:AlternateContent xmlns:mc="http://schemas.openxmlformats.org/markup-compatibility/2006">
              <mc:Choice xmlns:v="urn:schemas-microsoft-com:vml" Requires="v">
                <p:oleObj spid="_x0000_s4" name="" r:id="rId3" imgW="7406640" imgH="3421380" progId="Paint.Picture">
                  <p:embed/>
                </p:oleObj>
              </mc:Choice>
              <mc:Fallback>
                <p:oleObj name="" r:id="rId3" imgW="7406640" imgH="3421380" progId="Paint.Picture">
                  <p:embed/>
                  <p:pic>
                    <p:nvPicPr>
                      <p:cNvPr id="0" name="对象 2"/>
                      <p:cNvPicPr/>
                      <p:nvPr/>
                    </p:nvPicPr>
                    <p:blipFill>
                      <a:blip r:embed="rId4"/>
                      <a:stretch>
                        <a:fillRect/>
                      </a:stretch>
                    </p:blipFill>
                    <p:spPr>
                      <a:xfrm>
                        <a:off x="1312006" y="1889823"/>
                        <a:ext cx="9249734" cy="4220392"/>
                      </a:xfrm>
                      <a:prstGeom prst="rect">
                        <a:avLst/>
                      </a:prstGeom>
                    </p:spPr>
                  </p:pic>
                </p:oleObj>
              </mc:Fallback>
            </mc:AlternateContent>
          </a:graphicData>
        </a:graphic>
      </p:graphicFrame>
      <p:graphicFrame>
        <p:nvGraphicFramePr>
          <p:cNvPr id="6" name="对象 5"/>
          <p:cNvGraphicFramePr/>
          <p:nvPr>
            <p:custDataLst>
              <p:tags r:id="rId5"/>
            </p:custDataLst>
          </p:nvPr>
        </p:nvGraphicFramePr>
        <p:xfrm>
          <a:off x="563266" y="2754557"/>
          <a:ext cx="501650" cy="1936115"/>
        </p:xfrm>
        <a:graphic>
          <a:graphicData uri="http://schemas.openxmlformats.org/presentationml/2006/ole">
            <mc:AlternateContent xmlns:mc="http://schemas.openxmlformats.org/markup-compatibility/2006">
              <mc:Choice xmlns:v="urn:schemas-microsoft-com:vml" Requires="v">
                <p:oleObj spid="_x0000_s7" name="" r:id="rId6" imgW="381000" imgH="1836420" progId="Paint.Picture">
                  <p:embed/>
                </p:oleObj>
              </mc:Choice>
              <mc:Fallback>
                <p:oleObj name="" r:id="rId6" imgW="381000" imgH="1836420" progId="Paint.Picture">
                  <p:embed/>
                  <p:pic>
                    <p:nvPicPr>
                      <p:cNvPr id="0" name="对象 4"/>
                      <p:cNvPicPr/>
                      <p:nvPr/>
                    </p:nvPicPr>
                    <p:blipFill>
                      <a:blip r:embed="rId7"/>
                      <a:stretch>
                        <a:fillRect/>
                      </a:stretch>
                    </p:blipFill>
                    <p:spPr>
                      <a:xfrm>
                        <a:off x="563266" y="2754557"/>
                        <a:ext cx="501650" cy="1936115"/>
                      </a:xfrm>
                      <a:prstGeom prst="rect">
                        <a:avLst/>
                      </a:prstGeom>
                    </p:spPr>
                  </p:pic>
                </p:oleObj>
              </mc:Fallback>
            </mc:AlternateContent>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04</a:t>
            </a:r>
            <a:r>
              <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、毕业论文抽检方法和实施细则</a:t>
            </a:r>
            <a:endPar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endParaRPr>
          </a:p>
        </p:txBody>
      </p:sp>
      <p:sp>
        <p:nvSpPr>
          <p:cNvPr id="3" name="文本框 2"/>
          <p:cNvSpPr txBox="1"/>
          <p:nvPr/>
        </p:nvSpPr>
        <p:spPr>
          <a:xfrm>
            <a:off x="438785" y="1384300"/>
            <a:ext cx="8334375" cy="505523"/>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963248"/>
                </a:solidFill>
                <a:latin typeface="微软雅黑" panose="020B0503020204020204" charset="-122"/>
                <a:ea typeface="微软雅黑" panose="020B0503020204020204" charset="-122"/>
              </a:rPr>
              <a:t>三  宜春学院本科毕业论文指导老师评阅要点</a:t>
            </a:r>
            <a:endParaRPr lang="zh-CN" altLang="en-US" sz="2000" dirty="0">
              <a:solidFill>
                <a:srgbClr val="963248"/>
              </a:solidFill>
              <a:latin typeface="微软雅黑" panose="020B0503020204020204" charset="-122"/>
              <a:ea typeface="微软雅黑" panose="020B0503020204020204" charset="-122"/>
            </a:endParaRPr>
          </a:p>
        </p:txBody>
      </p:sp>
      <p:graphicFrame>
        <p:nvGraphicFramePr>
          <p:cNvPr id="6" name="对象 5"/>
          <p:cNvGraphicFramePr/>
          <p:nvPr>
            <p:custDataLst>
              <p:tags r:id="rId2"/>
            </p:custDataLst>
          </p:nvPr>
        </p:nvGraphicFramePr>
        <p:xfrm>
          <a:off x="563266" y="2754557"/>
          <a:ext cx="501650" cy="1936115"/>
        </p:xfrm>
        <a:graphic>
          <a:graphicData uri="http://schemas.openxmlformats.org/presentationml/2006/ole">
            <mc:AlternateContent xmlns:mc="http://schemas.openxmlformats.org/markup-compatibility/2006">
              <mc:Choice xmlns:v="urn:schemas-microsoft-com:vml" Requires="v">
                <p:oleObj spid="_x0000_s4" name="" r:id="rId3" imgW="381000" imgH="1836420" progId="Paint.Picture">
                  <p:embed/>
                </p:oleObj>
              </mc:Choice>
              <mc:Fallback>
                <p:oleObj name="" r:id="rId3" imgW="381000" imgH="1836420" progId="Paint.Picture">
                  <p:embed/>
                  <p:pic>
                    <p:nvPicPr>
                      <p:cNvPr id="0" name="对象 5"/>
                      <p:cNvPicPr/>
                      <p:nvPr/>
                    </p:nvPicPr>
                    <p:blipFill>
                      <a:blip r:embed="rId4"/>
                      <a:stretch>
                        <a:fillRect/>
                      </a:stretch>
                    </p:blipFill>
                    <p:spPr>
                      <a:xfrm>
                        <a:off x="563266" y="2754557"/>
                        <a:ext cx="501650" cy="1936115"/>
                      </a:xfrm>
                      <a:prstGeom prst="rect">
                        <a:avLst/>
                      </a:prstGeom>
                    </p:spPr>
                  </p:pic>
                </p:oleObj>
              </mc:Fallback>
            </mc:AlternateContent>
          </a:graphicData>
        </a:graphic>
      </p:graphicFrame>
      <p:graphicFrame>
        <p:nvGraphicFramePr>
          <p:cNvPr id="5" name="对象 4"/>
          <p:cNvGraphicFramePr/>
          <p:nvPr>
            <p:custDataLst>
              <p:tags r:id="rId5"/>
            </p:custDataLst>
          </p:nvPr>
        </p:nvGraphicFramePr>
        <p:xfrm>
          <a:off x="1581413" y="2004968"/>
          <a:ext cx="8476322" cy="4243555"/>
        </p:xfrm>
        <a:graphic>
          <a:graphicData uri="http://schemas.openxmlformats.org/presentationml/2006/ole">
            <mc:AlternateContent xmlns:mc="http://schemas.openxmlformats.org/markup-compatibility/2006">
              <mc:Choice xmlns:v="urn:schemas-microsoft-com:vml" Requires="v">
                <p:oleObj spid="_x0000_s7" name="" r:id="rId6" imgW="7421880" imgH="5212080" progId="Paint.Picture">
                  <p:embed/>
                </p:oleObj>
              </mc:Choice>
              <mc:Fallback>
                <p:oleObj name="" r:id="rId6" imgW="7421880" imgH="5212080" progId="Paint.Picture">
                  <p:embed/>
                  <p:pic>
                    <p:nvPicPr>
                      <p:cNvPr id="0" name="对象 2"/>
                      <p:cNvPicPr/>
                      <p:nvPr/>
                    </p:nvPicPr>
                    <p:blipFill>
                      <a:blip r:embed="rId7"/>
                      <a:stretch>
                        <a:fillRect/>
                      </a:stretch>
                    </p:blipFill>
                    <p:spPr>
                      <a:xfrm>
                        <a:off x="1581413" y="2004968"/>
                        <a:ext cx="8476322" cy="4243555"/>
                      </a:xfrm>
                      <a:prstGeom prst="rect">
                        <a:avLst/>
                      </a:prstGeom>
                    </p:spPr>
                  </p:pic>
                </p:oleObj>
              </mc:Fallback>
            </mc:AlternateContent>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04</a:t>
            </a:r>
            <a:r>
              <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、毕业论文抽检方法和实施细则</a:t>
            </a:r>
            <a:endPar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endParaRPr>
          </a:p>
        </p:txBody>
      </p:sp>
      <p:sp>
        <p:nvSpPr>
          <p:cNvPr id="3" name="文本框 2"/>
          <p:cNvSpPr txBox="1"/>
          <p:nvPr/>
        </p:nvSpPr>
        <p:spPr>
          <a:xfrm>
            <a:off x="438785" y="1384300"/>
            <a:ext cx="8334375" cy="505523"/>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963248"/>
                </a:solidFill>
                <a:latin typeface="微软雅黑" panose="020B0503020204020204" charset="-122"/>
                <a:ea typeface="微软雅黑" panose="020B0503020204020204" charset="-122"/>
              </a:rPr>
              <a:t>三  宜春学院本科毕业论文指导老师评阅要点</a:t>
            </a:r>
            <a:endParaRPr lang="zh-CN" altLang="en-US" sz="2000" dirty="0">
              <a:solidFill>
                <a:srgbClr val="963248"/>
              </a:solidFill>
              <a:latin typeface="微软雅黑" panose="020B0503020204020204" charset="-122"/>
              <a:ea typeface="微软雅黑" panose="020B0503020204020204" charset="-122"/>
            </a:endParaRPr>
          </a:p>
        </p:txBody>
      </p:sp>
      <p:graphicFrame>
        <p:nvGraphicFramePr>
          <p:cNvPr id="5" name="对象 4"/>
          <p:cNvGraphicFramePr/>
          <p:nvPr>
            <p:custDataLst>
              <p:tags r:id="rId2"/>
            </p:custDataLst>
          </p:nvPr>
        </p:nvGraphicFramePr>
        <p:xfrm>
          <a:off x="1195160" y="2046914"/>
          <a:ext cx="9416914" cy="4105590"/>
        </p:xfrm>
        <a:graphic>
          <a:graphicData uri="http://schemas.openxmlformats.org/presentationml/2006/ole">
            <mc:AlternateContent xmlns:mc="http://schemas.openxmlformats.org/markup-compatibility/2006">
              <mc:Choice xmlns:v="urn:schemas-microsoft-com:vml" Requires="v">
                <p:oleObj spid="_x0000_s4" name="" r:id="rId3" imgW="7955280" imgH="4549140" progId="Paint.Picture">
                  <p:embed/>
                </p:oleObj>
              </mc:Choice>
              <mc:Fallback>
                <p:oleObj name="" r:id="rId3" imgW="7955280" imgH="4549140" progId="Paint.Picture">
                  <p:embed/>
                  <p:pic>
                    <p:nvPicPr>
                      <p:cNvPr id="0" name="对象 2"/>
                      <p:cNvPicPr/>
                      <p:nvPr/>
                    </p:nvPicPr>
                    <p:blipFill>
                      <a:blip r:embed="rId4"/>
                      <a:stretch>
                        <a:fillRect/>
                      </a:stretch>
                    </p:blipFill>
                    <p:spPr>
                      <a:xfrm>
                        <a:off x="1195160" y="2046914"/>
                        <a:ext cx="9416914" cy="4105590"/>
                      </a:xfrm>
                      <a:prstGeom prst="rect">
                        <a:avLst/>
                      </a:prstGeom>
                    </p:spPr>
                  </p:pic>
                </p:oleObj>
              </mc:Fallback>
            </mc:AlternateContent>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6"/>
          <p:cNvSpPr txBox="1"/>
          <p:nvPr>
            <p:custDataLst>
              <p:tags r:id="rId1"/>
            </p:custDataLst>
          </p:nvPr>
        </p:nvSpPr>
        <p:spPr>
          <a:xfrm>
            <a:off x="659675" y="1017592"/>
            <a:ext cx="7783262" cy="486384"/>
          </a:xfrm>
          <a:prstGeom prst="rect">
            <a:avLst/>
          </a:prstGeom>
          <a:noFill/>
          <a:ln w="3175">
            <a:noFill/>
            <a:prstDash val="dash"/>
          </a:ln>
        </p:spPr>
        <p:txBody>
          <a:bodyPr wrap="square" lIns="67500" tIns="35100" rIns="67500" bIns="35100" anchor="t" anchorCtr="0">
            <a:normAutofit fontScale="97500"/>
          </a:bodyPr>
          <a:lstStyle>
            <a:lvl1pPr algn="l" defTabSz="913765" rtl="0" eaLnBrk="1" latinLnBrk="0" hangingPunct="1">
              <a:lnSpc>
                <a:spcPct val="90000"/>
              </a:lnSpc>
              <a:spcBef>
                <a:spcPct val="0"/>
              </a:spcBef>
              <a:buNone/>
              <a:defRPr lang="en-US" sz="2745" b="0" kern="1200" cap="none" spc="-49" baseline="0" dirty="0" smtClean="0">
                <a:ln w="3175">
                  <a:noFill/>
                </a:ln>
                <a:solidFill>
                  <a:srgbClr val="000000"/>
                </a:solidFill>
                <a:effectLst/>
                <a:latin typeface="Arial" panose="020B0604020202020204" pitchFamily="34" charset="0"/>
                <a:ea typeface="微软雅黑" panose="020B0503020204020204" charset="-122"/>
                <a:cs typeface="Segoe UI" panose="020B0502040204020203" charset="0"/>
              </a:defRPr>
            </a:lvl1pPr>
          </a:lstStyle>
          <a:p>
            <a:pPr algn="l">
              <a:defRPr/>
            </a:pPr>
            <a:r>
              <a:rPr lang="en-US" altLang="zh-CN"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04</a:t>
            </a:r>
            <a:r>
              <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rPr>
              <a:t>、毕业论文抽检方法和实施细则</a:t>
            </a:r>
            <a:endParaRPr lang="zh-CN" altLang="en-US" sz="2700" b="1" spc="300" dirty="0">
              <a:ln w="3175">
                <a:noFill/>
                <a:prstDash val="dash"/>
              </a:ln>
              <a:solidFill>
                <a:srgbClr val="000000">
                  <a:lumMod val="85000"/>
                  <a:lumOff val="15000"/>
                </a:srgbClr>
              </a:solidFill>
              <a:latin typeface="Arial" panose="020B0604020202020204" pitchFamily="34" charset="0"/>
              <a:ea typeface="微软雅黑" panose="020B0503020204020204" charset="-122"/>
              <a:cs typeface="微软雅黑" panose="020B0503020204020204" charset="-122"/>
            </a:endParaRPr>
          </a:p>
        </p:txBody>
      </p:sp>
      <p:sp>
        <p:nvSpPr>
          <p:cNvPr id="3" name="文本框 2"/>
          <p:cNvSpPr txBox="1"/>
          <p:nvPr/>
        </p:nvSpPr>
        <p:spPr>
          <a:xfrm>
            <a:off x="438785" y="1384300"/>
            <a:ext cx="8334375" cy="505523"/>
          </a:xfrm>
          <a:prstGeom prst="rect">
            <a:avLst/>
          </a:prstGeom>
          <a:noFill/>
          <a:ln w="9525">
            <a:noFill/>
          </a:ln>
        </p:spPr>
        <p:txBody>
          <a:bodyPr wrap="square">
            <a:spAutoFit/>
          </a:bodyPr>
          <a:lstStyle/>
          <a:p>
            <a:pPr algn="just">
              <a:lnSpc>
                <a:spcPct val="150000"/>
              </a:lnSpc>
              <a:buClrTx/>
              <a:buSzTx/>
              <a:buFont typeface="Wingdings" panose="05000000000000000000" charset="0"/>
            </a:pPr>
            <a:r>
              <a:rPr lang="zh-CN" altLang="en-US" sz="2000" dirty="0">
                <a:solidFill>
                  <a:srgbClr val="963248"/>
                </a:solidFill>
                <a:latin typeface="微软雅黑" panose="020B0503020204020204" charset="-122"/>
                <a:ea typeface="微软雅黑" panose="020B0503020204020204" charset="-122"/>
              </a:rPr>
              <a:t>三  宜春学院本科毕业论文指导老师评阅要点</a:t>
            </a:r>
            <a:endParaRPr lang="zh-CN" altLang="en-US" sz="2000" dirty="0">
              <a:solidFill>
                <a:srgbClr val="963248"/>
              </a:solidFill>
              <a:latin typeface="微软雅黑" panose="020B0503020204020204" charset="-122"/>
              <a:ea typeface="微软雅黑" panose="020B0503020204020204" charset="-122"/>
            </a:endParaRPr>
          </a:p>
        </p:txBody>
      </p:sp>
      <p:graphicFrame>
        <p:nvGraphicFramePr>
          <p:cNvPr id="4" name="对象 3"/>
          <p:cNvGraphicFramePr/>
          <p:nvPr>
            <p:custDataLst>
              <p:tags r:id="rId2"/>
            </p:custDataLst>
          </p:nvPr>
        </p:nvGraphicFramePr>
        <p:xfrm>
          <a:off x="1397586" y="1907170"/>
          <a:ext cx="9440990" cy="4376183"/>
        </p:xfrm>
        <a:graphic>
          <a:graphicData uri="http://schemas.openxmlformats.org/presentationml/2006/ole">
            <mc:AlternateContent xmlns:mc="http://schemas.openxmlformats.org/markup-compatibility/2006">
              <mc:Choice xmlns:v="urn:schemas-microsoft-com:vml" Requires="v">
                <p:oleObj spid="_x0000_s5" name="" r:id="rId3" imgW="6774180" imgH="3185160" progId="Paint.Picture">
                  <p:embed/>
                </p:oleObj>
              </mc:Choice>
              <mc:Fallback>
                <p:oleObj name="" r:id="rId3" imgW="6774180" imgH="3185160" progId="Paint.Picture">
                  <p:embed/>
                  <p:pic>
                    <p:nvPicPr>
                      <p:cNvPr id="0" name="对象 2"/>
                      <p:cNvPicPr/>
                      <p:nvPr/>
                    </p:nvPicPr>
                    <p:blipFill>
                      <a:blip r:embed="rId4"/>
                      <a:stretch>
                        <a:fillRect/>
                      </a:stretch>
                    </p:blipFill>
                    <p:spPr>
                      <a:xfrm>
                        <a:off x="1397586" y="1907170"/>
                        <a:ext cx="9440990" cy="4376183"/>
                      </a:xfrm>
                      <a:prstGeom prst="rect">
                        <a:avLst/>
                      </a:prstGeom>
                    </p:spPr>
                  </p:pic>
                </p:oleObj>
              </mc:Fallback>
            </mc:AlternateContent>
          </a:graphicData>
        </a:graphic>
      </p:graphicFrame>
      <p:graphicFrame>
        <p:nvGraphicFramePr>
          <p:cNvPr id="6" name="对象 5"/>
          <p:cNvGraphicFramePr/>
          <p:nvPr>
            <p:custDataLst>
              <p:tags r:id="rId5"/>
            </p:custDataLst>
          </p:nvPr>
        </p:nvGraphicFramePr>
        <p:xfrm>
          <a:off x="659675" y="3078418"/>
          <a:ext cx="459105" cy="1889760"/>
        </p:xfrm>
        <a:graphic>
          <a:graphicData uri="http://schemas.openxmlformats.org/presentationml/2006/ole">
            <mc:AlternateContent xmlns:mc="http://schemas.openxmlformats.org/markup-compatibility/2006">
              <mc:Choice xmlns:v="urn:schemas-microsoft-com:vml" Requires="v">
                <p:oleObj spid="_x0000_s7" name="" r:id="rId6" imgW="297180" imgH="1798320" progId="Paint.Picture">
                  <p:embed/>
                </p:oleObj>
              </mc:Choice>
              <mc:Fallback>
                <p:oleObj name="" r:id="rId6" imgW="297180" imgH="1798320" progId="Paint.Picture">
                  <p:embed/>
                  <p:pic>
                    <p:nvPicPr>
                      <p:cNvPr id="0" name="对象 4"/>
                      <p:cNvPicPr/>
                      <p:nvPr/>
                    </p:nvPicPr>
                    <p:blipFill>
                      <a:blip r:embed="rId7"/>
                      <a:stretch>
                        <a:fillRect/>
                      </a:stretch>
                    </p:blipFill>
                    <p:spPr>
                      <a:xfrm>
                        <a:off x="659675" y="3078418"/>
                        <a:ext cx="459105" cy="1889760"/>
                      </a:xfrm>
                      <a:prstGeom prst="rect">
                        <a:avLst/>
                      </a:prstGeom>
                    </p:spPr>
                  </p:pic>
                </p:oleObj>
              </mc:Fallback>
            </mc:AlternateContent>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图片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00105" y="2351087"/>
            <a:ext cx="9721079"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ags/tag1.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1119_1*i*1"/>
  <p:tag name="KSO_WM_TEMPLATE_CATEGORY" val="diagram"/>
  <p:tag name="KSO_WM_TEMPLATE_INDEX" val="20201119"/>
  <p:tag name="KSO_WM_UNIT_LAYERLEVEL" val="1"/>
  <p:tag name="KSO_WM_TAG_VERSION" val="1.0"/>
  <p:tag name="KSO_WM_BEAUTIFY_FLAG" val="#wm#"/>
</p:tagLst>
</file>

<file path=ppt/tags/tag3.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1119_1*i*1"/>
  <p:tag name="KSO_WM_TEMPLATE_CATEGORY" val="diagram"/>
  <p:tag name="KSO_WM_TEMPLATE_INDEX" val="20201119"/>
  <p:tag name="KSO_WM_UNIT_LAYERLEVEL" val="1"/>
  <p:tag name="KSO_WM_TAG_VERSION" val="1.0"/>
  <p:tag name="KSO_WM_BEAUTIFY_FLAG" val="#wm#"/>
</p:tagLst>
</file>

<file path=ppt/tags/tag5.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6.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7.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8.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9.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10.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11.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12.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13.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14.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15.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16.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17.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18.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19.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20.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21.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22.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23.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24.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25.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26.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27.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28.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29.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30.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31.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32.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33.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34.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35.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36.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37.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38.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39.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40.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41.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45.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56.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UNIT_ISCONTENTSTITLE" val="0"/>
  <p:tag name="KSO_WM_UNIT_PRESET_TEXT_INDEX" val="0"/>
  <p:tag name="KSO_WM_UNIT_PRESET_TEXT_LEN" val="8"/>
  <p:tag name="KSO_WM_UNIT_NOCLEAR" val="0"/>
  <p:tag name="KSO_WM_UNIT_SHOW_EDIT_AREA_INDICATION" val="1"/>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201119_1*a*1"/>
  <p:tag name="KSO_WM_TEMPLATE_CATEGORY" val="diagram"/>
  <p:tag name="KSO_WM_TEMPLATE_INDEX" val="20201119"/>
  <p:tag name="KSO_WM_UNIT_LAYERLEVEL" val="1"/>
  <p:tag name="KSO_WM_TAG_VERSION" val="1.0"/>
  <p:tag name="KSO_WM_BEAUTIFY_FLAG" val="#wm#"/>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5620</Words>
  <Application>WPS 演示</Application>
  <PresentationFormat>宽屏</PresentationFormat>
  <Paragraphs>514</Paragraphs>
  <Slides>57</Slides>
  <Notes>0</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10</vt:i4>
      </vt:variant>
      <vt:variant>
        <vt:lpstr>幻灯片标题</vt:lpstr>
      </vt:variant>
      <vt:variant>
        <vt:i4>57</vt:i4>
      </vt:variant>
    </vt:vector>
  </HeadingPairs>
  <TitlesOfParts>
    <vt:vector size="82" baseType="lpstr">
      <vt:lpstr>Arial</vt:lpstr>
      <vt:lpstr>宋体</vt:lpstr>
      <vt:lpstr>Wingdings</vt:lpstr>
      <vt:lpstr>微软雅黑</vt:lpstr>
      <vt:lpstr>Segoe UI</vt:lpstr>
      <vt:lpstr>黑体</vt:lpstr>
      <vt:lpstr>Impact</vt:lpstr>
      <vt:lpstr>Arial Unicode MS</vt:lpstr>
      <vt:lpstr>Times New Roman</vt:lpstr>
      <vt:lpstr>Wingdings</vt:lpstr>
      <vt:lpstr>Arial Unicode MS</vt:lpstr>
      <vt:lpstr>等线 Light</vt:lpstr>
      <vt:lpstr>等线</vt:lpstr>
      <vt:lpstr>Calibri</vt:lpstr>
      <vt:lpstr>Office 主题​​</vt:lpstr>
      <vt:lpstr>Word.Document.12</vt:lpstr>
      <vt:lpstr>Paint.Picture</vt:lpstr>
      <vt:lpstr>Paint.Picture</vt:lpstr>
      <vt:lpstr>Paint.Picture</vt:lpstr>
      <vt:lpstr>Paint.Picture</vt:lpstr>
      <vt:lpstr>Paint.Picture</vt:lpstr>
      <vt:lpstr>Paint.Picture</vt:lpstr>
      <vt:lpstr>Paint.Picture</vt:lpstr>
      <vt:lpstr>Paint.Picture</vt:lpstr>
      <vt:lpstr>Paint.Picture</vt:lpstr>
      <vt:lpstr>2022届计算机系毕业设计讲座  软件开发方向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计算机系2024届毕业设计讲座  软件开发方向 </dc:title>
  <dc:creator>way wei</dc:creator>
  <cp:lastModifiedBy>HQ</cp:lastModifiedBy>
  <cp:revision>54</cp:revision>
  <dcterms:created xsi:type="dcterms:W3CDTF">2024-01-22T07:47:00Z</dcterms:created>
  <dcterms:modified xsi:type="dcterms:W3CDTF">2026-03-16T08:06:45Z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245280D5F1234FFE9C7438D342DFE483_12</vt:lpwstr>
  </property>
  <property fmtid="{D5CDD505-2E9C-101B-9397-08002B2CF9AE}" pid="3" name="KSOProductBuildVer">
    <vt:lpwstr>2052-12.1.0.25225</vt:lpwstr>
  </property>
</Properties>
</file>